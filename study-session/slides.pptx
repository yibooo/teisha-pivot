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E2B"/>
        </a:solidFill>
      </p:bgPr>
    </p:bg>
    <p:spTree>
      <p:nvGrpSpPr>
        <p:cNvPr id="1" name=""/>
        <p:cNvGrpSpPr/>
        <p:nvPr/>
      </p:nvGrpSpPr>
      <p:grpSpPr>
        <a:xfrm>
          <a:off x="0" y="0"/>
          <a:ext cx="0" cy="0"/>
          <a:chOff x="0" y="0"/>
          <a:chExt cx="0" cy="0"/>
        </a:xfrm>
      </p:grpSpPr>
      <p:sp>
        <p:nvSpPr>
          <p:cNvPr id="2" name="Text 0"/>
          <p:cNvSpPr/>
          <p:nvPr/>
        </p:nvSpPr>
        <p:spPr>
          <a:xfrm>
            <a:off x="914400" y="1371600"/>
            <a:ext cx="5486400" cy="365760"/>
          </a:xfrm>
          <a:prstGeom prst="rect">
            <a:avLst/>
          </a:prstGeom>
          <a:noFill/>
          <a:ln/>
        </p:spPr>
        <p:txBody>
          <a:bodyPr wrap="square" lIns="0" tIns="0" rIns="0" bIns="0" rtlCol="0" anchor="t"/>
          <a:lstStyle/>
          <a:p>
            <a:pPr indent="0" marL="0">
              <a:buNone/>
            </a:pPr>
            <a:r>
              <a:rPr lang="en-US" sz="1600" b="1" spc="200" kern="0" dirty="0">
                <a:solidFill>
                  <a:srgbClr val="CBB07A"/>
                </a:solidFill>
                <a:latin typeface="Yu Gothic" pitchFamily="34" charset="0"/>
                <a:ea typeface="Yu Gothic" pitchFamily="34" charset="-122"/>
                <a:cs typeface="Yu Gothic" pitchFamily="34" charset="-120"/>
              </a:rPr>
              <a:t>社内勉強会</a:t>
            </a:r>
            <a:endParaRPr lang="en-US" sz="1600" dirty="0"/>
          </a:p>
        </p:txBody>
      </p:sp>
      <p:sp>
        <p:nvSpPr>
          <p:cNvPr id="3" name="Text 1"/>
          <p:cNvSpPr/>
          <p:nvPr/>
        </p:nvSpPr>
        <p:spPr>
          <a:xfrm>
            <a:off x="914400" y="1874520"/>
            <a:ext cx="10332720" cy="914400"/>
          </a:xfrm>
          <a:prstGeom prst="rect">
            <a:avLst/>
          </a:prstGeom>
          <a:noFill/>
          <a:ln/>
        </p:spPr>
        <p:txBody>
          <a:bodyPr wrap="square" lIns="0" tIns="0" rIns="0" bIns="0" rtlCol="0" anchor="t"/>
          <a:lstStyle/>
          <a:p>
            <a:pPr indent="0" marL="0">
              <a:buNone/>
            </a:pPr>
            <a:r>
              <a:rPr lang="en-US" sz="4000" b="1" dirty="0">
                <a:solidFill>
                  <a:srgbClr val="FFFFFF"/>
                </a:solidFill>
                <a:latin typeface="Yu Gothic" pitchFamily="34" charset="0"/>
                <a:ea typeface="Yu Gothic" pitchFamily="34" charset="-122"/>
                <a:cs typeface="Yu Gothic" pitchFamily="34" charset="-120"/>
              </a:rPr>
              <a:t>AIで「自社版 定借ナビ」をつくる</a:t>
            </a:r>
            <a:endParaRPr lang="en-US" sz="4000" dirty="0"/>
          </a:p>
        </p:txBody>
      </p:sp>
      <p:sp>
        <p:nvSpPr>
          <p:cNvPr id="4" name="Text 2"/>
          <p:cNvSpPr/>
          <p:nvPr/>
        </p:nvSpPr>
        <p:spPr>
          <a:xfrm>
            <a:off x="914400" y="2926080"/>
            <a:ext cx="10332720" cy="822960"/>
          </a:xfrm>
          <a:prstGeom prst="rect">
            <a:avLst/>
          </a:prstGeom>
          <a:noFill/>
          <a:ln/>
        </p:spPr>
        <p:txBody>
          <a:bodyPr wrap="square" lIns="0" tIns="0" rIns="0" bIns="0" rtlCol="0" anchor="t"/>
          <a:lstStyle/>
          <a:p>
            <a:pPr indent="0" marL="0">
              <a:lnSpc>
                <a:spcPct val="130000"/>
              </a:lnSpc>
              <a:buNone/>
            </a:pPr>
            <a:r>
              <a:rPr lang="en-US" sz="1800" dirty="0">
                <a:solidFill>
                  <a:srgbClr val="D9D4C7"/>
                </a:solidFill>
                <a:latin typeface="Yu Gothic" pitchFamily="34" charset="0"/>
                <a:ea typeface="Yu Gothic" pitchFamily="34" charset="-122"/>
                <a:cs typeface="Yu Gothic" pitchFamily="34" charset="-120"/>
              </a:rPr>
              <a:t>Claude × GitHub 入門 ─ アカウント作成から、自社の新築・中古データで</a:t>
            </a:r>
            <a:endParaRPr lang="en-US" sz="1800" dirty="0"/>
          </a:p>
          <a:p>
            <a:pPr indent="0" marL="0">
              <a:lnSpc>
                <a:spcPct val="130000"/>
              </a:lnSpc>
              <a:buNone/>
            </a:pPr>
            <a:r>
              <a:rPr lang="en-US" sz="1800" dirty="0">
                <a:solidFill>
                  <a:srgbClr val="D9D4C7"/>
                </a:solidFill>
                <a:latin typeface="Yu Gothic" pitchFamily="34" charset="0"/>
                <a:ea typeface="Yu Gothic" pitchFamily="34" charset="-122"/>
                <a:cs typeface="Yu Gothic" pitchFamily="34" charset="-120"/>
              </a:rPr>
              <a:t>資産価値グラフを表示するまで</a:t>
            </a:r>
            <a:endParaRPr lang="en-US" sz="1800" dirty="0"/>
          </a:p>
        </p:txBody>
      </p:sp>
      <p:sp>
        <p:nvSpPr>
          <p:cNvPr id="5" name="Shape 3"/>
          <p:cNvSpPr/>
          <p:nvPr/>
        </p:nvSpPr>
        <p:spPr>
          <a:xfrm>
            <a:off x="914400" y="4069080"/>
            <a:ext cx="1097280" cy="0"/>
          </a:xfrm>
          <a:prstGeom prst="line">
            <a:avLst/>
          </a:prstGeom>
          <a:noFill/>
          <a:ln w="25400">
            <a:solidFill>
              <a:srgbClr val="B08D47"/>
            </a:solidFill>
            <a:prstDash val="solid"/>
          </a:ln>
        </p:spPr>
      </p:sp>
      <p:sp>
        <p:nvSpPr>
          <p:cNvPr id="6" name="Text 4"/>
          <p:cNvSpPr/>
          <p:nvPr/>
        </p:nvSpPr>
        <p:spPr>
          <a:xfrm>
            <a:off x="914400" y="4297680"/>
            <a:ext cx="10058400" cy="731520"/>
          </a:xfrm>
          <a:prstGeom prst="rect">
            <a:avLst/>
          </a:prstGeom>
          <a:noFill/>
          <a:ln/>
        </p:spPr>
        <p:txBody>
          <a:bodyPr wrap="square" lIns="0" tIns="0" rIns="0" bIns="0" rtlCol="0" anchor="t"/>
          <a:lstStyle/>
          <a:p>
            <a:pPr indent="0" marL="0">
              <a:lnSpc>
                <a:spcPct val="140000"/>
              </a:lnSpc>
              <a:buNone/>
            </a:pPr>
            <a:r>
              <a:rPr lang="en-US" sz="1400" dirty="0">
                <a:solidFill>
                  <a:srgbClr val="D9D4C7"/>
                </a:solidFill>
                <a:latin typeface="Yu Gothic" pitchFamily="34" charset="0"/>
                <a:ea typeface="Yu Gothic" pitchFamily="34" charset="-122"/>
                <a:cs typeface="Yu Gothic" pitchFamily="34" charset="-120"/>
              </a:rPr>
              <a:t>対象：AI・Claude・GitHub をさわったことがない方</a:t>
            </a:r>
            <a:endParaRPr lang="en-US" sz="1400" dirty="0"/>
          </a:p>
          <a:p>
            <a:pPr indent="0" marL="0">
              <a:lnSpc>
                <a:spcPct val="140000"/>
              </a:lnSpc>
              <a:buNone/>
            </a:pPr>
            <a:r>
              <a:rPr lang="en-US" sz="1400" dirty="0">
                <a:solidFill>
                  <a:srgbClr val="D9D4C7"/>
                </a:solidFill>
                <a:latin typeface="Yu Gothic" pitchFamily="34" charset="0"/>
                <a:ea typeface="Yu Gothic" pitchFamily="34" charset="-122"/>
                <a:cs typeface="Yu Gothic" pitchFamily="34" charset="-120"/>
              </a:rPr>
              <a:t>所要時間：約3時間（休憩含む）／ 持ち物：ノートPC（Chrome推奨）</a:t>
            </a:r>
            <a:endParaRPr lang="en-US" sz="1400" dirty="0"/>
          </a:p>
        </p:txBody>
      </p:sp>
      <p:sp>
        <p:nvSpPr>
          <p:cNvPr id="7" name="Text 5"/>
          <p:cNvSpPr/>
          <p:nvPr/>
        </p:nvSpPr>
        <p:spPr>
          <a:xfrm>
            <a:off x="914400" y="5852160"/>
            <a:ext cx="3657600" cy="365760"/>
          </a:xfrm>
          <a:prstGeom prst="rect">
            <a:avLst/>
          </a:prstGeom>
          <a:noFill/>
          <a:ln/>
        </p:spPr>
        <p:txBody>
          <a:bodyPr wrap="square" lIns="0" tIns="0" rIns="0" bIns="0" rtlCol="0" anchor="t"/>
          <a:lstStyle/>
          <a:p>
            <a:pPr indent="0" marL="0">
              <a:buNone/>
            </a:pPr>
            <a:r>
              <a:rPr lang="en-US" sz="1400" b="1" dirty="0">
                <a:solidFill>
                  <a:srgbClr val="CBB07A"/>
                </a:solidFill>
                <a:latin typeface="Yu Gothic" pitchFamily="34" charset="0"/>
                <a:ea typeface="Yu Gothic" pitchFamily="34" charset="-122"/>
                <a:cs typeface="Yu Gothic" pitchFamily="34" charset="-120"/>
              </a:rPr>
              <a:t>定借ナビ</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はじめに</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今日のゴール：このツールを、自分の手で作れるようになる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お手本は「定借ナビ」（teisha-navi.vercel.app）。同じ考え方のツールを、AIに作ってもらいます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a:t>
            </a:r>
            <a:endParaRPr lang="en-US" sz="900" dirty="0"/>
          </a:p>
        </p:txBody>
      </p:sp>
      <p:pic>
        <p:nvPicPr>
          <p:cNvPr id="8" name="Image 0" descr="../shots/c_top.png">    </p:cNvPr>
          <p:cNvPicPr>
            <a:picLocks noChangeAspect="1"/>
          </p:cNvPicPr>
          <p:nvPr/>
        </p:nvPicPr>
        <p:blipFill>
          <a:blip r:embed="rId1"/>
          <a:stretch>
            <a:fillRect/>
          </a:stretch>
        </p:blipFill>
        <p:spPr>
          <a:xfrm>
            <a:off x="548640" y="1600200"/>
            <a:ext cx="6766560" cy="2583596"/>
          </a:xfrm>
          <a:prstGeom prst="rect">
            <a:avLst/>
          </a:prstGeom>
        </p:spPr>
      </p:pic>
      <p:sp>
        <p:nvSpPr>
          <p:cNvPr id="9" name="Shape 6"/>
          <p:cNvSpPr/>
          <p:nvPr/>
        </p:nvSpPr>
        <p:spPr>
          <a:xfrm>
            <a:off x="548640" y="1600200"/>
            <a:ext cx="6766560" cy="2583596"/>
          </a:xfrm>
          <a:prstGeom prst="rect">
            <a:avLst/>
          </a:prstGeom>
          <a:ln w="12700">
            <a:solidFill>
              <a:srgbClr val="E4DFD4"/>
            </a:solidFill>
            <a:prstDash val="solid"/>
          </a:ln>
        </p:spPr>
      </p:sp>
      <p:pic>
        <p:nvPicPr>
          <p:cNvPr id="10" name="Image 1" descr="../shots/c_table_top.png">    </p:cNvPr>
          <p:cNvPicPr>
            <a:picLocks noChangeAspect="1"/>
          </p:cNvPicPr>
          <p:nvPr/>
        </p:nvPicPr>
        <p:blipFill>
          <a:blip r:embed="rId2"/>
          <a:stretch>
            <a:fillRect/>
          </a:stretch>
        </p:blipFill>
        <p:spPr>
          <a:xfrm>
            <a:off x="548640" y="4343400"/>
            <a:ext cx="6766560" cy="1876183"/>
          </a:xfrm>
          <a:prstGeom prst="rect">
            <a:avLst/>
          </a:prstGeom>
        </p:spPr>
      </p:pic>
      <p:sp>
        <p:nvSpPr>
          <p:cNvPr id="11" name="Shape 7"/>
          <p:cNvSpPr/>
          <p:nvPr/>
        </p:nvSpPr>
        <p:spPr>
          <a:xfrm>
            <a:off x="548640" y="4343400"/>
            <a:ext cx="6766560" cy="1876183"/>
          </a:xfrm>
          <a:prstGeom prst="rect">
            <a:avLst/>
          </a:prstGeom>
          <a:ln w="12700">
            <a:solidFill>
              <a:srgbClr val="E4DFD4"/>
            </a:solidFill>
            <a:prstDash val="solid"/>
          </a:ln>
        </p:spPr>
      </p:sp>
      <p:sp>
        <p:nvSpPr>
          <p:cNvPr id="12" name="Shape 8"/>
          <p:cNvSpPr/>
          <p:nvPr/>
        </p:nvSpPr>
        <p:spPr>
          <a:xfrm>
            <a:off x="7680960" y="1600200"/>
            <a:ext cx="3959352" cy="1417320"/>
          </a:xfrm>
          <a:prstGeom prst="roundRect">
            <a:avLst>
              <a:gd name="adj" fmla="val 5161"/>
            </a:avLst>
          </a:prstGeom>
          <a:solidFill>
            <a:srgbClr val="FBF9F4"/>
          </a:solidFill>
          <a:ln w="12700">
            <a:solidFill>
              <a:srgbClr val="E4DFD4"/>
            </a:solidFill>
            <a:prstDash val="solid"/>
          </a:ln>
        </p:spPr>
      </p:sp>
      <p:sp>
        <p:nvSpPr>
          <p:cNvPr id="13" name="Text 9"/>
          <p:cNvSpPr/>
          <p:nvPr/>
        </p:nvSpPr>
        <p:spPr>
          <a:xfrm>
            <a:off x="7882128" y="1746504"/>
            <a:ext cx="355701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① ツールを作れる</a:t>
            </a:r>
            <a:endParaRPr lang="en-US" sz="1500" dirty="0"/>
          </a:p>
        </p:txBody>
      </p:sp>
      <p:sp>
        <p:nvSpPr>
          <p:cNvPr id="14" name="Text 10"/>
          <p:cNvSpPr/>
          <p:nvPr/>
        </p:nvSpPr>
        <p:spPr>
          <a:xfrm>
            <a:off x="7882128" y="2148840"/>
            <a:ext cx="3557016" cy="758952"/>
          </a:xfrm>
          <a:prstGeom prst="rect">
            <a:avLst/>
          </a:prstGeom>
          <a:noFill/>
          <a:ln/>
        </p:spPr>
        <p:txBody>
          <a:bodyPr wrap="square" lIns="0" tIns="0" rIns="0" bIns="0" rtlCol="0" anchor="t"/>
          <a:lstStyle/>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プログラミングの知識はいりません。</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日本語で「お願い」を書くと、AIが作ります</a:t>
            </a:r>
            <a:endParaRPr lang="en-US" sz="1200" dirty="0"/>
          </a:p>
        </p:txBody>
      </p:sp>
      <p:sp>
        <p:nvSpPr>
          <p:cNvPr id="15" name="Shape 11"/>
          <p:cNvSpPr/>
          <p:nvPr/>
        </p:nvSpPr>
        <p:spPr>
          <a:xfrm>
            <a:off x="7680960" y="3154680"/>
            <a:ext cx="3959352" cy="1417320"/>
          </a:xfrm>
          <a:prstGeom prst="roundRect">
            <a:avLst>
              <a:gd name="adj" fmla="val 5161"/>
            </a:avLst>
          </a:prstGeom>
          <a:solidFill>
            <a:srgbClr val="FBF9F4"/>
          </a:solidFill>
          <a:ln w="12700">
            <a:solidFill>
              <a:srgbClr val="E4DFD4"/>
            </a:solidFill>
            <a:prstDash val="solid"/>
          </a:ln>
        </p:spPr>
      </p:sp>
      <p:sp>
        <p:nvSpPr>
          <p:cNvPr id="16" name="Text 12"/>
          <p:cNvSpPr/>
          <p:nvPr/>
        </p:nvSpPr>
        <p:spPr>
          <a:xfrm>
            <a:off x="7882128" y="3300984"/>
            <a:ext cx="355701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② 自社データを入れられる</a:t>
            </a:r>
            <a:endParaRPr lang="en-US" sz="1500" dirty="0"/>
          </a:p>
        </p:txBody>
      </p:sp>
      <p:sp>
        <p:nvSpPr>
          <p:cNvPr id="17" name="Text 13"/>
          <p:cNvSpPr/>
          <p:nvPr/>
        </p:nvSpPr>
        <p:spPr>
          <a:xfrm>
            <a:off x="7882128" y="3703320"/>
            <a:ext cx="3557016" cy="758952"/>
          </a:xfrm>
          <a:prstGeom prst="rect">
            <a:avLst/>
          </a:prstGeom>
          <a:noFill/>
          <a:ln/>
        </p:spPr>
        <p:txBody>
          <a:bodyPr wrap="square" lIns="0" tIns="0" rIns="0" bIns="0" rtlCol="0" anchor="t"/>
          <a:lstStyle/>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自社の新築・中古データ（CSV）を</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ボタン1つで読み込み、グラフにします</a:t>
            </a:r>
            <a:endParaRPr lang="en-US" sz="1200" dirty="0"/>
          </a:p>
        </p:txBody>
      </p:sp>
      <p:sp>
        <p:nvSpPr>
          <p:cNvPr id="18" name="Shape 14"/>
          <p:cNvSpPr/>
          <p:nvPr/>
        </p:nvSpPr>
        <p:spPr>
          <a:xfrm>
            <a:off x="7680960" y="4709160"/>
            <a:ext cx="3959352" cy="1508760"/>
          </a:xfrm>
          <a:prstGeom prst="roundRect">
            <a:avLst>
              <a:gd name="adj" fmla="val 4848"/>
            </a:avLst>
          </a:prstGeom>
          <a:solidFill>
            <a:srgbClr val="FBF9F4"/>
          </a:solidFill>
          <a:ln w="12700">
            <a:solidFill>
              <a:srgbClr val="E4DFD4"/>
            </a:solidFill>
            <a:prstDash val="solid"/>
          </a:ln>
        </p:spPr>
      </p:sp>
      <p:sp>
        <p:nvSpPr>
          <p:cNvPr id="19" name="Text 15"/>
          <p:cNvSpPr/>
          <p:nvPr/>
        </p:nvSpPr>
        <p:spPr>
          <a:xfrm>
            <a:off x="7882128" y="4855464"/>
            <a:ext cx="355701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③ グラフを説明できる</a:t>
            </a:r>
            <a:endParaRPr lang="en-US" sz="1500" dirty="0"/>
          </a:p>
        </p:txBody>
      </p:sp>
      <p:sp>
        <p:nvSpPr>
          <p:cNvPr id="20" name="Text 16"/>
          <p:cNvSpPr/>
          <p:nvPr/>
        </p:nvSpPr>
        <p:spPr>
          <a:xfrm>
            <a:off x="7882128" y="5257800"/>
            <a:ext cx="3557016" cy="850392"/>
          </a:xfrm>
          <a:prstGeom prst="rect">
            <a:avLst/>
          </a:prstGeom>
          <a:noFill/>
          <a:ln/>
        </p:spPr>
        <p:txBody>
          <a:bodyPr wrap="square" lIns="0" tIns="0" rIns="0" bIns="0" rtlCol="0" anchor="t"/>
          <a:lstStyle/>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「新築比」「残存年数」など、</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グラフの意味を理解し、お客様に</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説明できるようになります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はじめに</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今日の流れ</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スライドのとおりに進めれば、最後に自社データのグラフが表示されます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a:t>
            </a:r>
            <a:endParaRPr lang="en-US" sz="900" dirty="0"/>
          </a:p>
        </p:txBody>
      </p:sp>
      <p:sp>
        <p:nvSpPr>
          <p:cNvPr id="8" name="Shape 6"/>
          <p:cNvSpPr/>
          <p:nvPr/>
        </p:nvSpPr>
        <p:spPr>
          <a:xfrm>
            <a:off x="548640" y="1645920"/>
            <a:ext cx="11091672" cy="749808"/>
          </a:xfrm>
          <a:prstGeom prst="rect">
            <a:avLst/>
          </a:prstGeom>
          <a:solidFill>
            <a:srgbClr val="FBF9F4"/>
          </a:solidFill>
          <a:ln w="9525">
            <a:solidFill>
              <a:srgbClr val="E4DFD4"/>
            </a:solidFill>
            <a:prstDash val="solid"/>
          </a:ln>
        </p:spPr>
      </p:sp>
      <p:sp>
        <p:nvSpPr>
          <p:cNvPr id="9" name="Text 7"/>
          <p:cNvSpPr/>
          <p:nvPr/>
        </p:nvSpPr>
        <p:spPr>
          <a:xfrm>
            <a:off x="777240" y="1645920"/>
            <a:ext cx="914400" cy="749808"/>
          </a:xfrm>
          <a:prstGeom prst="rect">
            <a:avLst/>
          </a:prstGeom>
          <a:noFill/>
          <a:ln/>
        </p:spPr>
        <p:txBody>
          <a:bodyPr wrap="square" lIns="0" tIns="0" rIns="0" bIns="0" rtlCol="0" anchor="ctr"/>
          <a:lstStyle/>
          <a:p>
            <a:pPr indent="0" marL="0">
              <a:buNone/>
            </a:pPr>
            <a:r>
              <a:rPr lang="en-US" sz="1400" b="1" dirty="0">
                <a:solidFill>
                  <a:srgbClr val="B08D47"/>
                </a:solidFill>
                <a:latin typeface="Yu Gothic" pitchFamily="34" charset="0"/>
                <a:ea typeface="Yu Gothic" pitchFamily="34" charset="-122"/>
                <a:cs typeface="Yu Gothic" pitchFamily="34" charset="-120"/>
              </a:rPr>
              <a:t>第1部</a:t>
            </a:r>
            <a:endParaRPr lang="en-US" sz="1400" dirty="0"/>
          </a:p>
        </p:txBody>
      </p:sp>
      <p:sp>
        <p:nvSpPr>
          <p:cNvPr id="10" name="Text 8"/>
          <p:cNvSpPr/>
          <p:nvPr/>
        </p:nvSpPr>
        <p:spPr>
          <a:xfrm>
            <a:off x="1737360" y="1645920"/>
            <a:ext cx="2926080" cy="749808"/>
          </a:xfrm>
          <a:prstGeom prst="rect">
            <a:avLst/>
          </a:prstGeom>
          <a:noFill/>
          <a:ln/>
        </p:spPr>
        <p:txBody>
          <a:bodyPr wrap="square" lIns="0" tIns="0" rIns="0" bIns="0" rtlCol="0" anchor="ctr"/>
          <a:lstStyle/>
          <a:p>
            <a:pPr indent="0" marL="0">
              <a:buNone/>
            </a:pPr>
            <a:r>
              <a:rPr lang="en-US" sz="1700" b="1" dirty="0">
                <a:solidFill>
                  <a:srgbClr val="1F2A28"/>
                </a:solidFill>
                <a:latin typeface="Yu Gothic" pitchFamily="34" charset="0"/>
                <a:ea typeface="Yu Gothic" pitchFamily="34" charset="-122"/>
                <a:cs typeface="Yu Gothic" pitchFamily="34" charset="-120"/>
              </a:rPr>
              <a:t>準備する</a:t>
            </a:r>
            <a:endParaRPr lang="en-US" sz="1700" dirty="0"/>
          </a:p>
        </p:txBody>
      </p:sp>
      <p:sp>
        <p:nvSpPr>
          <p:cNvPr id="11" name="Text 9"/>
          <p:cNvSpPr/>
          <p:nvPr/>
        </p:nvSpPr>
        <p:spPr>
          <a:xfrm>
            <a:off x="4663440" y="1645920"/>
            <a:ext cx="4846320" cy="749808"/>
          </a:xfrm>
          <a:prstGeom prst="rect">
            <a:avLst/>
          </a:prstGeom>
          <a:noFill/>
          <a:ln/>
        </p:spPr>
        <p:txBody>
          <a:bodyPr wrap="square" lIns="0" tIns="0" rIns="0" bIns="0" rtlCol="0" anchor="ctr"/>
          <a:lstStyle/>
          <a:p>
            <a:pPr indent="0" marL="0">
              <a:buNone/>
            </a:pPr>
            <a:r>
              <a:rPr lang="en-US" sz="1300" dirty="0">
                <a:solidFill>
                  <a:srgbClr val="3E3E3B"/>
                </a:solidFill>
                <a:latin typeface="Yu Gothic" pitchFamily="34" charset="0"/>
                <a:ea typeface="Yu Gothic" pitchFamily="34" charset="-122"/>
                <a:cs typeface="Yu Gothic" pitchFamily="34" charset="-120"/>
              </a:rPr>
              <a:t>GitHub と Claude のアカウントを作る</a:t>
            </a:r>
            <a:endParaRPr lang="en-US" sz="1300" dirty="0"/>
          </a:p>
        </p:txBody>
      </p:sp>
      <p:sp>
        <p:nvSpPr>
          <p:cNvPr id="12" name="Text 10"/>
          <p:cNvSpPr/>
          <p:nvPr/>
        </p:nvSpPr>
        <p:spPr>
          <a:xfrm>
            <a:off x="9601200" y="1645920"/>
            <a:ext cx="1280160" cy="749808"/>
          </a:xfrm>
          <a:prstGeom prst="rect">
            <a:avLst/>
          </a:prstGeom>
          <a:noFill/>
          <a:ln/>
        </p:spPr>
        <p:txBody>
          <a:bodyPr wrap="square" lIns="0" tIns="0" rIns="0" bIns="0" rtlCol="0" anchor="ctr"/>
          <a:lstStyle/>
          <a:p>
            <a:pPr indent="0" marL="0">
              <a:buNone/>
            </a:pPr>
            <a:r>
              <a:rPr lang="en-US" sz="1200" dirty="0">
                <a:solidFill>
                  <a:srgbClr val="7A756B"/>
                </a:solidFill>
                <a:latin typeface="Yu Gothic" pitchFamily="34" charset="0"/>
                <a:ea typeface="Yu Gothic" pitchFamily="34" charset="-122"/>
                <a:cs typeface="Yu Gothic" pitchFamily="34" charset="-120"/>
              </a:rPr>
              <a:t>STEP 1〜4</a:t>
            </a:r>
            <a:endParaRPr lang="en-US" sz="1200" dirty="0"/>
          </a:p>
        </p:txBody>
      </p:sp>
      <p:sp>
        <p:nvSpPr>
          <p:cNvPr id="13" name="Text 11"/>
          <p:cNvSpPr/>
          <p:nvPr/>
        </p:nvSpPr>
        <p:spPr>
          <a:xfrm>
            <a:off x="10881360" y="1645920"/>
            <a:ext cx="685800" cy="749808"/>
          </a:xfrm>
          <a:prstGeom prst="rect">
            <a:avLst/>
          </a:prstGeom>
          <a:noFill/>
          <a:ln/>
        </p:spPr>
        <p:txBody>
          <a:bodyPr wrap="square" lIns="0" tIns="0" rIns="0" bIns="0" rtlCol="0" anchor="ctr"/>
          <a:lstStyle/>
          <a:p>
            <a:pPr algn="r" indent="0" marL="0">
              <a:buNone/>
            </a:pPr>
            <a:r>
              <a:rPr lang="en-US" sz="1300" b="1" dirty="0">
                <a:solidFill>
                  <a:srgbClr val="1F2A28"/>
                </a:solidFill>
                <a:latin typeface="Yu Gothic" pitchFamily="34" charset="0"/>
                <a:ea typeface="Yu Gothic" pitchFamily="34" charset="-122"/>
                <a:cs typeface="Yu Gothic" pitchFamily="34" charset="-120"/>
              </a:rPr>
              <a:t>40分</a:t>
            </a:r>
            <a:endParaRPr lang="en-US" sz="1300" dirty="0"/>
          </a:p>
        </p:txBody>
      </p:sp>
      <p:sp>
        <p:nvSpPr>
          <p:cNvPr id="14" name="Shape 12"/>
          <p:cNvSpPr/>
          <p:nvPr/>
        </p:nvSpPr>
        <p:spPr>
          <a:xfrm>
            <a:off x="548640" y="2395728"/>
            <a:ext cx="11091672" cy="749808"/>
          </a:xfrm>
          <a:prstGeom prst="rect">
            <a:avLst/>
          </a:prstGeom>
          <a:solidFill>
            <a:srgbClr val="FFFFFF"/>
          </a:solidFill>
          <a:ln w="9525">
            <a:solidFill>
              <a:srgbClr val="E4DFD4"/>
            </a:solidFill>
            <a:prstDash val="solid"/>
          </a:ln>
        </p:spPr>
      </p:sp>
      <p:sp>
        <p:nvSpPr>
          <p:cNvPr id="15" name="Text 13"/>
          <p:cNvSpPr/>
          <p:nvPr/>
        </p:nvSpPr>
        <p:spPr>
          <a:xfrm>
            <a:off x="777240" y="2395728"/>
            <a:ext cx="914400" cy="749808"/>
          </a:xfrm>
          <a:prstGeom prst="rect">
            <a:avLst/>
          </a:prstGeom>
          <a:noFill/>
          <a:ln/>
        </p:spPr>
        <p:txBody>
          <a:bodyPr wrap="square" lIns="0" tIns="0" rIns="0" bIns="0" rtlCol="0" anchor="ctr"/>
          <a:lstStyle/>
          <a:p>
            <a:pPr indent="0" marL="0">
              <a:buNone/>
            </a:pPr>
            <a:r>
              <a:rPr lang="en-US" sz="1400" b="1" dirty="0">
                <a:solidFill>
                  <a:srgbClr val="B08D47"/>
                </a:solidFill>
                <a:latin typeface="Yu Gothic" pitchFamily="34" charset="0"/>
                <a:ea typeface="Yu Gothic" pitchFamily="34" charset="-122"/>
                <a:cs typeface="Yu Gothic" pitchFamily="34" charset="-120"/>
              </a:rPr>
              <a:t>第2部</a:t>
            </a:r>
            <a:endParaRPr lang="en-US" sz="1400" dirty="0"/>
          </a:p>
        </p:txBody>
      </p:sp>
      <p:sp>
        <p:nvSpPr>
          <p:cNvPr id="16" name="Text 14"/>
          <p:cNvSpPr/>
          <p:nvPr/>
        </p:nvSpPr>
        <p:spPr>
          <a:xfrm>
            <a:off x="1737360" y="2395728"/>
            <a:ext cx="2926080" cy="749808"/>
          </a:xfrm>
          <a:prstGeom prst="rect">
            <a:avLst/>
          </a:prstGeom>
          <a:noFill/>
          <a:ln/>
        </p:spPr>
        <p:txBody>
          <a:bodyPr wrap="square" lIns="0" tIns="0" rIns="0" bIns="0" rtlCol="0" anchor="ctr"/>
          <a:lstStyle/>
          <a:p>
            <a:pPr indent="0" marL="0">
              <a:buNone/>
            </a:pPr>
            <a:r>
              <a:rPr lang="en-US" sz="1700" b="1" dirty="0">
                <a:solidFill>
                  <a:srgbClr val="1F2A28"/>
                </a:solidFill>
                <a:latin typeface="Yu Gothic" pitchFamily="34" charset="0"/>
                <a:ea typeface="Yu Gothic" pitchFamily="34" charset="-122"/>
                <a:cs typeface="Yu Gothic" pitchFamily="34" charset="-120"/>
              </a:rPr>
              <a:t>つなぐ</a:t>
            </a:r>
            <a:endParaRPr lang="en-US" sz="1700" dirty="0"/>
          </a:p>
        </p:txBody>
      </p:sp>
      <p:sp>
        <p:nvSpPr>
          <p:cNvPr id="17" name="Text 15"/>
          <p:cNvSpPr/>
          <p:nvPr/>
        </p:nvSpPr>
        <p:spPr>
          <a:xfrm>
            <a:off x="4663440" y="2395728"/>
            <a:ext cx="4846320" cy="749808"/>
          </a:xfrm>
          <a:prstGeom prst="rect">
            <a:avLst/>
          </a:prstGeom>
          <a:noFill/>
          <a:ln/>
        </p:spPr>
        <p:txBody>
          <a:bodyPr wrap="square" lIns="0" tIns="0" rIns="0" bIns="0" rtlCol="0" anchor="ctr"/>
          <a:lstStyle/>
          <a:p>
            <a:pPr indent="0" marL="0">
              <a:buNone/>
            </a:pPr>
            <a:r>
              <a:rPr lang="en-US" sz="1300" dirty="0">
                <a:solidFill>
                  <a:srgbClr val="3E3E3B"/>
                </a:solidFill>
                <a:latin typeface="Yu Gothic" pitchFamily="34" charset="0"/>
                <a:ea typeface="Yu Gothic" pitchFamily="34" charset="-122"/>
                <a:cs typeface="Yu Gothic" pitchFamily="34" charset="-120"/>
              </a:rPr>
              <a:t>Claude と GitHub を連携し、つながったか確かめる</a:t>
            </a:r>
            <a:endParaRPr lang="en-US" sz="1300" dirty="0"/>
          </a:p>
        </p:txBody>
      </p:sp>
      <p:sp>
        <p:nvSpPr>
          <p:cNvPr id="18" name="Text 16"/>
          <p:cNvSpPr/>
          <p:nvPr/>
        </p:nvSpPr>
        <p:spPr>
          <a:xfrm>
            <a:off x="9601200" y="2395728"/>
            <a:ext cx="1280160" cy="749808"/>
          </a:xfrm>
          <a:prstGeom prst="rect">
            <a:avLst/>
          </a:prstGeom>
          <a:noFill/>
          <a:ln/>
        </p:spPr>
        <p:txBody>
          <a:bodyPr wrap="square" lIns="0" tIns="0" rIns="0" bIns="0" rtlCol="0" anchor="ctr"/>
          <a:lstStyle/>
          <a:p>
            <a:pPr indent="0" marL="0">
              <a:buNone/>
            </a:pPr>
            <a:r>
              <a:rPr lang="en-US" sz="1200" dirty="0">
                <a:solidFill>
                  <a:srgbClr val="7A756B"/>
                </a:solidFill>
                <a:latin typeface="Yu Gothic" pitchFamily="34" charset="0"/>
                <a:ea typeface="Yu Gothic" pitchFamily="34" charset="-122"/>
                <a:cs typeface="Yu Gothic" pitchFamily="34" charset="-120"/>
              </a:rPr>
              <a:t>STEP 5〜8</a:t>
            </a:r>
            <a:endParaRPr lang="en-US" sz="1200" dirty="0"/>
          </a:p>
        </p:txBody>
      </p:sp>
      <p:sp>
        <p:nvSpPr>
          <p:cNvPr id="19" name="Text 17"/>
          <p:cNvSpPr/>
          <p:nvPr/>
        </p:nvSpPr>
        <p:spPr>
          <a:xfrm>
            <a:off x="10881360" y="2395728"/>
            <a:ext cx="685800" cy="749808"/>
          </a:xfrm>
          <a:prstGeom prst="rect">
            <a:avLst/>
          </a:prstGeom>
          <a:noFill/>
          <a:ln/>
        </p:spPr>
        <p:txBody>
          <a:bodyPr wrap="square" lIns="0" tIns="0" rIns="0" bIns="0" rtlCol="0" anchor="ctr"/>
          <a:lstStyle/>
          <a:p>
            <a:pPr algn="r" indent="0" marL="0">
              <a:buNone/>
            </a:pPr>
            <a:r>
              <a:rPr lang="en-US" sz="1300" b="1" dirty="0">
                <a:solidFill>
                  <a:srgbClr val="1F2A28"/>
                </a:solidFill>
                <a:latin typeface="Yu Gothic" pitchFamily="34" charset="0"/>
                <a:ea typeface="Yu Gothic" pitchFamily="34" charset="-122"/>
                <a:cs typeface="Yu Gothic" pitchFamily="34" charset="-120"/>
              </a:rPr>
              <a:t>30分</a:t>
            </a:r>
            <a:endParaRPr lang="en-US" sz="1300" dirty="0"/>
          </a:p>
        </p:txBody>
      </p:sp>
      <p:sp>
        <p:nvSpPr>
          <p:cNvPr id="20" name="Shape 18"/>
          <p:cNvSpPr/>
          <p:nvPr/>
        </p:nvSpPr>
        <p:spPr>
          <a:xfrm>
            <a:off x="548640" y="3145536"/>
            <a:ext cx="11091672" cy="749808"/>
          </a:xfrm>
          <a:prstGeom prst="rect">
            <a:avLst/>
          </a:prstGeom>
          <a:solidFill>
            <a:srgbClr val="FBF9F4"/>
          </a:solidFill>
          <a:ln w="9525">
            <a:solidFill>
              <a:srgbClr val="E4DFD4"/>
            </a:solidFill>
            <a:prstDash val="solid"/>
          </a:ln>
        </p:spPr>
      </p:sp>
      <p:sp>
        <p:nvSpPr>
          <p:cNvPr id="21" name="Text 19"/>
          <p:cNvSpPr/>
          <p:nvPr/>
        </p:nvSpPr>
        <p:spPr>
          <a:xfrm>
            <a:off x="777240" y="3145536"/>
            <a:ext cx="914400" cy="749808"/>
          </a:xfrm>
          <a:prstGeom prst="rect">
            <a:avLst/>
          </a:prstGeom>
          <a:noFill/>
          <a:ln/>
        </p:spPr>
        <p:txBody>
          <a:bodyPr wrap="square" lIns="0" tIns="0" rIns="0" bIns="0" rtlCol="0" anchor="ctr"/>
          <a:lstStyle/>
          <a:p>
            <a:pPr indent="0" marL="0">
              <a:buNone/>
            </a:pPr>
            <a:r>
              <a:rPr lang="en-US" sz="1400" b="1" dirty="0">
                <a:solidFill>
                  <a:srgbClr val="B08D47"/>
                </a:solidFill>
                <a:latin typeface="Yu Gothic" pitchFamily="34" charset="0"/>
                <a:ea typeface="Yu Gothic" pitchFamily="34" charset="-122"/>
                <a:cs typeface="Yu Gothic" pitchFamily="34" charset="-120"/>
              </a:rPr>
              <a:t>第3部</a:t>
            </a:r>
            <a:endParaRPr lang="en-US" sz="1400" dirty="0"/>
          </a:p>
        </p:txBody>
      </p:sp>
      <p:sp>
        <p:nvSpPr>
          <p:cNvPr id="22" name="Text 20"/>
          <p:cNvSpPr/>
          <p:nvPr/>
        </p:nvSpPr>
        <p:spPr>
          <a:xfrm>
            <a:off x="1737360" y="3145536"/>
            <a:ext cx="2926080" cy="749808"/>
          </a:xfrm>
          <a:prstGeom prst="rect">
            <a:avLst/>
          </a:prstGeom>
          <a:noFill/>
          <a:ln/>
        </p:spPr>
        <p:txBody>
          <a:bodyPr wrap="square" lIns="0" tIns="0" rIns="0" bIns="0" rtlCol="0" anchor="ctr"/>
          <a:lstStyle/>
          <a:p>
            <a:pPr indent="0" marL="0">
              <a:buNone/>
            </a:pPr>
            <a:r>
              <a:rPr lang="en-US" sz="1700" b="1" dirty="0">
                <a:solidFill>
                  <a:srgbClr val="1F2A28"/>
                </a:solidFill>
                <a:latin typeface="Yu Gothic" pitchFamily="34" charset="0"/>
                <a:ea typeface="Yu Gothic" pitchFamily="34" charset="-122"/>
                <a:cs typeface="Yu Gothic" pitchFamily="34" charset="-120"/>
              </a:rPr>
              <a:t>作る</a:t>
            </a:r>
            <a:endParaRPr lang="en-US" sz="1700" dirty="0"/>
          </a:p>
        </p:txBody>
      </p:sp>
      <p:sp>
        <p:nvSpPr>
          <p:cNvPr id="23" name="Text 21"/>
          <p:cNvSpPr/>
          <p:nvPr/>
        </p:nvSpPr>
        <p:spPr>
          <a:xfrm>
            <a:off x="4663440" y="3145536"/>
            <a:ext cx="4846320" cy="749808"/>
          </a:xfrm>
          <a:prstGeom prst="rect">
            <a:avLst/>
          </a:prstGeom>
          <a:noFill/>
          <a:ln/>
        </p:spPr>
        <p:txBody>
          <a:bodyPr wrap="square" lIns="0" tIns="0" rIns="0" bIns="0" rtlCol="0" anchor="ctr"/>
          <a:lstStyle/>
          <a:p>
            <a:pPr indent="0" marL="0">
              <a:buNone/>
            </a:pPr>
            <a:r>
              <a:rPr lang="en-US" sz="1300" dirty="0">
                <a:solidFill>
                  <a:srgbClr val="3E3E3B"/>
                </a:solidFill>
                <a:latin typeface="Yu Gothic" pitchFamily="34" charset="0"/>
                <a:ea typeface="Yu Gothic" pitchFamily="34" charset="-122"/>
                <a:cs typeface="Yu Gothic" pitchFamily="34" charset="-120"/>
              </a:rPr>
              <a:t>プロンプト①〜③を貼り付けて、ツールを完成させる</a:t>
            </a:r>
            <a:endParaRPr lang="en-US" sz="1300" dirty="0"/>
          </a:p>
        </p:txBody>
      </p:sp>
      <p:sp>
        <p:nvSpPr>
          <p:cNvPr id="24" name="Text 22"/>
          <p:cNvSpPr/>
          <p:nvPr/>
        </p:nvSpPr>
        <p:spPr>
          <a:xfrm>
            <a:off x="9601200" y="3145536"/>
            <a:ext cx="1280160" cy="749808"/>
          </a:xfrm>
          <a:prstGeom prst="rect">
            <a:avLst/>
          </a:prstGeom>
          <a:noFill/>
          <a:ln/>
        </p:spPr>
        <p:txBody>
          <a:bodyPr wrap="square" lIns="0" tIns="0" rIns="0" bIns="0" rtlCol="0" anchor="ctr"/>
          <a:lstStyle/>
          <a:p>
            <a:pPr indent="0" marL="0">
              <a:buNone/>
            </a:pPr>
            <a:r>
              <a:rPr lang="en-US" sz="1200" dirty="0">
                <a:solidFill>
                  <a:srgbClr val="7A756B"/>
                </a:solidFill>
                <a:latin typeface="Yu Gothic" pitchFamily="34" charset="0"/>
                <a:ea typeface="Yu Gothic" pitchFamily="34" charset="-122"/>
                <a:cs typeface="Yu Gothic" pitchFamily="34" charset="-120"/>
              </a:rPr>
              <a:t>STEP 9〜15</a:t>
            </a:r>
            <a:endParaRPr lang="en-US" sz="1200" dirty="0"/>
          </a:p>
        </p:txBody>
      </p:sp>
      <p:sp>
        <p:nvSpPr>
          <p:cNvPr id="25" name="Text 23"/>
          <p:cNvSpPr/>
          <p:nvPr/>
        </p:nvSpPr>
        <p:spPr>
          <a:xfrm>
            <a:off x="10881360" y="3145536"/>
            <a:ext cx="685800" cy="749808"/>
          </a:xfrm>
          <a:prstGeom prst="rect">
            <a:avLst/>
          </a:prstGeom>
          <a:noFill/>
          <a:ln/>
        </p:spPr>
        <p:txBody>
          <a:bodyPr wrap="square" lIns="0" tIns="0" rIns="0" bIns="0" rtlCol="0" anchor="ctr"/>
          <a:lstStyle/>
          <a:p>
            <a:pPr algn="r" indent="0" marL="0">
              <a:buNone/>
            </a:pPr>
            <a:r>
              <a:rPr lang="en-US" sz="1300" b="1" dirty="0">
                <a:solidFill>
                  <a:srgbClr val="1F2A28"/>
                </a:solidFill>
                <a:latin typeface="Yu Gothic" pitchFamily="34" charset="0"/>
                <a:ea typeface="Yu Gothic" pitchFamily="34" charset="-122"/>
                <a:cs typeface="Yu Gothic" pitchFamily="34" charset="-120"/>
              </a:rPr>
              <a:t>60分</a:t>
            </a:r>
            <a:endParaRPr lang="en-US" sz="1300" dirty="0"/>
          </a:p>
        </p:txBody>
      </p:sp>
      <p:sp>
        <p:nvSpPr>
          <p:cNvPr id="26" name="Shape 24"/>
          <p:cNvSpPr/>
          <p:nvPr/>
        </p:nvSpPr>
        <p:spPr>
          <a:xfrm>
            <a:off x="548640" y="3895344"/>
            <a:ext cx="11091672" cy="749808"/>
          </a:xfrm>
          <a:prstGeom prst="rect">
            <a:avLst/>
          </a:prstGeom>
          <a:solidFill>
            <a:srgbClr val="FFFFFF"/>
          </a:solidFill>
          <a:ln w="9525">
            <a:solidFill>
              <a:srgbClr val="E4DFD4"/>
            </a:solidFill>
            <a:prstDash val="solid"/>
          </a:ln>
        </p:spPr>
      </p:sp>
      <p:sp>
        <p:nvSpPr>
          <p:cNvPr id="27" name="Text 25"/>
          <p:cNvSpPr/>
          <p:nvPr/>
        </p:nvSpPr>
        <p:spPr>
          <a:xfrm>
            <a:off x="777240" y="3895344"/>
            <a:ext cx="914400" cy="749808"/>
          </a:xfrm>
          <a:prstGeom prst="rect">
            <a:avLst/>
          </a:prstGeom>
          <a:noFill/>
          <a:ln/>
        </p:spPr>
        <p:txBody>
          <a:bodyPr wrap="square" lIns="0" tIns="0" rIns="0" bIns="0" rtlCol="0" anchor="ctr"/>
          <a:lstStyle/>
          <a:p>
            <a:pPr indent="0" marL="0">
              <a:buNone/>
            </a:pPr>
            <a:r>
              <a:rPr lang="en-US" sz="1400" b="1" dirty="0">
                <a:solidFill>
                  <a:srgbClr val="B08D47"/>
                </a:solidFill>
                <a:latin typeface="Yu Gothic" pitchFamily="34" charset="0"/>
                <a:ea typeface="Yu Gothic" pitchFamily="34" charset="-122"/>
                <a:cs typeface="Yu Gothic" pitchFamily="34" charset="-120"/>
              </a:rPr>
              <a:t>第4部</a:t>
            </a:r>
            <a:endParaRPr lang="en-US" sz="1400" dirty="0"/>
          </a:p>
        </p:txBody>
      </p:sp>
      <p:sp>
        <p:nvSpPr>
          <p:cNvPr id="28" name="Text 26"/>
          <p:cNvSpPr/>
          <p:nvPr/>
        </p:nvSpPr>
        <p:spPr>
          <a:xfrm>
            <a:off x="1737360" y="3895344"/>
            <a:ext cx="2926080" cy="749808"/>
          </a:xfrm>
          <a:prstGeom prst="rect">
            <a:avLst/>
          </a:prstGeom>
          <a:noFill/>
          <a:ln/>
        </p:spPr>
        <p:txBody>
          <a:bodyPr wrap="square" lIns="0" tIns="0" rIns="0" bIns="0" rtlCol="0" anchor="ctr"/>
          <a:lstStyle/>
          <a:p>
            <a:pPr indent="0" marL="0">
              <a:buNone/>
            </a:pPr>
            <a:r>
              <a:rPr lang="en-US" sz="1700" b="1" dirty="0">
                <a:solidFill>
                  <a:srgbClr val="1F2A28"/>
                </a:solidFill>
                <a:latin typeface="Yu Gothic" pitchFamily="34" charset="0"/>
                <a:ea typeface="Yu Gothic" pitchFamily="34" charset="-122"/>
                <a:cs typeface="Yu Gothic" pitchFamily="34" charset="-120"/>
              </a:rPr>
              <a:t>自社データを入れる</a:t>
            </a:r>
            <a:endParaRPr lang="en-US" sz="1700" dirty="0"/>
          </a:p>
        </p:txBody>
      </p:sp>
      <p:sp>
        <p:nvSpPr>
          <p:cNvPr id="29" name="Text 27"/>
          <p:cNvSpPr/>
          <p:nvPr/>
        </p:nvSpPr>
        <p:spPr>
          <a:xfrm>
            <a:off x="4663440" y="3895344"/>
            <a:ext cx="4846320" cy="749808"/>
          </a:xfrm>
          <a:prstGeom prst="rect">
            <a:avLst/>
          </a:prstGeom>
          <a:noFill/>
          <a:ln/>
        </p:spPr>
        <p:txBody>
          <a:bodyPr wrap="square" lIns="0" tIns="0" rIns="0" bIns="0" rtlCol="0" anchor="ctr"/>
          <a:lstStyle/>
          <a:p>
            <a:pPr indent="0" marL="0">
              <a:buNone/>
            </a:pPr>
            <a:r>
              <a:rPr lang="en-US" sz="1300" dirty="0">
                <a:solidFill>
                  <a:srgbClr val="3E3E3B"/>
                </a:solidFill>
                <a:latin typeface="Yu Gothic" pitchFamily="34" charset="0"/>
                <a:ea typeface="Yu Gothic" pitchFamily="34" charset="-122"/>
                <a:cs typeface="Yu Gothic" pitchFamily="34" charset="-120"/>
              </a:rPr>
              <a:t>Excel を CSV で保存し、ツールに読み込む</a:t>
            </a:r>
            <a:endParaRPr lang="en-US" sz="1300" dirty="0"/>
          </a:p>
        </p:txBody>
      </p:sp>
      <p:sp>
        <p:nvSpPr>
          <p:cNvPr id="30" name="Text 28"/>
          <p:cNvSpPr/>
          <p:nvPr/>
        </p:nvSpPr>
        <p:spPr>
          <a:xfrm>
            <a:off x="9601200" y="3895344"/>
            <a:ext cx="1280160" cy="749808"/>
          </a:xfrm>
          <a:prstGeom prst="rect">
            <a:avLst/>
          </a:prstGeom>
          <a:noFill/>
          <a:ln/>
        </p:spPr>
        <p:txBody>
          <a:bodyPr wrap="square" lIns="0" tIns="0" rIns="0" bIns="0" rtlCol="0" anchor="ctr"/>
          <a:lstStyle/>
          <a:p>
            <a:pPr indent="0" marL="0">
              <a:buNone/>
            </a:pPr>
            <a:r>
              <a:rPr lang="en-US" sz="1200" dirty="0">
                <a:solidFill>
                  <a:srgbClr val="7A756B"/>
                </a:solidFill>
                <a:latin typeface="Yu Gothic" pitchFamily="34" charset="0"/>
                <a:ea typeface="Yu Gothic" pitchFamily="34" charset="-122"/>
                <a:cs typeface="Yu Gothic" pitchFamily="34" charset="-120"/>
              </a:rPr>
              <a:t>STEP 16〜18</a:t>
            </a:r>
            <a:endParaRPr lang="en-US" sz="1200" dirty="0"/>
          </a:p>
        </p:txBody>
      </p:sp>
      <p:sp>
        <p:nvSpPr>
          <p:cNvPr id="31" name="Text 29"/>
          <p:cNvSpPr/>
          <p:nvPr/>
        </p:nvSpPr>
        <p:spPr>
          <a:xfrm>
            <a:off x="10881360" y="3895344"/>
            <a:ext cx="685800" cy="749808"/>
          </a:xfrm>
          <a:prstGeom prst="rect">
            <a:avLst/>
          </a:prstGeom>
          <a:noFill/>
          <a:ln/>
        </p:spPr>
        <p:txBody>
          <a:bodyPr wrap="square" lIns="0" tIns="0" rIns="0" bIns="0" rtlCol="0" anchor="ctr"/>
          <a:lstStyle/>
          <a:p>
            <a:pPr algn="r" indent="0" marL="0">
              <a:buNone/>
            </a:pPr>
            <a:r>
              <a:rPr lang="en-US" sz="1300" b="1" dirty="0">
                <a:solidFill>
                  <a:srgbClr val="1F2A28"/>
                </a:solidFill>
                <a:latin typeface="Yu Gothic" pitchFamily="34" charset="0"/>
                <a:ea typeface="Yu Gothic" pitchFamily="34" charset="-122"/>
                <a:cs typeface="Yu Gothic" pitchFamily="34" charset="-120"/>
              </a:rPr>
              <a:t>30分</a:t>
            </a:r>
            <a:endParaRPr lang="en-US" sz="1300" dirty="0"/>
          </a:p>
        </p:txBody>
      </p:sp>
      <p:sp>
        <p:nvSpPr>
          <p:cNvPr id="32" name="Shape 30"/>
          <p:cNvSpPr/>
          <p:nvPr/>
        </p:nvSpPr>
        <p:spPr>
          <a:xfrm>
            <a:off x="548640" y="4645152"/>
            <a:ext cx="11091672" cy="749808"/>
          </a:xfrm>
          <a:prstGeom prst="rect">
            <a:avLst/>
          </a:prstGeom>
          <a:solidFill>
            <a:srgbClr val="FBF9F4"/>
          </a:solidFill>
          <a:ln w="9525">
            <a:solidFill>
              <a:srgbClr val="E4DFD4"/>
            </a:solidFill>
            <a:prstDash val="solid"/>
          </a:ln>
        </p:spPr>
      </p:sp>
      <p:sp>
        <p:nvSpPr>
          <p:cNvPr id="33" name="Text 31"/>
          <p:cNvSpPr/>
          <p:nvPr/>
        </p:nvSpPr>
        <p:spPr>
          <a:xfrm>
            <a:off x="777240" y="4645152"/>
            <a:ext cx="914400" cy="749808"/>
          </a:xfrm>
          <a:prstGeom prst="rect">
            <a:avLst/>
          </a:prstGeom>
          <a:noFill/>
          <a:ln/>
        </p:spPr>
        <p:txBody>
          <a:bodyPr wrap="square" lIns="0" tIns="0" rIns="0" bIns="0" rtlCol="0" anchor="ctr"/>
          <a:lstStyle/>
          <a:p>
            <a:pPr indent="0" marL="0">
              <a:buNone/>
            </a:pPr>
            <a:r>
              <a:rPr lang="en-US" sz="1400" b="1" dirty="0">
                <a:solidFill>
                  <a:srgbClr val="B08D47"/>
                </a:solidFill>
                <a:latin typeface="Yu Gothic" pitchFamily="34" charset="0"/>
                <a:ea typeface="Yu Gothic" pitchFamily="34" charset="-122"/>
                <a:cs typeface="Yu Gothic" pitchFamily="34" charset="-120"/>
              </a:rPr>
              <a:t>第5部</a:t>
            </a:r>
            <a:endParaRPr lang="en-US" sz="1400" dirty="0"/>
          </a:p>
        </p:txBody>
      </p:sp>
      <p:sp>
        <p:nvSpPr>
          <p:cNvPr id="34" name="Text 32"/>
          <p:cNvSpPr/>
          <p:nvPr/>
        </p:nvSpPr>
        <p:spPr>
          <a:xfrm>
            <a:off x="1737360" y="4645152"/>
            <a:ext cx="2926080" cy="749808"/>
          </a:xfrm>
          <a:prstGeom prst="rect">
            <a:avLst/>
          </a:prstGeom>
          <a:noFill/>
          <a:ln/>
        </p:spPr>
        <p:txBody>
          <a:bodyPr wrap="square" lIns="0" tIns="0" rIns="0" bIns="0" rtlCol="0" anchor="ctr"/>
          <a:lstStyle/>
          <a:p>
            <a:pPr indent="0" marL="0">
              <a:buNone/>
            </a:pPr>
            <a:r>
              <a:rPr lang="en-US" sz="1700" b="1" dirty="0">
                <a:solidFill>
                  <a:srgbClr val="1F2A28"/>
                </a:solidFill>
                <a:latin typeface="Yu Gothic" pitchFamily="34" charset="0"/>
                <a:ea typeface="Yu Gothic" pitchFamily="34" charset="-122"/>
                <a:cs typeface="Yu Gothic" pitchFamily="34" charset="-120"/>
              </a:rPr>
              <a:t>困ったとき・使いこなす</a:t>
            </a:r>
            <a:endParaRPr lang="en-US" sz="1700" dirty="0"/>
          </a:p>
        </p:txBody>
      </p:sp>
      <p:sp>
        <p:nvSpPr>
          <p:cNvPr id="35" name="Text 33"/>
          <p:cNvSpPr/>
          <p:nvPr/>
        </p:nvSpPr>
        <p:spPr>
          <a:xfrm>
            <a:off x="4663440" y="4645152"/>
            <a:ext cx="4846320" cy="749808"/>
          </a:xfrm>
          <a:prstGeom prst="rect">
            <a:avLst/>
          </a:prstGeom>
          <a:noFill/>
          <a:ln/>
        </p:spPr>
        <p:txBody>
          <a:bodyPr wrap="square" lIns="0" tIns="0" rIns="0" bIns="0" rtlCol="0" anchor="ctr"/>
          <a:lstStyle/>
          <a:p>
            <a:pPr indent="0" marL="0">
              <a:buNone/>
            </a:pPr>
            <a:r>
              <a:rPr lang="en-US" sz="1300" dirty="0">
                <a:solidFill>
                  <a:srgbClr val="3E3E3B"/>
                </a:solidFill>
                <a:latin typeface="Yu Gothic" pitchFamily="34" charset="0"/>
                <a:ea typeface="Yu Gothic" pitchFamily="34" charset="-122"/>
                <a:cs typeface="Yu Gothic" pitchFamily="34" charset="-120"/>
              </a:rPr>
              <a:t>うまくいかないときのプロンプト、お客様への説明</a:t>
            </a:r>
            <a:endParaRPr lang="en-US" sz="1300" dirty="0"/>
          </a:p>
        </p:txBody>
      </p:sp>
      <p:sp>
        <p:nvSpPr>
          <p:cNvPr id="36" name="Text 34"/>
          <p:cNvSpPr/>
          <p:nvPr/>
        </p:nvSpPr>
        <p:spPr>
          <a:xfrm>
            <a:off x="9601200" y="4645152"/>
            <a:ext cx="1280160" cy="749808"/>
          </a:xfrm>
          <a:prstGeom prst="rect">
            <a:avLst/>
          </a:prstGeom>
          <a:noFill/>
          <a:ln/>
        </p:spPr>
        <p:txBody>
          <a:bodyPr wrap="square" lIns="0" tIns="0" rIns="0" bIns="0" rtlCol="0" anchor="ctr"/>
          <a:lstStyle/>
          <a:p>
            <a:pPr indent="0" marL="0">
              <a:buNone/>
            </a:pPr>
            <a:r>
              <a:rPr lang="en-US" sz="1200" dirty="0">
                <a:solidFill>
                  <a:srgbClr val="7A756B"/>
                </a:solidFill>
                <a:latin typeface="Yu Gothic" pitchFamily="34" charset="0"/>
                <a:ea typeface="Yu Gothic" pitchFamily="34" charset="-122"/>
                <a:cs typeface="Yu Gothic" pitchFamily="34" charset="-120"/>
              </a:rPr>
              <a:t>─</a:t>
            </a:r>
            <a:endParaRPr lang="en-US" sz="1200" dirty="0"/>
          </a:p>
        </p:txBody>
      </p:sp>
      <p:sp>
        <p:nvSpPr>
          <p:cNvPr id="37" name="Text 35"/>
          <p:cNvSpPr/>
          <p:nvPr/>
        </p:nvSpPr>
        <p:spPr>
          <a:xfrm>
            <a:off x="10881360" y="4645152"/>
            <a:ext cx="685800" cy="749808"/>
          </a:xfrm>
          <a:prstGeom prst="rect">
            <a:avLst/>
          </a:prstGeom>
          <a:noFill/>
          <a:ln/>
        </p:spPr>
        <p:txBody>
          <a:bodyPr wrap="square" lIns="0" tIns="0" rIns="0" bIns="0" rtlCol="0" anchor="ctr"/>
          <a:lstStyle/>
          <a:p>
            <a:pPr algn="r" indent="0" marL="0">
              <a:buNone/>
            </a:pPr>
            <a:r>
              <a:rPr lang="en-US" sz="1300" b="1" dirty="0">
                <a:solidFill>
                  <a:srgbClr val="1F2A28"/>
                </a:solidFill>
                <a:latin typeface="Yu Gothic" pitchFamily="34" charset="0"/>
                <a:ea typeface="Yu Gothic" pitchFamily="34" charset="-122"/>
                <a:cs typeface="Yu Gothic" pitchFamily="34" charset="-120"/>
              </a:rPr>
              <a:t>20分</a:t>
            </a:r>
            <a:endParaRPr lang="en-US" sz="1300" dirty="0"/>
          </a:p>
        </p:txBody>
      </p:sp>
      <p:sp>
        <p:nvSpPr>
          <p:cNvPr id="38" name="Shape 36"/>
          <p:cNvSpPr/>
          <p:nvPr/>
        </p:nvSpPr>
        <p:spPr>
          <a:xfrm>
            <a:off x="548640" y="5715000"/>
            <a:ext cx="11091672" cy="457200"/>
          </a:xfrm>
          <a:prstGeom prst="roundRect">
            <a:avLst>
              <a:gd name="adj" fmla="val 12000"/>
            </a:avLst>
          </a:prstGeom>
          <a:solidFill>
            <a:srgbClr val="F5F2EA"/>
          </a:solidFill>
          <a:ln/>
        </p:spPr>
      </p:sp>
      <p:sp>
        <p:nvSpPr>
          <p:cNvPr id="39" name="Shape 37"/>
          <p:cNvSpPr/>
          <p:nvPr/>
        </p:nvSpPr>
        <p:spPr>
          <a:xfrm>
            <a:off x="548640" y="5715000"/>
            <a:ext cx="73152" cy="457200"/>
          </a:xfrm>
          <a:prstGeom prst="rect">
            <a:avLst/>
          </a:prstGeom>
          <a:solidFill>
            <a:srgbClr val="B08D47"/>
          </a:solidFill>
          <a:ln/>
        </p:spPr>
      </p:sp>
      <p:sp>
        <p:nvSpPr>
          <p:cNvPr id="40" name="Text 38"/>
          <p:cNvSpPr/>
          <p:nvPr/>
        </p:nvSpPr>
        <p:spPr>
          <a:xfrm>
            <a:off x="777240" y="5715000"/>
            <a:ext cx="10725912" cy="457200"/>
          </a:xfrm>
          <a:prstGeom prst="rect">
            <a:avLst/>
          </a:prstGeom>
          <a:noFill/>
          <a:ln/>
        </p:spPr>
        <p:txBody>
          <a:bodyPr wrap="square" lIns="0" tIns="0" rIns="0" bIns="0" rtlCol="0" anchor="ctr"/>
          <a:lstStyle/>
          <a:p>
            <a:pPr indent="0" marL="0">
              <a:lnSpc>
                <a:spcPct val="110000"/>
              </a:lnSpc>
              <a:buNone/>
            </a:pPr>
            <a:r>
              <a:rPr lang="en-US" sz="125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各スライドの左上の「STEP 番号」で、いまどこにいるかが分かります。迷ったら番号を講師に伝えてください</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はじめに</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最初に覚える 8つの言葉</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今日はこれだけ分かれば大丈夫です。たとえで覚えましょう</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4</a:t>
            </a:r>
            <a:endParaRPr lang="en-US" sz="900" dirty="0"/>
          </a:p>
        </p:txBody>
      </p:sp>
      <p:sp>
        <p:nvSpPr>
          <p:cNvPr id="8" name="Shape 6"/>
          <p:cNvSpPr/>
          <p:nvPr/>
        </p:nvSpPr>
        <p:spPr>
          <a:xfrm>
            <a:off x="548640" y="1645920"/>
            <a:ext cx="5408676" cy="1005840"/>
          </a:xfrm>
          <a:prstGeom prst="roundRect">
            <a:avLst>
              <a:gd name="adj" fmla="val 5455"/>
            </a:avLst>
          </a:prstGeom>
          <a:solidFill>
            <a:srgbClr val="FBF9F4"/>
          </a:solidFill>
          <a:ln w="9525">
            <a:solidFill>
              <a:srgbClr val="E4DFD4"/>
            </a:solidFill>
            <a:prstDash val="solid"/>
          </a:ln>
        </p:spPr>
      </p:sp>
      <p:sp>
        <p:nvSpPr>
          <p:cNvPr id="9" name="Text 7"/>
          <p:cNvSpPr/>
          <p:nvPr/>
        </p:nvSpPr>
        <p:spPr>
          <a:xfrm>
            <a:off x="749808" y="1755648"/>
            <a:ext cx="5006340" cy="329184"/>
          </a:xfrm>
          <a:prstGeom prst="rect">
            <a:avLst/>
          </a:prstGeom>
          <a:noFill/>
          <a:ln/>
        </p:spPr>
        <p:txBody>
          <a:bodyPr wrap="square" lIns="0" tIns="0" rIns="0" bIns="0" rtlCol="0" anchor="t"/>
          <a:lstStyle/>
          <a:p>
            <a:pPr indent="0" marL="0">
              <a:buNone/>
            </a:pPr>
            <a:r>
              <a:rPr lang="en-US" sz="1500" b="1" dirty="0">
                <a:solidFill>
                  <a:srgbClr val="3C5A4F"/>
                </a:solidFill>
                <a:latin typeface="Yu Gothic" pitchFamily="34" charset="0"/>
                <a:ea typeface="Yu Gothic" pitchFamily="34" charset="-122"/>
                <a:cs typeface="Yu Gothic" pitchFamily="34" charset="-120"/>
              </a:rPr>
              <a:t>Claude（クロード）</a:t>
            </a:r>
            <a:endParaRPr lang="en-US" sz="1500" dirty="0"/>
          </a:p>
        </p:txBody>
      </p:sp>
      <p:sp>
        <p:nvSpPr>
          <p:cNvPr id="10" name="Text 8"/>
          <p:cNvSpPr/>
          <p:nvPr/>
        </p:nvSpPr>
        <p:spPr>
          <a:xfrm>
            <a:off x="749808" y="2103120"/>
            <a:ext cx="5006340" cy="475488"/>
          </a:xfrm>
          <a:prstGeom prst="rect">
            <a:avLst/>
          </a:prstGeom>
          <a:noFill/>
          <a:ln/>
        </p:spPr>
        <p:txBody>
          <a:bodyPr wrap="square" lIns="0" tIns="0" rIns="0" bIns="0" rtlCol="0" anchor="t"/>
          <a:lstStyle/>
          <a:p>
            <a:pPr indent="0" marL="0">
              <a:buNone/>
            </a:pPr>
            <a:r>
              <a:rPr lang="en-US" sz="1200" dirty="0">
                <a:solidFill>
                  <a:srgbClr val="3E3E3B"/>
                </a:solidFill>
                <a:latin typeface="Yu Gothic" pitchFamily="34" charset="0"/>
                <a:ea typeface="Yu Gothic" pitchFamily="34" charset="-122"/>
                <a:cs typeface="Yu Gothic" pitchFamily="34" charset="-120"/>
              </a:rPr>
              <a:t>Anthropic社のAI。日本語で話しかけると、文章やプログラムを作ってくれる</a:t>
            </a:r>
            <a:endParaRPr lang="en-US" sz="1200" dirty="0"/>
          </a:p>
        </p:txBody>
      </p:sp>
      <p:sp>
        <p:nvSpPr>
          <p:cNvPr id="11" name="Shape 9"/>
          <p:cNvSpPr/>
          <p:nvPr/>
        </p:nvSpPr>
        <p:spPr>
          <a:xfrm>
            <a:off x="6231636" y="1645920"/>
            <a:ext cx="5408676" cy="1005840"/>
          </a:xfrm>
          <a:prstGeom prst="roundRect">
            <a:avLst>
              <a:gd name="adj" fmla="val 5455"/>
            </a:avLst>
          </a:prstGeom>
          <a:solidFill>
            <a:srgbClr val="FBF9F4"/>
          </a:solidFill>
          <a:ln w="9525">
            <a:solidFill>
              <a:srgbClr val="E4DFD4"/>
            </a:solidFill>
            <a:prstDash val="solid"/>
          </a:ln>
        </p:spPr>
      </p:sp>
      <p:sp>
        <p:nvSpPr>
          <p:cNvPr id="12" name="Text 10"/>
          <p:cNvSpPr/>
          <p:nvPr/>
        </p:nvSpPr>
        <p:spPr>
          <a:xfrm>
            <a:off x="6432804" y="1755648"/>
            <a:ext cx="5006340" cy="329184"/>
          </a:xfrm>
          <a:prstGeom prst="rect">
            <a:avLst/>
          </a:prstGeom>
          <a:noFill/>
          <a:ln/>
        </p:spPr>
        <p:txBody>
          <a:bodyPr wrap="square" lIns="0" tIns="0" rIns="0" bIns="0" rtlCol="0" anchor="t"/>
          <a:lstStyle/>
          <a:p>
            <a:pPr indent="0" marL="0">
              <a:buNone/>
            </a:pPr>
            <a:r>
              <a:rPr lang="en-US" sz="1500" b="1" dirty="0">
                <a:solidFill>
                  <a:srgbClr val="3C5A4F"/>
                </a:solidFill>
                <a:latin typeface="Yu Gothic" pitchFamily="34" charset="0"/>
                <a:ea typeface="Yu Gothic" pitchFamily="34" charset="-122"/>
                <a:cs typeface="Yu Gothic" pitchFamily="34" charset="-120"/>
              </a:rPr>
              <a:t>Claude Code</a:t>
            </a:r>
            <a:endParaRPr lang="en-US" sz="1500" dirty="0"/>
          </a:p>
        </p:txBody>
      </p:sp>
      <p:sp>
        <p:nvSpPr>
          <p:cNvPr id="13" name="Text 11"/>
          <p:cNvSpPr/>
          <p:nvPr/>
        </p:nvSpPr>
        <p:spPr>
          <a:xfrm>
            <a:off x="6432804" y="2103120"/>
            <a:ext cx="5006340" cy="475488"/>
          </a:xfrm>
          <a:prstGeom prst="rect">
            <a:avLst/>
          </a:prstGeom>
          <a:noFill/>
          <a:ln/>
        </p:spPr>
        <p:txBody>
          <a:bodyPr wrap="square" lIns="0" tIns="0" rIns="0" bIns="0" rtlCol="0" anchor="t"/>
          <a:lstStyle/>
          <a:p>
            <a:pPr indent="0" marL="0">
              <a:buNone/>
            </a:pPr>
            <a:r>
              <a:rPr lang="en-US" sz="1200" dirty="0">
                <a:solidFill>
                  <a:srgbClr val="3E3E3B"/>
                </a:solidFill>
                <a:latin typeface="Yu Gothic" pitchFamily="34" charset="0"/>
                <a:ea typeface="Yu Gothic" pitchFamily="34" charset="-122"/>
                <a:cs typeface="Yu Gothic" pitchFamily="34" charset="-120"/>
              </a:rPr>
              <a:t>Claude が「プログラムを書く作業」をしてくれる機能。今日は Web版（claude.ai/code）を使う</a:t>
            </a:r>
            <a:endParaRPr lang="en-US" sz="1200" dirty="0"/>
          </a:p>
        </p:txBody>
      </p:sp>
      <p:sp>
        <p:nvSpPr>
          <p:cNvPr id="14" name="Shape 12"/>
          <p:cNvSpPr/>
          <p:nvPr/>
        </p:nvSpPr>
        <p:spPr>
          <a:xfrm>
            <a:off x="548640" y="2788920"/>
            <a:ext cx="5408676" cy="1005840"/>
          </a:xfrm>
          <a:prstGeom prst="roundRect">
            <a:avLst>
              <a:gd name="adj" fmla="val 5455"/>
            </a:avLst>
          </a:prstGeom>
          <a:solidFill>
            <a:srgbClr val="FBF9F4"/>
          </a:solidFill>
          <a:ln w="9525">
            <a:solidFill>
              <a:srgbClr val="E4DFD4"/>
            </a:solidFill>
            <a:prstDash val="solid"/>
          </a:ln>
        </p:spPr>
      </p:sp>
      <p:sp>
        <p:nvSpPr>
          <p:cNvPr id="15" name="Text 13"/>
          <p:cNvSpPr/>
          <p:nvPr/>
        </p:nvSpPr>
        <p:spPr>
          <a:xfrm>
            <a:off x="749808" y="2898648"/>
            <a:ext cx="5006340" cy="329184"/>
          </a:xfrm>
          <a:prstGeom prst="rect">
            <a:avLst/>
          </a:prstGeom>
          <a:noFill/>
          <a:ln/>
        </p:spPr>
        <p:txBody>
          <a:bodyPr wrap="square" lIns="0" tIns="0" rIns="0" bIns="0" rtlCol="0" anchor="t"/>
          <a:lstStyle/>
          <a:p>
            <a:pPr indent="0" marL="0">
              <a:buNone/>
            </a:pPr>
            <a:r>
              <a:rPr lang="en-US" sz="1500" b="1" dirty="0">
                <a:solidFill>
                  <a:srgbClr val="3C5A4F"/>
                </a:solidFill>
                <a:latin typeface="Yu Gothic" pitchFamily="34" charset="0"/>
                <a:ea typeface="Yu Gothic" pitchFamily="34" charset="-122"/>
                <a:cs typeface="Yu Gothic" pitchFamily="34" charset="-120"/>
              </a:rPr>
              <a:t>GitHub（ギットハブ）</a:t>
            </a:r>
            <a:endParaRPr lang="en-US" sz="1500" dirty="0"/>
          </a:p>
        </p:txBody>
      </p:sp>
      <p:sp>
        <p:nvSpPr>
          <p:cNvPr id="16" name="Text 14"/>
          <p:cNvSpPr/>
          <p:nvPr/>
        </p:nvSpPr>
        <p:spPr>
          <a:xfrm>
            <a:off x="749808" y="3246120"/>
            <a:ext cx="5006340" cy="475488"/>
          </a:xfrm>
          <a:prstGeom prst="rect">
            <a:avLst/>
          </a:prstGeom>
          <a:noFill/>
          <a:ln/>
        </p:spPr>
        <p:txBody>
          <a:bodyPr wrap="square" lIns="0" tIns="0" rIns="0" bIns="0" rtlCol="0" anchor="t"/>
          <a:lstStyle/>
          <a:p>
            <a:pPr indent="0" marL="0">
              <a:buNone/>
            </a:pPr>
            <a:r>
              <a:rPr lang="en-US" sz="1200" dirty="0">
                <a:solidFill>
                  <a:srgbClr val="3E3E3B"/>
                </a:solidFill>
                <a:latin typeface="Yu Gothic" pitchFamily="34" charset="0"/>
                <a:ea typeface="Yu Gothic" pitchFamily="34" charset="-122"/>
                <a:cs typeface="Yu Gothic" pitchFamily="34" charset="-120"/>
              </a:rPr>
              <a:t>プログラムを保管する場所。いわば「設計図の保管庫」</a:t>
            </a:r>
            <a:endParaRPr lang="en-US" sz="1200" dirty="0"/>
          </a:p>
        </p:txBody>
      </p:sp>
      <p:sp>
        <p:nvSpPr>
          <p:cNvPr id="17" name="Shape 15"/>
          <p:cNvSpPr/>
          <p:nvPr/>
        </p:nvSpPr>
        <p:spPr>
          <a:xfrm>
            <a:off x="6231636" y="2788920"/>
            <a:ext cx="5408676" cy="1005840"/>
          </a:xfrm>
          <a:prstGeom prst="roundRect">
            <a:avLst>
              <a:gd name="adj" fmla="val 5455"/>
            </a:avLst>
          </a:prstGeom>
          <a:solidFill>
            <a:srgbClr val="FBF9F4"/>
          </a:solidFill>
          <a:ln w="9525">
            <a:solidFill>
              <a:srgbClr val="E4DFD4"/>
            </a:solidFill>
            <a:prstDash val="solid"/>
          </a:ln>
        </p:spPr>
      </p:sp>
      <p:sp>
        <p:nvSpPr>
          <p:cNvPr id="18" name="Text 16"/>
          <p:cNvSpPr/>
          <p:nvPr/>
        </p:nvSpPr>
        <p:spPr>
          <a:xfrm>
            <a:off x="6432804" y="2898648"/>
            <a:ext cx="5006340" cy="329184"/>
          </a:xfrm>
          <a:prstGeom prst="rect">
            <a:avLst/>
          </a:prstGeom>
          <a:noFill/>
          <a:ln/>
        </p:spPr>
        <p:txBody>
          <a:bodyPr wrap="square" lIns="0" tIns="0" rIns="0" bIns="0" rtlCol="0" anchor="t"/>
          <a:lstStyle/>
          <a:p>
            <a:pPr indent="0" marL="0">
              <a:buNone/>
            </a:pPr>
            <a:r>
              <a:rPr lang="en-US" sz="1500" b="1" dirty="0">
                <a:solidFill>
                  <a:srgbClr val="3C5A4F"/>
                </a:solidFill>
                <a:latin typeface="Yu Gothic" pitchFamily="34" charset="0"/>
                <a:ea typeface="Yu Gothic" pitchFamily="34" charset="-122"/>
                <a:cs typeface="Yu Gothic" pitchFamily="34" charset="-120"/>
              </a:rPr>
              <a:t>リポジトリ</a:t>
            </a:r>
            <a:endParaRPr lang="en-US" sz="1500" dirty="0"/>
          </a:p>
        </p:txBody>
      </p:sp>
      <p:sp>
        <p:nvSpPr>
          <p:cNvPr id="19" name="Text 17"/>
          <p:cNvSpPr/>
          <p:nvPr/>
        </p:nvSpPr>
        <p:spPr>
          <a:xfrm>
            <a:off x="6432804" y="3246120"/>
            <a:ext cx="5006340" cy="475488"/>
          </a:xfrm>
          <a:prstGeom prst="rect">
            <a:avLst/>
          </a:prstGeom>
          <a:noFill/>
          <a:ln/>
        </p:spPr>
        <p:txBody>
          <a:bodyPr wrap="square" lIns="0" tIns="0" rIns="0" bIns="0" rtlCol="0" anchor="t"/>
          <a:lstStyle/>
          <a:p>
            <a:pPr indent="0" marL="0">
              <a:buNone/>
            </a:pPr>
            <a:r>
              <a:rPr lang="en-US" sz="1200" dirty="0">
                <a:solidFill>
                  <a:srgbClr val="3E3E3B"/>
                </a:solidFill>
                <a:latin typeface="Yu Gothic" pitchFamily="34" charset="0"/>
                <a:ea typeface="Yu Gothic" pitchFamily="34" charset="-122"/>
                <a:cs typeface="Yu Gothic" pitchFamily="34" charset="-120"/>
              </a:rPr>
              <a:t>GitHub の中の1つのプロジェクト用フォルダ。今日は「teisha-tool」を作る</a:t>
            </a:r>
            <a:endParaRPr lang="en-US" sz="1200" dirty="0"/>
          </a:p>
        </p:txBody>
      </p:sp>
      <p:sp>
        <p:nvSpPr>
          <p:cNvPr id="20" name="Shape 18"/>
          <p:cNvSpPr/>
          <p:nvPr/>
        </p:nvSpPr>
        <p:spPr>
          <a:xfrm>
            <a:off x="548640" y="3931920"/>
            <a:ext cx="5408676" cy="1005840"/>
          </a:xfrm>
          <a:prstGeom prst="roundRect">
            <a:avLst>
              <a:gd name="adj" fmla="val 5455"/>
            </a:avLst>
          </a:prstGeom>
          <a:solidFill>
            <a:srgbClr val="FBF9F4"/>
          </a:solidFill>
          <a:ln w="9525">
            <a:solidFill>
              <a:srgbClr val="E4DFD4"/>
            </a:solidFill>
            <a:prstDash val="solid"/>
          </a:ln>
        </p:spPr>
      </p:sp>
      <p:sp>
        <p:nvSpPr>
          <p:cNvPr id="21" name="Text 19"/>
          <p:cNvSpPr/>
          <p:nvPr/>
        </p:nvSpPr>
        <p:spPr>
          <a:xfrm>
            <a:off x="749808" y="4041648"/>
            <a:ext cx="5006340" cy="329184"/>
          </a:xfrm>
          <a:prstGeom prst="rect">
            <a:avLst/>
          </a:prstGeom>
          <a:noFill/>
          <a:ln/>
        </p:spPr>
        <p:txBody>
          <a:bodyPr wrap="square" lIns="0" tIns="0" rIns="0" bIns="0" rtlCol="0" anchor="t"/>
          <a:lstStyle/>
          <a:p>
            <a:pPr indent="0" marL="0">
              <a:buNone/>
            </a:pPr>
            <a:r>
              <a:rPr lang="en-US" sz="1500" b="1" dirty="0">
                <a:solidFill>
                  <a:srgbClr val="3C5A4F"/>
                </a:solidFill>
                <a:latin typeface="Yu Gothic" pitchFamily="34" charset="0"/>
                <a:ea typeface="Yu Gothic" pitchFamily="34" charset="-122"/>
                <a:cs typeface="Yu Gothic" pitchFamily="34" charset="-120"/>
              </a:rPr>
              <a:t>プロンプト</a:t>
            </a:r>
            <a:endParaRPr lang="en-US" sz="1500" dirty="0"/>
          </a:p>
        </p:txBody>
      </p:sp>
      <p:sp>
        <p:nvSpPr>
          <p:cNvPr id="22" name="Text 20"/>
          <p:cNvSpPr/>
          <p:nvPr/>
        </p:nvSpPr>
        <p:spPr>
          <a:xfrm>
            <a:off x="749808" y="4389120"/>
            <a:ext cx="5006340" cy="475488"/>
          </a:xfrm>
          <a:prstGeom prst="rect">
            <a:avLst/>
          </a:prstGeom>
          <a:noFill/>
          <a:ln/>
        </p:spPr>
        <p:txBody>
          <a:bodyPr wrap="square" lIns="0" tIns="0" rIns="0" bIns="0" rtlCol="0" anchor="t"/>
          <a:lstStyle/>
          <a:p>
            <a:pPr indent="0" marL="0">
              <a:buNone/>
            </a:pPr>
            <a:r>
              <a:rPr lang="en-US" sz="1200" dirty="0">
                <a:solidFill>
                  <a:srgbClr val="3E3E3B"/>
                </a:solidFill>
                <a:latin typeface="Yu Gothic" pitchFamily="34" charset="0"/>
                <a:ea typeface="Yu Gothic" pitchFamily="34" charset="-122"/>
                <a:cs typeface="Yu Gothic" pitchFamily="34" charset="-120"/>
              </a:rPr>
              <a:t>AIへの「お願い文」。このスライドのものをコピーして貼るだけでOK</a:t>
            </a:r>
            <a:endParaRPr lang="en-US" sz="1200" dirty="0"/>
          </a:p>
        </p:txBody>
      </p:sp>
      <p:sp>
        <p:nvSpPr>
          <p:cNvPr id="23" name="Shape 21"/>
          <p:cNvSpPr/>
          <p:nvPr/>
        </p:nvSpPr>
        <p:spPr>
          <a:xfrm>
            <a:off x="6231636" y="3931920"/>
            <a:ext cx="5408676" cy="1005840"/>
          </a:xfrm>
          <a:prstGeom prst="roundRect">
            <a:avLst>
              <a:gd name="adj" fmla="val 5455"/>
            </a:avLst>
          </a:prstGeom>
          <a:solidFill>
            <a:srgbClr val="FBF9F4"/>
          </a:solidFill>
          <a:ln w="9525">
            <a:solidFill>
              <a:srgbClr val="E4DFD4"/>
            </a:solidFill>
            <a:prstDash val="solid"/>
          </a:ln>
        </p:spPr>
      </p:sp>
      <p:sp>
        <p:nvSpPr>
          <p:cNvPr id="24" name="Text 22"/>
          <p:cNvSpPr/>
          <p:nvPr/>
        </p:nvSpPr>
        <p:spPr>
          <a:xfrm>
            <a:off x="6432804" y="4041648"/>
            <a:ext cx="5006340" cy="329184"/>
          </a:xfrm>
          <a:prstGeom prst="rect">
            <a:avLst/>
          </a:prstGeom>
          <a:noFill/>
          <a:ln/>
        </p:spPr>
        <p:txBody>
          <a:bodyPr wrap="square" lIns="0" tIns="0" rIns="0" bIns="0" rtlCol="0" anchor="t"/>
          <a:lstStyle/>
          <a:p>
            <a:pPr indent="0" marL="0">
              <a:buNone/>
            </a:pPr>
            <a:r>
              <a:rPr lang="en-US" sz="1500" b="1" dirty="0">
                <a:solidFill>
                  <a:srgbClr val="3C5A4F"/>
                </a:solidFill>
                <a:latin typeface="Yu Gothic" pitchFamily="34" charset="0"/>
                <a:ea typeface="Yu Gothic" pitchFamily="34" charset="-122"/>
                <a:cs typeface="Yu Gothic" pitchFamily="34" charset="-120"/>
              </a:rPr>
              <a:t>プルリクエスト（PR）</a:t>
            </a:r>
            <a:endParaRPr lang="en-US" sz="1500" dirty="0"/>
          </a:p>
        </p:txBody>
      </p:sp>
      <p:sp>
        <p:nvSpPr>
          <p:cNvPr id="25" name="Text 23"/>
          <p:cNvSpPr/>
          <p:nvPr/>
        </p:nvSpPr>
        <p:spPr>
          <a:xfrm>
            <a:off x="6432804" y="4389120"/>
            <a:ext cx="5006340" cy="475488"/>
          </a:xfrm>
          <a:prstGeom prst="rect">
            <a:avLst/>
          </a:prstGeom>
          <a:noFill/>
          <a:ln/>
        </p:spPr>
        <p:txBody>
          <a:bodyPr wrap="square" lIns="0" tIns="0" rIns="0" bIns="0" rtlCol="0" anchor="t"/>
          <a:lstStyle/>
          <a:p>
            <a:pPr indent="0" marL="0">
              <a:buNone/>
            </a:pPr>
            <a:r>
              <a:rPr lang="en-US" sz="1200" dirty="0">
                <a:solidFill>
                  <a:srgbClr val="3E3E3B"/>
                </a:solidFill>
                <a:latin typeface="Yu Gothic" pitchFamily="34" charset="0"/>
                <a:ea typeface="Yu Gothic" pitchFamily="34" charset="-122"/>
                <a:cs typeface="Yu Gothic" pitchFamily="34" charset="-120"/>
              </a:rPr>
              <a:t>「この変更を取り込んでいいですか？」という確認依頼</a:t>
            </a:r>
            <a:endParaRPr lang="en-US" sz="1200" dirty="0"/>
          </a:p>
        </p:txBody>
      </p:sp>
      <p:sp>
        <p:nvSpPr>
          <p:cNvPr id="26" name="Shape 24"/>
          <p:cNvSpPr/>
          <p:nvPr/>
        </p:nvSpPr>
        <p:spPr>
          <a:xfrm>
            <a:off x="548640" y="5074920"/>
            <a:ext cx="5408676" cy="1005840"/>
          </a:xfrm>
          <a:prstGeom prst="roundRect">
            <a:avLst>
              <a:gd name="adj" fmla="val 5455"/>
            </a:avLst>
          </a:prstGeom>
          <a:solidFill>
            <a:srgbClr val="FBF9F4"/>
          </a:solidFill>
          <a:ln w="9525">
            <a:solidFill>
              <a:srgbClr val="E4DFD4"/>
            </a:solidFill>
            <a:prstDash val="solid"/>
          </a:ln>
        </p:spPr>
      </p:sp>
      <p:sp>
        <p:nvSpPr>
          <p:cNvPr id="27" name="Text 25"/>
          <p:cNvSpPr/>
          <p:nvPr/>
        </p:nvSpPr>
        <p:spPr>
          <a:xfrm>
            <a:off x="749808" y="5184648"/>
            <a:ext cx="5006340" cy="329184"/>
          </a:xfrm>
          <a:prstGeom prst="rect">
            <a:avLst/>
          </a:prstGeom>
          <a:noFill/>
          <a:ln/>
        </p:spPr>
        <p:txBody>
          <a:bodyPr wrap="square" lIns="0" tIns="0" rIns="0" bIns="0" rtlCol="0" anchor="t"/>
          <a:lstStyle/>
          <a:p>
            <a:pPr indent="0" marL="0">
              <a:buNone/>
            </a:pPr>
            <a:r>
              <a:rPr lang="en-US" sz="1500" b="1" dirty="0">
                <a:solidFill>
                  <a:srgbClr val="3C5A4F"/>
                </a:solidFill>
                <a:latin typeface="Yu Gothic" pitchFamily="34" charset="0"/>
                <a:ea typeface="Yu Gothic" pitchFamily="34" charset="-122"/>
                <a:cs typeface="Yu Gothic" pitchFamily="34" charset="-120"/>
              </a:rPr>
              <a:t>マージ</a:t>
            </a:r>
            <a:endParaRPr lang="en-US" sz="1500" dirty="0"/>
          </a:p>
        </p:txBody>
      </p:sp>
      <p:sp>
        <p:nvSpPr>
          <p:cNvPr id="28" name="Text 26"/>
          <p:cNvSpPr/>
          <p:nvPr/>
        </p:nvSpPr>
        <p:spPr>
          <a:xfrm>
            <a:off x="749808" y="5532120"/>
            <a:ext cx="5006340" cy="475488"/>
          </a:xfrm>
          <a:prstGeom prst="rect">
            <a:avLst/>
          </a:prstGeom>
          <a:noFill/>
          <a:ln/>
        </p:spPr>
        <p:txBody>
          <a:bodyPr wrap="square" lIns="0" tIns="0" rIns="0" bIns="0" rtlCol="0" anchor="t"/>
          <a:lstStyle/>
          <a:p>
            <a:pPr indent="0" marL="0">
              <a:buNone/>
            </a:pPr>
            <a:r>
              <a:rPr lang="en-US" sz="1200" dirty="0">
                <a:solidFill>
                  <a:srgbClr val="3E3E3B"/>
                </a:solidFill>
                <a:latin typeface="Yu Gothic" pitchFamily="34" charset="0"/>
                <a:ea typeface="Yu Gothic" pitchFamily="34" charset="-122"/>
                <a:cs typeface="Yu Gothic" pitchFamily="34" charset="-120"/>
              </a:rPr>
              <a:t>確認した変更を、正式に保管庫へ取り込むこと</a:t>
            </a:r>
            <a:endParaRPr lang="en-US" sz="1200" dirty="0"/>
          </a:p>
        </p:txBody>
      </p:sp>
      <p:sp>
        <p:nvSpPr>
          <p:cNvPr id="29" name="Shape 27"/>
          <p:cNvSpPr/>
          <p:nvPr/>
        </p:nvSpPr>
        <p:spPr>
          <a:xfrm>
            <a:off x="6231636" y="5074920"/>
            <a:ext cx="5408676" cy="1005840"/>
          </a:xfrm>
          <a:prstGeom prst="roundRect">
            <a:avLst>
              <a:gd name="adj" fmla="val 5455"/>
            </a:avLst>
          </a:prstGeom>
          <a:solidFill>
            <a:srgbClr val="FBF9F4"/>
          </a:solidFill>
          <a:ln w="9525">
            <a:solidFill>
              <a:srgbClr val="E4DFD4"/>
            </a:solidFill>
            <a:prstDash val="solid"/>
          </a:ln>
        </p:spPr>
      </p:sp>
      <p:sp>
        <p:nvSpPr>
          <p:cNvPr id="30" name="Text 28"/>
          <p:cNvSpPr/>
          <p:nvPr/>
        </p:nvSpPr>
        <p:spPr>
          <a:xfrm>
            <a:off x="6432804" y="5184648"/>
            <a:ext cx="5006340" cy="329184"/>
          </a:xfrm>
          <a:prstGeom prst="rect">
            <a:avLst/>
          </a:prstGeom>
          <a:noFill/>
          <a:ln/>
        </p:spPr>
        <p:txBody>
          <a:bodyPr wrap="square" lIns="0" tIns="0" rIns="0" bIns="0" rtlCol="0" anchor="t"/>
          <a:lstStyle/>
          <a:p>
            <a:pPr indent="0" marL="0">
              <a:buNone/>
            </a:pPr>
            <a:r>
              <a:rPr lang="en-US" sz="1500" b="1" dirty="0">
                <a:solidFill>
                  <a:srgbClr val="3C5A4F"/>
                </a:solidFill>
                <a:latin typeface="Yu Gothic" pitchFamily="34" charset="0"/>
                <a:ea typeface="Yu Gothic" pitchFamily="34" charset="-122"/>
                <a:cs typeface="Yu Gothic" pitchFamily="34" charset="-120"/>
              </a:rPr>
              <a:t>CSV</a:t>
            </a:r>
            <a:endParaRPr lang="en-US" sz="1500" dirty="0"/>
          </a:p>
        </p:txBody>
      </p:sp>
      <p:sp>
        <p:nvSpPr>
          <p:cNvPr id="31" name="Text 29"/>
          <p:cNvSpPr/>
          <p:nvPr/>
        </p:nvSpPr>
        <p:spPr>
          <a:xfrm>
            <a:off x="6432804" y="5532120"/>
            <a:ext cx="5006340" cy="475488"/>
          </a:xfrm>
          <a:prstGeom prst="rect">
            <a:avLst/>
          </a:prstGeom>
          <a:noFill/>
          <a:ln/>
        </p:spPr>
        <p:txBody>
          <a:bodyPr wrap="square" lIns="0" tIns="0" rIns="0" bIns="0" rtlCol="0" anchor="t"/>
          <a:lstStyle/>
          <a:p>
            <a:pPr indent="0" marL="0">
              <a:buNone/>
            </a:pPr>
            <a:r>
              <a:rPr lang="en-US" sz="1200" dirty="0">
                <a:solidFill>
                  <a:srgbClr val="3E3E3B"/>
                </a:solidFill>
                <a:latin typeface="Yu Gothic" pitchFamily="34" charset="0"/>
                <a:ea typeface="Yu Gothic" pitchFamily="34" charset="-122"/>
                <a:cs typeface="Yu Gothic" pitchFamily="34" charset="-120"/>
              </a:rPr>
              <a:t>カンマ区切りの表データ。Excel から「CSV で保存」で作れる</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はじめに</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全体像：だれが・どこで・何をするか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自社データは、最後まで自分のPCの中から出しません</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5</a:t>
            </a:r>
            <a:endParaRPr lang="en-US" sz="900" dirty="0"/>
          </a:p>
        </p:txBody>
      </p:sp>
      <p:sp>
        <p:nvSpPr>
          <p:cNvPr id="8" name="Shape 6"/>
          <p:cNvSpPr/>
          <p:nvPr/>
        </p:nvSpPr>
        <p:spPr>
          <a:xfrm>
            <a:off x="640080" y="1828800"/>
            <a:ext cx="2331720" cy="1828800"/>
          </a:xfrm>
          <a:prstGeom prst="roundRect">
            <a:avLst>
              <a:gd name="adj" fmla="val 5000"/>
            </a:avLst>
          </a:prstGeom>
          <a:solidFill>
            <a:srgbClr val="FFFFFF"/>
          </a:solidFill>
          <a:ln w="25400">
            <a:solidFill>
              <a:srgbClr val="B08D47"/>
            </a:solidFill>
            <a:prstDash val="solid"/>
          </a:ln>
        </p:spPr>
      </p:sp>
      <p:sp>
        <p:nvSpPr>
          <p:cNvPr id="9" name="Shape 7"/>
          <p:cNvSpPr/>
          <p:nvPr/>
        </p:nvSpPr>
        <p:spPr>
          <a:xfrm>
            <a:off x="640080" y="1828800"/>
            <a:ext cx="2331720" cy="548640"/>
          </a:xfrm>
          <a:prstGeom prst="roundRect">
            <a:avLst>
              <a:gd name="adj" fmla="val 16667"/>
            </a:avLst>
          </a:prstGeom>
          <a:solidFill>
            <a:srgbClr val="B08D47"/>
          </a:solidFill>
          <a:ln/>
        </p:spPr>
      </p:sp>
      <p:sp>
        <p:nvSpPr>
          <p:cNvPr id="10" name="Text 8"/>
          <p:cNvSpPr/>
          <p:nvPr/>
        </p:nvSpPr>
        <p:spPr>
          <a:xfrm>
            <a:off x="640080" y="1828800"/>
            <a:ext cx="23317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あなた</a:t>
            </a:r>
            <a:endParaRPr lang="en-US" sz="1600" dirty="0"/>
          </a:p>
        </p:txBody>
      </p:sp>
      <p:sp>
        <p:nvSpPr>
          <p:cNvPr id="11" name="Text 9"/>
          <p:cNvSpPr/>
          <p:nvPr/>
        </p:nvSpPr>
        <p:spPr>
          <a:xfrm>
            <a:off x="777240" y="2514600"/>
            <a:ext cx="2057400" cy="1005840"/>
          </a:xfrm>
          <a:prstGeom prst="rect">
            <a:avLst/>
          </a:prstGeom>
          <a:noFill/>
          <a:ln/>
        </p:spPr>
        <p:txBody>
          <a:bodyPr wrap="square" lIns="0" tIns="0" rIns="0" bIns="0" rtlCol="0" anchor="ctr"/>
          <a:lstStyle/>
          <a:p>
            <a:pPr algn="ctr" indent="0" marL="0">
              <a:lnSpc>
                <a:spcPct val="120000"/>
              </a:lnSpc>
              <a:buNone/>
            </a:pPr>
            <a:r>
              <a:rPr lang="en-US" sz="1300" dirty="0">
                <a:solidFill>
                  <a:srgbClr val="1F2A28"/>
                </a:solidFill>
                <a:latin typeface="Yu Gothic" pitchFamily="34" charset="0"/>
                <a:ea typeface="Yu Gothic" pitchFamily="34" charset="-122"/>
                <a:cs typeface="Yu Gothic" pitchFamily="34" charset="-120"/>
              </a:rPr>
              <a:t>ブラウザで</a:t>
            </a:r>
            <a:endParaRPr lang="en-US" sz="1300" dirty="0"/>
          </a:p>
          <a:p>
            <a:pPr algn="ctr" indent="0" marL="0">
              <a:lnSpc>
                <a:spcPct val="120000"/>
              </a:lnSpc>
              <a:buNone/>
            </a:pPr>
            <a:r>
              <a:rPr lang="en-US" sz="1300" dirty="0">
                <a:solidFill>
                  <a:srgbClr val="1F2A28"/>
                </a:solidFill>
                <a:latin typeface="Yu Gothic" pitchFamily="34" charset="0"/>
                <a:ea typeface="Yu Gothic" pitchFamily="34" charset="-122"/>
                <a:cs typeface="Yu Gothic" pitchFamily="34" charset="-120"/>
              </a:rPr>
              <a:t>プロンプトを貼る</a:t>
            </a:r>
            <a:endParaRPr lang="en-US" sz="1300" dirty="0"/>
          </a:p>
        </p:txBody>
      </p:sp>
      <p:sp>
        <p:nvSpPr>
          <p:cNvPr id="12" name="Text 10"/>
          <p:cNvSpPr/>
          <p:nvPr/>
        </p:nvSpPr>
        <p:spPr>
          <a:xfrm>
            <a:off x="3017520" y="2514600"/>
            <a:ext cx="411480" cy="457200"/>
          </a:xfrm>
          <a:prstGeom prst="rect">
            <a:avLst/>
          </a:prstGeom>
          <a:noFill/>
          <a:ln/>
        </p:spPr>
        <p:txBody>
          <a:bodyPr wrap="square" lIns="0" tIns="0" rIns="0" bIns="0" rtlCol="0" anchor="ctr"/>
          <a:lstStyle/>
          <a:p>
            <a:pPr algn="ctr" indent="0" marL="0">
              <a:buNone/>
            </a:pPr>
            <a:r>
              <a:rPr lang="en-US" sz="2000" dirty="0">
                <a:solidFill>
                  <a:srgbClr val="7A756B"/>
                </a:solidFill>
                <a:latin typeface="Yu Gothic" pitchFamily="34" charset="0"/>
                <a:ea typeface="Yu Gothic" pitchFamily="34" charset="-122"/>
                <a:cs typeface="Yu Gothic" pitchFamily="34" charset="-120"/>
              </a:rPr>
              <a:t>▶</a:t>
            </a:r>
            <a:endParaRPr lang="en-US" sz="2000" dirty="0"/>
          </a:p>
        </p:txBody>
      </p:sp>
      <p:sp>
        <p:nvSpPr>
          <p:cNvPr id="13" name="Shape 11"/>
          <p:cNvSpPr/>
          <p:nvPr/>
        </p:nvSpPr>
        <p:spPr>
          <a:xfrm>
            <a:off x="3474720" y="1828800"/>
            <a:ext cx="2331720" cy="1828800"/>
          </a:xfrm>
          <a:prstGeom prst="roundRect">
            <a:avLst>
              <a:gd name="adj" fmla="val 5000"/>
            </a:avLst>
          </a:prstGeom>
          <a:solidFill>
            <a:srgbClr val="FFFFFF"/>
          </a:solidFill>
          <a:ln w="25400">
            <a:solidFill>
              <a:srgbClr val="3C5A4F"/>
            </a:solidFill>
            <a:prstDash val="solid"/>
          </a:ln>
        </p:spPr>
      </p:sp>
      <p:sp>
        <p:nvSpPr>
          <p:cNvPr id="14" name="Shape 12"/>
          <p:cNvSpPr/>
          <p:nvPr/>
        </p:nvSpPr>
        <p:spPr>
          <a:xfrm>
            <a:off x="3474720" y="1828800"/>
            <a:ext cx="2331720" cy="548640"/>
          </a:xfrm>
          <a:prstGeom prst="roundRect">
            <a:avLst>
              <a:gd name="adj" fmla="val 16667"/>
            </a:avLst>
          </a:prstGeom>
          <a:solidFill>
            <a:srgbClr val="3C5A4F"/>
          </a:solidFill>
          <a:ln/>
        </p:spPr>
      </p:sp>
      <p:sp>
        <p:nvSpPr>
          <p:cNvPr id="15" name="Text 13"/>
          <p:cNvSpPr/>
          <p:nvPr/>
        </p:nvSpPr>
        <p:spPr>
          <a:xfrm>
            <a:off x="3474720" y="1828800"/>
            <a:ext cx="23317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Claude Code</a:t>
            </a:r>
            <a:endParaRPr lang="en-US" sz="1600" dirty="0"/>
          </a:p>
        </p:txBody>
      </p:sp>
      <p:sp>
        <p:nvSpPr>
          <p:cNvPr id="16" name="Text 14"/>
          <p:cNvSpPr/>
          <p:nvPr/>
        </p:nvSpPr>
        <p:spPr>
          <a:xfrm>
            <a:off x="3611880" y="2514600"/>
            <a:ext cx="2057400" cy="1005840"/>
          </a:xfrm>
          <a:prstGeom prst="rect">
            <a:avLst/>
          </a:prstGeom>
          <a:noFill/>
          <a:ln/>
        </p:spPr>
        <p:txBody>
          <a:bodyPr wrap="square" lIns="0" tIns="0" rIns="0" bIns="0" rtlCol="0" anchor="ctr"/>
          <a:lstStyle/>
          <a:p>
            <a:pPr algn="ctr" indent="0" marL="0">
              <a:lnSpc>
                <a:spcPct val="120000"/>
              </a:lnSpc>
              <a:buNone/>
            </a:pPr>
            <a:r>
              <a:rPr lang="en-US" sz="1300" dirty="0">
                <a:solidFill>
                  <a:srgbClr val="1F2A28"/>
                </a:solidFill>
                <a:latin typeface="Yu Gothic" pitchFamily="34" charset="0"/>
                <a:ea typeface="Yu Gothic" pitchFamily="34" charset="-122"/>
                <a:cs typeface="Yu Gothic" pitchFamily="34" charset="-120"/>
              </a:rPr>
              <a:t>AIがプログラムを</a:t>
            </a:r>
            <a:endParaRPr lang="en-US" sz="1300" dirty="0"/>
          </a:p>
          <a:p>
            <a:pPr algn="ctr" indent="0" marL="0">
              <a:lnSpc>
                <a:spcPct val="120000"/>
              </a:lnSpc>
              <a:buNone/>
            </a:pPr>
            <a:r>
              <a:rPr lang="en-US" sz="1300" dirty="0">
                <a:solidFill>
                  <a:srgbClr val="1F2A28"/>
                </a:solidFill>
                <a:latin typeface="Yu Gothic" pitchFamily="34" charset="0"/>
                <a:ea typeface="Yu Gothic" pitchFamily="34" charset="-122"/>
                <a:cs typeface="Yu Gothic" pitchFamily="34" charset="-120"/>
              </a:rPr>
              <a:t>書いて保存する</a:t>
            </a:r>
            <a:endParaRPr lang="en-US" sz="1300" dirty="0"/>
          </a:p>
        </p:txBody>
      </p:sp>
      <p:sp>
        <p:nvSpPr>
          <p:cNvPr id="17" name="Text 15"/>
          <p:cNvSpPr/>
          <p:nvPr/>
        </p:nvSpPr>
        <p:spPr>
          <a:xfrm>
            <a:off x="5852160" y="2514600"/>
            <a:ext cx="411480" cy="457200"/>
          </a:xfrm>
          <a:prstGeom prst="rect">
            <a:avLst/>
          </a:prstGeom>
          <a:noFill/>
          <a:ln/>
        </p:spPr>
        <p:txBody>
          <a:bodyPr wrap="square" lIns="0" tIns="0" rIns="0" bIns="0" rtlCol="0" anchor="ctr"/>
          <a:lstStyle/>
          <a:p>
            <a:pPr algn="ctr" indent="0" marL="0">
              <a:buNone/>
            </a:pPr>
            <a:r>
              <a:rPr lang="en-US" sz="2000" dirty="0">
                <a:solidFill>
                  <a:srgbClr val="7A756B"/>
                </a:solidFill>
                <a:latin typeface="Yu Gothic" pitchFamily="34" charset="0"/>
                <a:ea typeface="Yu Gothic" pitchFamily="34" charset="-122"/>
                <a:cs typeface="Yu Gothic" pitchFamily="34" charset="-120"/>
              </a:rPr>
              <a:t>▶</a:t>
            </a:r>
            <a:endParaRPr lang="en-US" sz="2000" dirty="0"/>
          </a:p>
        </p:txBody>
      </p:sp>
      <p:sp>
        <p:nvSpPr>
          <p:cNvPr id="18" name="Shape 16"/>
          <p:cNvSpPr/>
          <p:nvPr/>
        </p:nvSpPr>
        <p:spPr>
          <a:xfrm>
            <a:off x="6309360" y="1828800"/>
            <a:ext cx="2331720" cy="1828800"/>
          </a:xfrm>
          <a:prstGeom prst="roundRect">
            <a:avLst>
              <a:gd name="adj" fmla="val 5000"/>
            </a:avLst>
          </a:prstGeom>
          <a:solidFill>
            <a:srgbClr val="FFFFFF"/>
          </a:solidFill>
          <a:ln w="25400">
            <a:solidFill>
              <a:srgbClr val="24292F"/>
            </a:solidFill>
            <a:prstDash val="solid"/>
          </a:ln>
        </p:spPr>
      </p:sp>
      <p:sp>
        <p:nvSpPr>
          <p:cNvPr id="19" name="Shape 17"/>
          <p:cNvSpPr/>
          <p:nvPr/>
        </p:nvSpPr>
        <p:spPr>
          <a:xfrm>
            <a:off x="6309360" y="1828800"/>
            <a:ext cx="2331720" cy="548640"/>
          </a:xfrm>
          <a:prstGeom prst="roundRect">
            <a:avLst>
              <a:gd name="adj" fmla="val 16667"/>
            </a:avLst>
          </a:prstGeom>
          <a:solidFill>
            <a:srgbClr val="24292F"/>
          </a:solidFill>
          <a:ln/>
        </p:spPr>
      </p:sp>
      <p:sp>
        <p:nvSpPr>
          <p:cNvPr id="20" name="Text 18"/>
          <p:cNvSpPr/>
          <p:nvPr/>
        </p:nvSpPr>
        <p:spPr>
          <a:xfrm>
            <a:off x="6309360" y="1828800"/>
            <a:ext cx="23317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GitHub</a:t>
            </a:r>
            <a:endParaRPr lang="en-US" sz="1600" dirty="0"/>
          </a:p>
        </p:txBody>
      </p:sp>
      <p:sp>
        <p:nvSpPr>
          <p:cNvPr id="21" name="Text 19"/>
          <p:cNvSpPr/>
          <p:nvPr/>
        </p:nvSpPr>
        <p:spPr>
          <a:xfrm>
            <a:off x="6446520" y="2514600"/>
            <a:ext cx="2057400" cy="1005840"/>
          </a:xfrm>
          <a:prstGeom prst="rect">
            <a:avLst/>
          </a:prstGeom>
          <a:noFill/>
          <a:ln/>
        </p:spPr>
        <p:txBody>
          <a:bodyPr wrap="square" lIns="0" tIns="0" rIns="0" bIns="0" rtlCol="0" anchor="ctr"/>
          <a:lstStyle/>
          <a:p>
            <a:pPr algn="ctr" indent="0" marL="0">
              <a:lnSpc>
                <a:spcPct val="120000"/>
              </a:lnSpc>
              <a:buNone/>
            </a:pPr>
            <a:r>
              <a:rPr lang="en-US" sz="1300" dirty="0">
                <a:solidFill>
                  <a:srgbClr val="1F2A28"/>
                </a:solidFill>
                <a:latin typeface="Yu Gothic" pitchFamily="34" charset="0"/>
                <a:ea typeface="Yu Gothic" pitchFamily="34" charset="-122"/>
                <a:cs typeface="Yu Gothic" pitchFamily="34" charset="-120"/>
              </a:rPr>
              <a:t>プログラムを保管</a:t>
            </a:r>
            <a:endParaRPr lang="en-US" sz="1300" dirty="0"/>
          </a:p>
          <a:p>
            <a:pPr algn="ctr" indent="0" marL="0">
              <a:lnSpc>
                <a:spcPct val="120000"/>
              </a:lnSpc>
              <a:buNone/>
            </a:pPr>
            <a:r>
              <a:rPr lang="en-US" sz="1300" dirty="0">
                <a:solidFill>
                  <a:srgbClr val="1F2A28"/>
                </a:solidFill>
                <a:latin typeface="Yu Gothic" pitchFamily="34" charset="0"/>
                <a:ea typeface="Yu Gothic" pitchFamily="34" charset="-122"/>
                <a:cs typeface="Yu Gothic" pitchFamily="34" charset="-120"/>
              </a:rPr>
              <a:t>（自社データは置かない）</a:t>
            </a:r>
            <a:endParaRPr lang="en-US" sz="1300" dirty="0"/>
          </a:p>
        </p:txBody>
      </p:sp>
      <p:sp>
        <p:nvSpPr>
          <p:cNvPr id="22" name="Text 20"/>
          <p:cNvSpPr/>
          <p:nvPr/>
        </p:nvSpPr>
        <p:spPr>
          <a:xfrm>
            <a:off x="8686800" y="2514600"/>
            <a:ext cx="411480" cy="457200"/>
          </a:xfrm>
          <a:prstGeom prst="rect">
            <a:avLst/>
          </a:prstGeom>
          <a:noFill/>
          <a:ln/>
        </p:spPr>
        <p:txBody>
          <a:bodyPr wrap="square" lIns="0" tIns="0" rIns="0" bIns="0" rtlCol="0" anchor="ctr"/>
          <a:lstStyle/>
          <a:p>
            <a:pPr algn="ctr" indent="0" marL="0">
              <a:buNone/>
            </a:pPr>
            <a:r>
              <a:rPr lang="en-US" sz="2000" dirty="0">
                <a:solidFill>
                  <a:srgbClr val="7A756B"/>
                </a:solidFill>
                <a:latin typeface="Yu Gothic" pitchFamily="34" charset="0"/>
                <a:ea typeface="Yu Gothic" pitchFamily="34" charset="-122"/>
                <a:cs typeface="Yu Gothic" pitchFamily="34" charset="-120"/>
              </a:rPr>
              <a:t>▶</a:t>
            </a:r>
            <a:endParaRPr lang="en-US" sz="2000" dirty="0"/>
          </a:p>
        </p:txBody>
      </p:sp>
      <p:sp>
        <p:nvSpPr>
          <p:cNvPr id="23" name="Shape 21"/>
          <p:cNvSpPr/>
          <p:nvPr/>
        </p:nvSpPr>
        <p:spPr>
          <a:xfrm>
            <a:off x="9144000" y="1828800"/>
            <a:ext cx="2331720" cy="1828800"/>
          </a:xfrm>
          <a:prstGeom prst="roundRect">
            <a:avLst>
              <a:gd name="adj" fmla="val 5000"/>
            </a:avLst>
          </a:prstGeom>
          <a:solidFill>
            <a:srgbClr val="FFFFFF"/>
          </a:solidFill>
          <a:ln w="25400">
            <a:solidFill>
              <a:srgbClr val="B08D47"/>
            </a:solidFill>
            <a:prstDash val="solid"/>
          </a:ln>
        </p:spPr>
      </p:sp>
      <p:sp>
        <p:nvSpPr>
          <p:cNvPr id="24" name="Shape 22"/>
          <p:cNvSpPr/>
          <p:nvPr/>
        </p:nvSpPr>
        <p:spPr>
          <a:xfrm>
            <a:off x="9144000" y="1828800"/>
            <a:ext cx="2331720" cy="548640"/>
          </a:xfrm>
          <a:prstGeom prst="roundRect">
            <a:avLst>
              <a:gd name="adj" fmla="val 16667"/>
            </a:avLst>
          </a:prstGeom>
          <a:solidFill>
            <a:srgbClr val="B08D47"/>
          </a:solidFill>
          <a:ln/>
        </p:spPr>
      </p:sp>
      <p:sp>
        <p:nvSpPr>
          <p:cNvPr id="25" name="Text 23"/>
          <p:cNvSpPr/>
          <p:nvPr/>
        </p:nvSpPr>
        <p:spPr>
          <a:xfrm>
            <a:off x="9144000" y="1828800"/>
            <a:ext cx="233172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あなたのPC</a:t>
            </a:r>
            <a:endParaRPr lang="en-US" sz="1600" dirty="0"/>
          </a:p>
        </p:txBody>
      </p:sp>
      <p:sp>
        <p:nvSpPr>
          <p:cNvPr id="26" name="Text 24"/>
          <p:cNvSpPr/>
          <p:nvPr/>
        </p:nvSpPr>
        <p:spPr>
          <a:xfrm>
            <a:off x="9281160" y="2514600"/>
            <a:ext cx="2057400" cy="1005840"/>
          </a:xfrm>
          <a:prstGeom prst="rect">
            <a:avLst/>
          </a:prstGeom>
          <a:noFill/>
          <a:ln/>
        </p:spPr>
        <p:txBody>
          <a:bodyPr wrap="square" lIns="0" tIns="0" rIns="0" bIns="0" rtlCol="0" anchor="ctr"/>
          <a:lstStyle/>
          <a:p>
            <a:pPr algn="ctr" indent="0" marL="0">
              <a:lnSpc>
                <a:spcPct val="120000"/>
              </a:lnSpc>
              <a:buNone/>
            </a:pPr>
            <a:r>
              <a:rPr lang="en-US" sz="1300" dirty="0">
                <a:solidFill>
                  <a:srgbClr val="1F2A28"/>
                </a:solidFill>
                <a:latin typeface="Yu Gothic" pitchFamily="34" charset="0"/>
                <a:ea typeface="Yu Gothic" pitchFamily="34" charset="-122"/>
                <a:cs typeface="Yu Gothic" pitchFamily="34" charset="-120"/>
              </a:rPr>
              <a:t>ZIPでダウンロードし</a:t>
            </a:r>
            <a:endParaRPr lang="en-US" sz="1300" dirty="0"/>
          </a:p>
          <a:p>
            <a:pPr algn="ctr" indent="0" marL="0">
              <a:lnSpc>
                <a:spcPct val="120000"/>
              </a:lnSpc>
              <a:buNone/>
            </a:pPr>
            <a:r>
              <a:rPr lang="en-US" sz="1300" dirty="0">
                <a:solidFill>
                  <a:srgbClr val="1F2A28"/>
                </a:solidFill>
                <a:latin typeface="Yu Gothic" pitchFamily="34" charset="0"/>
                <a:ea typeface="Yu Gothic" pitchFamily="34" charset="-122"/>
                <a:cs typeface="Yu Gothic" pitchFamily="34" charset="-120"/>
              </a:rPr>
              <a:t>index.html を開く</a:t>
            </a:r>
            <a:endParaRPr lang="en-US" sz="1300" dirty="0"/>
          </a:p>
        </p:txBody>
      </p:sp>
      <p:sp>
        <p:nvSpPr>
          <p:cNvPr id="27" name="Shape 25"/>
          <p:cNvSpPr/>
          <p:nvPr/>
        </p:nvSpPr>
        <p:spPr>
          <a:xfrm>
            <a:off x="640080" y="4069080"/>
            <a:ext cx="10908792" cy="1463040"/>
          </a:xfrm>
          <a:prstGeom prst="roundRect">
            <a:avLst>
              <a:gd name="adj" fmla="val 6250"/>
            </a:avLst>
          </a:prstGeom>
          <a:solidFill>
            <a:srgbClr val="EAF4EE"/>
          </a:solidFill>
          <a:ln w="19050">
            <a:solidFill>
              <a:srgbClr val="2F7D5B"/>
            </a:solidFill>
            <a:prstDash val="solid"/>
          </a:ln>
        </p:spPr>
      </p:sp>
      <p:sp>
        <p:nvSpPr>
          <p:cNvPr id="28" name="Text 26"/>
          <p:cNvSpPr/>
          <p:nvPr/>
        </p:nvSpPr>
        <p:spPr>
          <a:xfrm>
            <a:off x="914400" y="4206240"/>
            <a:ext cx="7315200" cy="365760"/>
          </a:xfrm>
          <a:prstGeom prst="rect">
            <a:avLst/>
          </a:prstGeom>
          <a:noFill/>
          <a:ln/>
        </p:spPr>
        <p:txBody>
          <a:bodyPr wrap="square" lIns="0" tIns="0" rIns="0" bIns="0" rtlCol="0" anchor="t"/>
          <a:lstStyle/>
          <a:p>
            <a:pPr indent="0" marL="0">
              <a:buNone/>
            </a:pPr>
            <a:r>
              <a:rPr lang="en-US" sz="1600" b="1" dirty="0">
                <a:solidFill>
                  <a:srgbClr val="2F7D5B"/>
                </a:solidFill>
                <a:latin typeface="Yu Gothic" pitchFamily="34" charset="0"/>
                <a:ea typeface="Yu Gothic" pitchFamily="34" charset="-122"/>
                <a:cs typeface="Yu Gothic" pitchFamily="34" charset="-120"/>
              </a:rPr>
              <a:t>🔒 自社の新築・中古データはここだけ</a:t>
            </a:r>
            <a:endParaRPr lang="en-US" sz="1600" dirty="0"/>
          </a:p>
        </p:txBody>
      </p:sp>
      <p:sp>
        <p:nvSpPr>
          <p:cNvPr id="29" name="Text 27"/>
          <p:cNvSpPr/>
          <p:nvPr/>
        </p:nvSpPr>
        <p:spPr>
          <a:xfrm>
            <a:off x="914400" y="4617720"/>
            <a:ext cx="10360152" cy="822960"/>
          </a:xfrm>
          <a:prstGeom prst="rect">
            <a:avLst/>
          </a:prstGeom>
          <a:noFill/>
          <a:ln/>
        </p:spPr>
        <p:txBody>
          <a:bodyPr wrap="square" lIns="0" tIns="0" rIns="0" bIns="0" rtlCol="0" anchor="t"/>
          <a:lstStyle/>
          <a:p>
            <a:pPr indent="0" marL="0">
              <a:lnSpc>
                <a:spcPct val="130000"/>
              </a:lnSpc>
              <a:buNone/>
            </a:pPr>
            <a:r>
              <a:rPr lang="en-US" sz="1300" dirty="0">
                <a:solidFill>
                  <a:srgbClr val="1F2A28"/>
                </a:solidFill>
                <a:latin typeface="Yu Gothic" pitchFamily="34" charset="0"/>
                <a:ea typeface="Yu Gothic" pitchFamily="34" charset="-122"/>
                <a:cs typeface="Yu Gothic" pitchFamily="34" charset="-120"/>
              </a:rPr>
              <a:t>できあがったツールを自分のPCで開き、画面の「新築データを読み込む」「中古データを読み込む」ボタンから CSV を選びます。</a:t>
            </a:r>
            <a:endParaRPr lang="en-US" sz="1300" dirty="0"/>
          </a:p>
          <a:p>
            <a:pPr indent="0" marL="0">
              <a:lnSpc>
                <a:spcPct val="130000"/>
              </a:lnSpc>
              <a:buNone/>
            </a:pPr>
            <a:r>
              <a:rPr lang="en-US" sz="1300" dirty="0">
                <a:solidFill>
                  <a:srgbClr val="1F2A28"/>
                </a:solidFill>
                <a:latin typeface="Yu Gothic" pitchFamily="34" charset="0"/>
                <a:ea typeface="Yu Gothic" pitchFamily="34" charset="-122"/>
                <a:cs typeface="Yu Gothic" pitchFamily="34" charset="-120"/>
              </a:rPr>
              <a:t>データはPCのブラウザの中だけで計算され、Claude にも GitHub にも送られません。</a:t>
            </a:r>
            <a:endParaRPr lang="en-US" sz="1300" dirty="0"/>
          </a:p>
        </p:txBody>
      </p:sp>
      <p:sp>
        <p:nvSpPr>
          <p:cNvPr id="30" name="Shape 28"/>
          <p:cNvSpPr/>
          <p:nvPr/>
        </p:nvSpPr>
        <p:spPr>
          <a:xfrm>
            <a:off x="548640" y="5715000"/>
            <a:ext cx="11091672" cy="457200"/>
          </a:xfrm>
          <a:prstGeom prst="roundRect">
            <a:avLst>
              <a:gd name="adj" fmla="val 12000"/>
            </a:avLst>
          </a:prstGeom>
          <a:solidFill>
            <a:srgbClr val="F5F2EA"/>
          </a:solidFill>
          <a:ln/>
        </p:spPr>
      </p:sp>
      <p:sp>
        <p:nvSpPr>
          <p:cNvPr id="31" name="Shape 29"/>
          <p:cNvSpPr/>
          <p:nvPr/>
        </p:nvSpPr>
        <p:spPr>
          <a:xfrm>
            <a:off x="548640" y="5715000"/>
            <a:ext cx="73152" cy="457200"/>
          </a:xfrm>
          <a:prstGeom prst="rect">
            <a:avLst/>
          </a:prstGeom>
          <a:solidFill>
            <a:srgbClr val="B08D47"/>
          </a:solidFill>
          <a:ln/>
        </p:spPr>
      </p:sp>
      <p:sp>
        <p:nvSpPr>
          <p:cNvPr id="32" name="Text 30"/>
          <p:cNvSpPr/>
          <p:nvPr/>
        </p:nvSpPr>
        <p:spPr>
          <a:xfrm>
            <a:off x="777240" y="5715000"/>
            <a:ext cx="10725912" cy="457200"/>
          </a:xfrm>
          <a:prstGeom prst="rect">
            <a:avLst/>
          </a:prstGeom>
          <a:noFill/>
          <a:ln/>
        </p:spPr>
        <p:txBody>
          <a:bodyPr wrap="square" lIns="0" tIns="0" rIns="0" bIns="0" rtlCol="0" anchor="ctr"/>
          <a:lstStyle/>
          <a:p>
            <a:pPr indent="0" marL="0">
              <a:lnSpc>
                <a:spcPct val="110000"/>
              </a:lnSpc>
              <a:buNone/>
            </a:pPr>
            <a:r>
              <a:rPr lang="en-US" sz="125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Claude に渡すのは「どんなツールにしたいか」というお願い文だけです</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はじめに</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始める前に用意するもの</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当日までにそろえておくと、スムーズに進みます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6</a:t>
            </a:r>
            <a:endParaRPr lang="en-US" sz="900" dirty="0"/>
          </a:p>
        </p:txBody>
      </p:sp>
      <p:sp>
        <p:nvSpPr>
          <p:cNvPr id="8" name="Shape 6"/>
          <p:cNvSpPr/>
          <p:nvPr/>
        </p:nvSpPr>
        <p:spPr>
          <a:xfrm>
            <a:off x="548640" y="1645920"/>
            <a:ext cx="11091672" cy="777240"/>
          </a:xfrm>
          <a:prstGeom prst="roundRect">
            <a:avLst>
              <a:gd name="adj" fmla="val 7059"/>
            </a:avLst>
          </a:prstGeom>
          <a:solidFill>
            <a:srgbClr val="FBF9F4"/>
          </a:solidFill>
          <a:ln w="9525">
            <a:solidFill>
              <a:srgbClr val="E4DFD4"/>
            </a:solidFill>
            <a:prstDash val="solid"/>
          </a:ln>
        </p:spPr>
      </p:sp>
      <p:sp>
        <p:nvSpPr>
          <p:cNvPr id="9" name="Text 7"/>
          <p:cNvSpPr/>
          <p:nvPr/>
        </p:nvSpPr>
        <p:spPr>
          <a:xfrm>
            <a:off x="731520" y="1645920"/>
            <a:ext cx="457200" cy="777240"/>
          </a:xfrm>
          <a:prstGeom prst="rect">
            <a:avLst/>
          </a:prstGeom>
          <a:noFill/>
          <a:ln/>
        </p:spPr>
        <p:txBody>
          <a:bodyPr wrap="square" lIns="0" tIns="0" rIns="0" bIns="0" rtlCol="0" anchor="ctr"/>
          <a:lstStyle/>
          <a:p>
            <a:pPr indent="0" marL="0">
              <a:buNone/>
            </a:pPr>
            <a:r>
              <a:rPr lang="en-US" sz="2200" dirty="0">
                <a:solidFill>
                  <a:srgbClr val="B08D47"/>
                </a:solidFill>
                <a:latin typeface="Yu Gothic" pitchFamily="34" charset="0"/>
                <a:ea typeface="Yu Gothic" pitchFamily="34" charset="-122"/>
                <a:cs typeface="Yu Gothic" pitchFamily="34" charset="-120"/>
              </a:rPr>
              <a:t>☐</a:t>
            </a:r>
            <a:endParaRPr lang="en-US" sz="2200" dirty="0"/>
          </a:p>
        </p:txBody>
      </p:sp>
      <p:sp>
        <p:nvSpPr>
          <p:cNvPr id="10" name="Text 8"/>
          <p:cNvSpPr/>
          <p:nvPr/>
        </p:nvSpPr>
        <p:spPr>
          <a:xfrm>
            <a:off x="1280160" y="1645920"/>
            <a:ext cx="3108960" cy="777240"/>
          </a:xfrm>
          <a:prstGeom prst="rect">
            <a:avLst/>
          </a:prstGeom>
          <a:noFill/>
          <a:ln/>
        </p:spPr>
        <p:txBody>
          <a:bodyPr wrap="square" lIns="0" tIns="0" rIns="0" bIns="0" rtlCol="0" anchor="ctr"/>
          <a:lstStyle/>
          <a:p>
            <a:pPr indent="0" marL="0">
              <a:buNone/>
            </a:pPr>
            <a:r>
              <a:rPr lang="en-US" sz="1500" b="1" dirty="0">
                <a:solidFill>
                  <a:srgbClr val="1F2A28"/>
                </a:solidFill>
                <a:latin typeface="Yu Gothic" pitchFamily="34" charset="0"/>
                <a:ea typeface="Yu Gothic" pitchFamily="34" charset="-122"/>
                <a:cs typeface="Yu Gothic" pitchFamily="34" charset="-120"/>
              </a:rPr>
              <a:t>ノートPC と Chrome</a:t>
            </a:r>
            <a:endParaRPr lang="en-US" sz="1500" dirty="0"/>
          </a:p>
        </p:txBody>
      </p:sp>
      <p:sp>
        <p:nvSpPr>
          <p:cNvPr id="11" name="Text 9"/>
          <p:cNvSpPr/>
          <p:nvPr/>
        </p:nvSpPr>
        <p:spPr>
          <a:xfrm>
            <a:off x="4389120" y="1645920"/>
            <a:ext cx="7068312" cy="777240"/>
          </a:xfrm>
          <a:prstGeom prst="rect">
            <a:avLst/>
          </a:prstGeom>
          <a:noFill/>
          <a:ln/>
        </p:spPr>
        <p:txBody>
          <a:bodyPr wrap="square" lIns="0" tIns="0" rIns="0" bIns="0" rtlCol="0" anchor="ctr"/>
          <a:lstStyle/>
          <a:p>
            <a:pPr indent="0" marL="0">
              <a:buNone/>
            </a:pPr>
            <a:r>
              <a:rPr lang="en-US" sz="1250" dirty="0">
                <a:solidFill>
                  <a:srgbClr val="3E3E3B"/>
                </a:solidFill>
                <a:latin typeface="Yu Gothic" pitchFamily="34" charset="0"/>
                <a:ea typeface="Yu Gothic" pitchFamily="34" charset="-122"/>
                <a:cs typeface="Yu Gothic" pitchFamily="34" charset="-120"/>
              </a:rPr>
              <a:t>Windows / Mac どちらでもOK。ブラウザは Google Chrome を推奨</a:t>
            </a:r>
            <a:endParaRPr lang="en-US" sz="1250" dirty="0"/>
          </a:p>
        </p:txBody>
      </p:sp>
      <p:sp>
        <p:nvSpPr>
          <p:cNvPr id="12" name="Shape 10"/>
          <p:cNvSpPr/>
          <p:nvPr/>
        </p:nvSpPr>
        <p:spPr>
          <a:xfrm>
            <a:off x="548640" y="2532888"/>
            <a:ext cx="11091672" cy="777240"/>
          </a:xfrm>
          <a:prstGeom prst="roundRect">
            <a:avLst>
              <a:gd name="adj" fmla="val 7059"/>
            </a:avLst>
          </a:prstGeom>
          <a:solidFill>
            <a:srgbClr val="FBF9F4"/>
          </a:solidFill>
          <a:ln w="9525">
            <a:solidFill>
              <a:srgbClr val="E4DFD4"/>
            </a:solidFill>
            <a:prstDash val="solid"/>
          </a:ln>
        </p:spPr>
      </p:sp>
      <p:sp>
        <p:nvSpPr>
          <p:cNvPr id="13" name="Text 11"/>
          <p:cNvSpPr/>
          <p:nvPr/>
        </p:nvSpPr>
        <p:spPr>
          <a:xfrm>
            <a:off x="731520" y="2532888"/>
            <a:ext cx="457200" cy="777240"/>
          </a:xfrm>
          <a:prstGeom prst="rect">
            <a:avLst/>
          </a:prstGeom>
          <a:noFill/>
          <a:ln/>
        </p:spPr>
        <p:txBody>
          <a:bodyPr wrap="square" lIns="0" tIns="0" rIns="0" bIns="0" rtlCol="0" anchor="ctr"/>
          <a:lstStyle/>
          <a:p>
            <a:pPr indent="0" marL="0">
              <a:buNone/>
            </a:pPr>
            <a:r>
              <a:rPr lang="en-US" sz="2200" dirty="0">
                <a:solidFill>
                  <a:srgbClr val="B08D47"/>
                </a:solidFill>
                <a:latin typeface="Yu Gothic" pitchFamily="34" charset="0"/>
                <a:ea typeface="Yu Gothic" pitchFamily="34" charset="-122"/>
                <a:cs typeface="Yu Gothic" pitchFamily="34" charset="-120"/>
              </a:rPr>
              <a:t>☐</a:t>
            </a:r>
            <a:endParaRPr lang="en-US" sz="2200" dirty="0"/>
          </a:p>
        </p:txBody>
      </p:sp>
      <p:sp>
        <p:nvSpPr>
          <p:cNvPr id="14" name="Text 12"/>
          <p:cNvSpPr/>
          <p:nvPr/>
        </p:nvSpPr>
        <p:spPr>
          <a:xfrm>
            <a:off x="1280160" y="2532888"/>
            <a:ext cx="3108960" cy="777240"/>
          </a:xfrm>
          <a:prstGeom prst="rect">
            <a:avLst/>
          </a:prstGeom>
          <a:noFill/>
          <a:ln/>
        </p:spPr>
        <p:txBody>
          <a:bodyPr wrap="square" lIns="0" tIns="0" rIns="0" bIns="0" rtlCol="0" anchor="ctr"/>
          <a:lstStyle/>
          <a:p>
            <a:pPr indent="0" marL="0">
              <a:buNone/>
            </a:pPr>
            <a:r>
              <a:rPr lang="en-US" sz="1500" b="1" dirty="0">
                <a:solidFill>
                  <a:srgbClr val="1F2A28"/>
                </a:solidFill>
                <a:latin typeface="Yu Gothic" pitchFamily="34" charset="0"/>
                <a:ea typeface="Yu Gothic" pitchFamily="34" charset="-122"/>
                <a:cs typeface="Yu Gothic" pitchFamily="34" charset="-120"/>
              </a:rPr>
              <a:t>メールアドレス</a:t>
            </a:r>
            <a:endParaRPr lang="en-US" sz="1500" dirty="0"/>
          </a:p>
        </p:txBody>
      </p:sp>
      <p:sp>
        <p:nvSpPr>
          <p:cNvPr id="15" name="Text 13"/>
          <p:cNvSpPr/>
          <p:nvPr/>
        </p:nvSpPr>
        <p:spPr>
          <a:xfrm>
            <a:off x="4389120" y="2532888"/>
            <a:ext cx="7068312" cy="777240"/>
          </a:xfrm>
          <a:prstGeom prst="rect">
            <a:avLst/>
          </a:prstGeom>
          <a:noFill/>
          <a:ln/>
        </p:spPr>
        <p:txBody>
          <a:bodyPr wrap="square" lIns="0" tIns="0" rIns="0" bIns="0" rtlCol="0" anchor="ctr"/>
          <a:lstStyle/>
          <a:p>
            <a:pPr indent="0" marL="0">
              <a:buNone/>
            </a:pPr>
            <a:r>
              <a:rPr lang="en-US" sz="1250" dirty="0">
                <a:solidFill>
                  <a:srgbClr val="3E3E3B"/>
                </a:solidFill>
                <a:latin typeface="Yu Gothic" pitchFamily="34" charset="0"/>
                <a:ea typeface="Yu Gothic" pitchFamily="34" charset="-122"/>
                <a:cs typeface="Yu Gothic" pitchFamily="34" charset="-120"/>
              </a:rPr>
              <a:t>GitHub と Claude の登録に使います。会社のルールに従ってください</a:t>
            </a:r>
            <a:endParaRPr lang="en-US" sz="1250" dirty="0"/>
          </a:p>
        </p:txBody>
      </p:sp>
      <p:sp>
        <p:nvSpPr>
          <p:cNvPr id="16" name="Shape 14"/>
          <p:cNvSpPr/>
          <p:nvPr/>
        </p:nvSpPr>
        <p:spPr>
          <a:xfrm>
            <a:off x="548640" y="3419856"/>
            <a:ext cx="11091672" cy="777240"/>
          </a:xfrm>
          <a:prstGeom prst="roundRect">
            <a:avLst>
              <a:gd name="adj" fmla="val 7059"/>
            </a:avLst>
          </a:prstGeom>
          <a:solidFill>
            <a:srgbClr val="FBF9F4"/>
          </a:solidFill>
          <a:ln w="9525">
            <a:solidFill>
              <a:srgbClr val="E4DFD4"/>
            </a:solidFill>
            <a:prstDash val="solid"/>
          </a:ln>
        </p:spPr>
      </p:sp>
      <p:sp>
        <p:nvSpPr>
          <p:cNvPr id="17" name="Text 15"/>
          <p:cNvSpPr/>
          <p:nvPr/>
        </p:nvSpPr>
        <p:spPr>
          <a:xfrm>
            <a:off x="731520" y="3419856"/>
            <a:ext cx="457200" cy="777240"/>
          </a:xfrm>
          <a:prstGeom prst="rect">
            <a:avLst/>
          </a:prstGeom>
          <a:noFill/>
          <a:ln/>
        </p:spPr>
        <p:txBody>
          <a:bodyPr wrap="square" lIns="0" tIns="0" rIns="0" bIns="0" rtlCol="0" anchor="ctr"/>
          <a:lstStyle/>
          <a:p>
            <a:pPr indent="0" marL="0">
              <a:buNone/>
            </a:pPr>
            <a:r>
              <a:rPr lang="en-US" sz="2200" dirty="0">
                <a:solidFill>
                  <a:srgbClr val="B08D47"/>
                </a:solidFill>
                <a:latin typeface="Yu Gothic" pitchFamily="34" charset="0"/>
                <a:ea typeface="Yu Gothic" pitchFamily="34" charset="-122"/>
                <a:cs typeface="Yu Gothic" pitchFamily="34" charset="-120"/>
              </a:rPr>
              <a:t>☐</a:t>
            </a:r>
            <a:endParaRPr lang="en-US" sz="2200" dirty="0"/>
          </a:p>
        </p:txBody>
      </p:sp>
      <p:sp>
        <p:nvSpPr>
          <p:cNvPr id="18" name="Text 16"/>
          <p:cNvSpPr/>
          <p:nvPr/>
        </p:nvSpPr>
        <p:spPr>
          <a:xfrm>
            <a:off x="1280160" y="3419856"/>
            <a:ext cx="3108960" cy="777240"/>
          </a:xfrm>
          <a:prstGeom prst="rect">
            <a:avLst/>
          </a:prstGeom>
          <a:noFill/>
          <a:ln/>
        </p:spPr>
        <p:txBody>
          <a:bodyPr wrap="square" lIns="0" tIns="0" rIns="0" bIns="0" rtlCol="0" anchor="ctr"/>
          <a:lstStyle/>
          <a:p>
            <a:pPr indent="0" marL="0">
              <a:buNone/>
            </a:pPr>
            <a:r>
              <a:rPr lang="en-US" sz="1500" b="1" dirty="0">
                <a:solidFill>
                  <a:srgbClr val="1F2A28"/>
                </a:solidFill>
                <a:latin typeface="Yu Gothic" pitchFamily="34" charset="0"/>
                <a:ea typeface="Yu Gothic" pitchFamily="34" charset="-122"/>
                <a:cs typeface="Yu Gothic" pitchFamily="34" charset="-120"/>
              </a:rPr>
              <a:t>Claude の有料プラン</a:t>
            </a:r>
            <a:endParaRPr lang="en-US" sz="1500" dirty="0"/>
          </a:p>
        </p:txBody>
      </p:sp>
      <p:sp>
        <p:nvSpPr>
          <p:cNvPr id="19" name="Text 17"/>
          <p:cNvSpPr/>
          <p:nvPr/>
        </p:nvSpPr>
        <p:spPr>
          <a:xfrm>
            <a:off x="4389120" y="3419856"/>
            <a:ext cx="7068312" cy="777240"/>
          </a:xfrm>
          <a:prstGeom prst="rect">
            <a:avLst/>
          </a:prstGeom>
          <a:noFill/>
          <a:ln/>
        </p:spPr>
        <p:txBody>
          <a:bodyPr wrap="square" lIns="0" tIns="0" rIns="0" bIns="0" rtlCol="0" anchor="ctr"/>
          <a:lstStyle/>
          <a:p>
            <a:pPr indent="0" marL="0">
              <a:buNone/>
            </a:pPr>
            <a:r>
              <a:rPr lang="en-US" sz="1250" dirty="0">
                <a:solidFill>
                  <a:srgbClr val="3E3E3B"/>
                </a:solidFill>
                <a:latin typeface="Yu Gothic" pitchFamily="34" charset="0"/>
                <a:ea typeface="Yu Gothic" pitchFamily="34" charset="-122"/>
                <a:cs typeface="Yu Gothic" pitchFamily="34" charset="-120"/>
              </a:rPr>
              <a:t>Claude Code を使うには Pro 以上のプランが必要です。会社で Team / Enterprise を契約済みなら、管理者に利用できるか確認</a:t>
            </a:r>
            <a:endParaRPr lang="en-US" sz="1250" dirty="0"/>
          </a:p>
        </p:txBody>
      </p:sp>
      <p:sp>
        <p:nvSpPr>
          <p:cNvPr id="20" name="Shape 18"/>
          <p:cNvSpPr/>
          <p:nvPr/>
        </p:nvSpPr>
        <p:spPr>
          <a:xfrm>
            <a:off x="548640" y="4306824"/>
            <a:ext cx="11091672" cy="777240"/>
          </a:xfrm>
          <a:prstGeom prst="roundRect">
            <a:avLst>
              <a:gd name="adj" fmla="val 7059"/>
            </a:avLst>
          </a:prstGeom>
          <a:solidFill>
            <a:srgbClr val="FBF9F4"/>
          </a:solidFill>
          <a:ln w="9525">
            <a:solidFill>
              <a:srgbClr val="E4DFD4"/>
            </a:solidFill>
            <a:prstDash val="solid"/>
          </a:ln>
        </p:spPr>
      </p:sp>
      <p:sp>
        <p:nvSpPr>
          <p:cNvPr id="21" name="Text 19"/>
          <p:cNvSpPr/>
          <p:nvPr/>
        </p:nvSpPr>
        <p:spPr>
          <a:xfrm>
            <a:off x="731520" y="4306824"/>
            <a:ext cx="457200" cy="777240"/>
          </a:xfrm>
          <a:prstGeom prst="rect">
            <a:avLst/>
          </a:prstGeom>
          <a:noFill/>
          <a:ln/>
        </p:spPr>
        <p:txBody>
          <a:bodyPr wrap="square" lIns="0" tIns="0" rIns="0" bIns="0" rtlCol="0" anchor="ctr"/>
          <a:lstStyle/>
          <a:p>
            <a:pPr indent="0" marL="0">
              <a:buNone/>
            </a:pPr>
            <a:r>
              <a:rPr lang="en-US" sz="2200" dirty="0">
                <a:solidFill>
                  <a:srgbClr val="B08D47"/>
                </a:solidFill>
                <a:latin typeface="Yu Gothic" pitchFamily="34" charset="0"/>
                <a:ea typeface="Yu Gothic" pitchFamily="34" charset="-122"/>
                <a:cs typeface="Yu Gothic" pitchFamily="34" charset="-120"/>
              </a:rPr>
              <a:t>☐</a:t>
            </a:r>
            <a:endParaRPr lang="en-US" sz="2200" dirty="0"/>
          </a:p>
        </p:txBody>
      </p:sp>
      <p:sp>
        <p:nvSpPr>
          <p:cNvPr id="22" name="Text 20"/>
          <p:cNvSpPr/>
          <p:nvPr/>
        </p:nvSpPr>
        <p:spPr>
          <a:xfrm>
            <a:off x="1280160" y="4306824"/>
            <a:ext cx="3108960" cy="777240"/>
          </a:xfrm>
          <a:prstGeom prst="rect">
            <a:avLst/>
          </a:prstGeom>
          <a:noFill/>
          <a:ln/>
        </p:spPr>
        <p:txBody>
          <a:bodyPr wrap="square" lIns="0" tIns="0" rIns="0" bIns="0" rtlCol="0" anchor="ctr"/>
          <a:lstStyle/>
          <a:p>
            <a:pPr indent="0" marL="0">
              <a:buNone/>
            </a:pPr>
            <a:r>
              <a:rPr lang="en-US" sz="1500" b="1" dirty="0">
                <a:solidFill>
                  <a:srgbClr val="1F2A28"/>
                </a:solidFill>
                <a:latin typeface="Yu Gothic" pitchFamily="34" charset="0"/>
                <a:ea typeface="Yu Gothic" pitchFamily="34" charset="-122"/>
                <a:cs typeface="Yu Gothic" pitchFamily="34" charset="-120"/>
              </a:rPr>
              <a:t>新築データ・中古データ</a:t>
            </a:r>
            <a:endParaRPr lang="en-US" sz="1500" dirty="0"/>
          </a:p>
        </p:txBody>
      </p:sp>
      <p:sp>
        <p:nvSpPr>
          <p:cNvPr id="23" name="Text 21"/>
          <p:cNvSpPr/>
          <p:nvPr/>
        </p:nvSpPr>
        <p:spPr>
          <a:xfrm>
            <a:off x="4389120" y="4306824"/>
            <a:ext cx="7068312" cy="777240"/>
          </a:xfrm>
          <a:prstGeom prst="rect">
            <a:avLst/>
          </a:prstGeom>
          <a:noFill/>
          <a:ln/>
        </p:spPr>
        <p:txBody>
          <a:bodyPr wrap="square" lIns="0" tIns="0" rIns="0" bIns="0" rtlCol="0" anchor="ctr"/>
          <a:lstStyle/>
          <a:p>
            <a:pPr indent="0" marL="0">
              <a:buNone/>
            </a:pPr>
            <a:r>
              <a:rPr lang="en-US" sz="1250" dirty="0">
                <a:solidFill>
                  <a:srgbClr val="3E3E3B"/>
                </a:solidFill>
                <a:latin typeface="Yu Gothic" pitchFamily="34" charset="0"/>
                <a:ea typeface="Yu Gothic" pitchFamily="34" charset="-122"/>
                <a:cs typeface="Yu Gothic" pitchFamily="34" charset="-120"/>
              </a:rPr>
              <a:t>Excel などで管理している物件データ。第4部で使います（事前に送る必要はありません）</a:t>
            </a:r>
            <a:endParaRPr lang="en-US" sz="1250" dirty="0"/>
          </a:p>
        </p:txBody>
      </p:sp>
      <p:sp>
        <p:nvSpPr>
          <p:cNvPr id="24" name="Shape 22"/>
          <p:cNvSpPr/>
          <p:nvPr/>
        </p:nvSpPr>
        <p:spPr>
          <a:xfrm>
            <a:off x="548640" y="5193792"/>
            <a:ext cx="11091672" cy="777240"/>
          </a:xfrm>
          <a:prstGeom prst="roundRect">
            <a:avLst>
              <a:gd name="adj" fmla="val 7059"/>
            </a:avLst>
          </a:prstGeom>
          <a:solidFill>
            <a:srgbClr val="FBF9F4"/>
          </a:solidFill>
          <a:ln w="9525">
            <a:solidFill>
              <a:srgbClr val="E4DFD4"/>
            </a:solidFill>
            <a:prstDash val="solid"/>
          </a:ln>
        </p:spPr>
      </p:sp>
      <p:sp>
        <p:nvSpPr>
          <p:cNvPr id="25" name="Text 23"/>
          <p:cNvSpPr/>
          <p:nvPr/>
        </p:nvSpPr>
        <p:spPr>
          <a:xfrm>
            <a:off x="731520" y="5193792"/>
            <a:ext cx="457200" cy="777240"/>
          </a:xfrm>
          <a:prstGeom prst="rect">
            <a:avLst/>
          </a:prstGeom>
          <a:noFill/>
          <a:ln/>
        </p:spPr>
        <p:txBody>
          <a:bodyPr wrap="square" lIns="0" tIns="0" rIns="0" bIns="0" rtlCol="0" anchor="ctr"/>
          <a:lstStyle/>
          <a:p>
            <a:pPr indent="0" marL="0">
              <a:buNone/>
            </a:pPr>
            <a:r>
              <a:rPr lang="en-US" sz="2200" dirty="0">
                <a:solidFill>
                  <a:srgbClr val="B08D47"/>
                </a:solidFill>
                <a:latin typeface="Yu Gothic" pitchFamily="34" charset="0"/>
                <a:ea typeface="Yu Gothic" pitchFamily="34" charset="-122"/>
                <a:cs typeface="Yu Gothic" pitchFamily="34" charset="-120"/>
              </a:rPr>
              <a:t>☐</a:t>
            </a:r>
            <a:endParaRPr lang="en-US" sz="2200" dirty="0"/>
          </a:p>
        </p:txBody>
      </p:sp>
      <p:sp>
        <p:nvSpPr>
          <p:cNvPr id="26" name="Text 24"/>
          <p:cNvSpPr/>
          <p:nvPr/>
        </p:nvSpPr>
        <p:spPr>
          <a:xfrm>
            <a:off x="1280160" y="5193792"/>
            <a:ext cx="3108960" cy="777240"/>
          </a:xfrm>
          <a:prstGeom prst="rect">
            <a:avLst/>
          </a:prstGeom>
          <a:noFill/>
          <a:ln/>
        </p:spPr>
        <p:txBody>
          <a:bodyPr wrap="square" lIns="0" tIns="0" rIns="0" bIns="0" rtlCol="0" anchor="ctr"/>
          <a:lstStyle/>
          <a:p>
            <a:pPr indent="0" marL="0">
              <a:buNone/>
            </a:pPr>
            <a:r>
              <a:rPr lang="en-US" sz="1500" b="1" dirty="0">
                <a:solidFill>
                  <a:srgbClr val="1F2A28"/>
                </a:solidFill>
                <a:latin typeface="Yu Gothic" pitchFamily="34" charset="0"/>
                <a:ea typeface="Yu Gothic" pitchFamily="34" charset="-122"/>
                <a:cs typeface="Yu Gothic" pitchFamily="34" charset="-120"/>
              </a:rPr>
              <a:t>社内ルールの確認</a:t>
            </a:r>
            <a:endParaRPr lang="en-US" sz="1500" dirty="0"/>
          </a:p>
        </p:txBody>
      </p:sp>
      <p:sp>
        <p:nvSpPr>
          <p:cNvPr id="27" name="Text 25"/>
          <p:cNvSpPr/>
          <p:nvPr/>
        </p:nvSpPr>
        <p:spPr>
          <a:xfrm>
            <a:off x="4389120" y="5193792"/>
            <a:ext cx="7068312" cy="777240"/>
          </a:xfrm>
          <a:prstGeom prst="rect">
            <a:avLst/>
          </a:prstGeom>
          <a:noFill/>
          <a:ln/>
        </p:spPr>
        <p:txBody>
          <a:bodyPr wrap="square" lIns="0" tIns="0" rIns="0" bIns="0" rtlCol="0" anchor="ctr"/>
          <a:lstStyle/>
          <a:p>
            <a:pPr indent="0" marL="0">
              <a:buNone/>
            </a:pPr>
            <a:r>
              <a:rPr lang="en-US" sz="1250" dirty="0">
                <a:solidFill>
                  <a:srgbClr val="3E3E3B"/>
                </a:solidFill>
                <a:latin typeface="Yu Gothic" pitchFamily="34" charset="0"/>
                <a:ea typeface="Yu Gothic" pitchFamily="34" charset="-122"/>
                <a:cs typeface="Yu Gothic" pitchFamily="34" charset="-120"/>
              </a:rPr>
              <a:t>AIツールの利用ルール、データの持ち出しルールを情報システム部門などに確認</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はじめに</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いちばん大切なルール：データの取り扱い</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ツール作りの前に、全員で確認します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7</a:t>
            </a:r>
            <a:endParaRPr lang="en-US" sz="900" dirty="0"/>
          </a:p>
        </p:txBody>
      </p:sp>
      <p:sp>
        <p:nvSpPr>
          <p:cNvPr id="8" name="Shape 6"/>
          <p:cNvSpPr/>
          <p:nvPr/>
        </p:nvSpPr>
        <p:spPr>
          <a:xfrm>
            <a:off x="548640" y="1645920"/>
            <a:ext cx="11091672" cy="960120"/>
          </a:xfrm>
          <a:prstGeom prst="roundRect">
            <a:avLst>
              <a:gd name="adj" fmla="val 7619"/>
            </a:avLst>
          </a:prstGeom>
          <a:solidFill>
            <a:srgbClr val="FFFFFF"/>
          </a:solidFill>
          <a:ln w="12700">
            <a:solidFill>
              <a:srgbClr val="E4DFD4"/>
            </a:solidFill>
            <a:prstDash val="solid"/>
          </a:ln>
        </p:spPr>
      </p:sp>
      <p:sp>
        <p:nvSpPr>
          <p:cNvPr id="9" name="Shape 7"/>
          <p:cNvSpPr/>
          <p:nvPr/>
        </p:nvSpPr>
        <p:spPr>
          <a:xfrm>
            <a:off x="777240" y="1892808"/>
            <a:ext cx="457200" cy="457200"/>
          </a:xfrm>
          <a:prstGeom prst="ellipse">
            <a:avLst/>
          </a:prstGeom>
          <a:solidFill>
            <a:srgbClr val="9A4A3A"/>
          </a:solidFill>
          <a:ln/>
        </p:spPr>
      </p:sp>
      <p:sp>
        <p:nvSpPr>
          <p:cNvPr id="10" name="Text 8"/>
          <p:cNvSpPr/>
          <p:nvPr/>
        </p:nvSpPr>
        <p:spPr>
          <a:xfrm>
            <a:off x="777240" y="18928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11" name="Text 9"/>
          <p:cNvSpPr/>
          <p:nvPr/>
        </p:nvSpPr>
        <p:spPr>
          <a:xfrm>
            <a:off x="1463040" y="1773936"/>
            <a:ext cx="9902952" cy="384048"/>
          </a:xfrm>
          <a:prstGeom prst="rect">
            <a:avLst/>
          </a:prstGeom>
          <a:noFill/>
          <a:ln/>
        </p:spPr>
        <p:txBody>
          <a:bodyPr wrap="square" lIns="0" tIns="0" rIns="0" bIns="0" rtlCol="0" anchor="t"/>
          <a:lstStyle/>
          <a:p>
            <a:pPr indent="0" marL="0">
              <a:buNone/>
            </a:pPr>
            <a:r>
              <a:rPr lang="en-US" sz="1600" b="1" dirty="0">
                <a:solidFill>
                  <a:srgbClr val="1F2A28"/>
                </a:solidFill>
                <a:latin typeface="Yu Gothic" pitchFamily="34" charset="0"/>
                <a:ea typeface="Yu Gothic" pitchFamily="34" charset="-122"/>
                <a:cs typeface="Yu Gothic" pitchFamily="34" charset="-120"/>
              </a:rPr>
              <a:t>自社の物件データは、Claude にも GitHub にも渡さない</a:t>
            </a:r>
            <a:endParaRPr lang="en-US" sz="1600" dirty="0"/>
          </a:p>
        </p:txBody>
      </p:sp>
      <p:sp>
        <p:nvSpPr>
          <p:cNvPr id="12" name="Text 10"/>
          <p:cNvSpPr/>
          <p:nvPr/>
        </p:nvSpPr>
        <p:spPr>
          <a:xfrm>
            <a:off x="1463040" y="2157984"/>
            <a:ext cx="9902952" cy="365760"/>
          </a:xfrm>
          <a:prstGeom prst="rect">
            <a:avLst/>
          </a:prstGeom>
          <a:noFill/>
          <a:ln/>
        </p:spPr>
        <p:txBody>
          <a:bodyPr wrap="square" lIns="0" tIns="0" rIns="0" bIns="0" rtlCol="0" anchor="t"/>
          <a:lstStyle/>
          <a:p>
            <a:pPr indent="0" marL="0">
              <a:buNone/>
            </a:pPr>
            <a:r>
              <a:rPr lang="en-US" sz="1250" dirty="0">
                <a:solidFill>
                  <a:srgbClr val="3E3E3B"/>
                </a:solidFill>
                <a:latin typeface="Yu Gothic" pitchFamily="34" charset="0"/>
                <a:ea typeface="Yu Gothic" pitchFamily="34" charset="-122"/>
                <a:cs typeface="Yu Gothic" pitchFamily="34" charset="-120"/>
              </a:rPr>
              <a:t>プロンプトに物件名・価格などの中身を貼らない。CSV を GitHub にアップロードしない</a:t>
            </a:r>
            <a:endParaRPr lang="en-US" sz="1250" dirty="0"/>
          </a:p>
        </p:txBody>
      </p:sp>
      <p:sp>
        <p:nvSpPr>
          <p:cNvPr id="13" name="Shape 11"/>
          <p:cNvSpPr/>
          <p:nvPr/>
        </p:nvSpPr>
        <p:spPr>
          <a:xfrm>
            <a:off x="548640" y="2715768"/>
            <a:ext cx="11091672" cy="960120"/>
          </a:xfrm>
          <a:prstGeom prst="roundRect">
            <a:avLst>
              <a:gd name="adj" fmla="val 7619"/>
            </a:avLst>
          </a:prstGeom>
          <a:solidFill>
            <a:srgbClr val="FFFFFF"/>
          </a:solidFill>
          <a:ln w="12700">
            <a:solidFill>
              <a:srgbClr val="E4DFD4"/>
            </a:solidFill>
            <a:prstDash val="solid"/>
          </a:ln>
        </p:spPr>
      </p:sp>
      <p:sp>
        <p:nvSpPr>
          <p:cNvPr id="14" name="Shape 12"/>
          <p:cNvSpPr/>
          <p:nvPr/>
        </p:nvSpPr>
        <p:spPr>
          <a:xfrm>
            <a:off x="777240" y="2962656"/>
            <a:ext cx="457200" cy="457200"/>
          </a:xfrm>
          <a:prstGeom prst="ellipse">
            <a:avLst/>
          </a:prstGeom>
          <a:solidFill>
            <a:srgbClr val="9A4A3A"/>
          </a:solidFill>
          <a:ln/>
        </p:spPr>
      </p:sp>
      <p:sp>
        <p:nvSpPr>
          <p:cNvPr id="15" name="Text 13"/>
          <p:cNvSpPr/>
          <p:nvPr/>
        </p:nvSpPr>
        <p:spPr>
          <a:xfrm>
            <a:off x="777240" y="29626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6" name="Text 14"/>
          <p:cNvSpPr/>
          <p:nvPr/>
        </p:nvSpPr>
        <p:spPr>
          <a:xfrm>
            <a:off x="1463040" y="2843784"/>
            <a:ext cx="9902952" cy="384048"/>
          </a:xfrm>
          <a:prstGeom prst="rect">
            <a:avLst/>
          </a:prstGeom>
          <a:noFill/>
          <a:ln/>
        </p:spPr>
        <p:txBody>
          <a:bodyPr wrap="square" lIns="0" tIns="0" rIns="0" bIns="0" rtlCol="0" anchor="t"/>
          <a:lstStyle/>
          <a:p>
            <a:pPr indent="0" marL="0">
              <a:buNone/>
            </a:pPr>
            <a:r>
              <a:rPr lang="en-US" sz="1600" b="1" dirty="0">
                <a:solidFill>
                  <a:srgbClr val="1F2A28"/>
                </a:solidFill>
                <a:latin typeface="Yu Gothic" pitchFamily="34" charset="0"/>
                <a:ea typeface="Yu Gothic" pitchFamily="34" charset="-122"/>
                <a:cs typeface="Yu Gothic" pitchFamily="34" charset="-120"/>
              </a:rPr>
              <a:t>相談するときは「列名だけ」</a:t>
            </a:r>
            <a:endParaRPr lang="en-US" sz="1600" dirty="0"/>
          </a:p>
        </p:txBody>
      </p:sp>
      <p:sp>
        <p:nvSpPr>
          <p:cNvPr id="17" name="Text 15"/>
          <p:cNvSpPr/>
          <p:nvPr/>
        </p:nvSpPr>
        <p:spPr>
          <a:xfrm>
            <a:off x="1463040" y="3227832"/>
            <a:ext cx="9902952" cy="365760"/>
          </a:xfrm>
          <a:prstGeom prst="rect">
            <a:avLst/>
          </a:prstGeom>
          <a:noFill/>
          <a:ln/>
        </p:spPr>
        <p:txBody>
          <a:bodyPr wrap="square" lIns="0" tIns="0" rIns="0" bIns="0" rtlCol="0" anchor="t"/>
          <a:lstStyle/>
          <a:p>
            <a:pPr indent="0" marL="0">
              <a:buNone/>
            </a:pPr>
            <a:r>
              <a:rPr lang="en-US" sz="1250" dirty="0">
                <a:solidFill>
                  <a:srgbClr val="3E3E3B"/>
                </a:solidFill>
                <a:latin typeface="Yu Gothic" pitchFamily="34" charset="0"/>
                <a:ea typeface="Yu Gothic" pitchFamily="34" charset="-122"/>
                <a:cs typeface="Yu Gothic" pitchFamily="34" charset="-120"/>
              </a:rPr>
              <a:t>列名が違うなどで相談するときは、CSV の1行目（列名）だけを貼る。中身の行は貼らない</a:t>
            </a:r>
            <a:endParaRPr lang="en-US" sz="1250" dirty="0"/>
          </a:p>
        </p:txBody>
      </p:sp>
      <p:sp>
        <p:nvSpPr>
          <p:cNvPr id="18" name="Shape 16"/>
          <p:cNvSpPr/>
          <p:nvPr/>
        </p:nvSpPr>
        <p:spPr>
          <a:xfrm>
            <a:off x="548640" y="3785616"/>
            <a:ext cx="11091672" cy="960120"/>
          </a:xfrm>
          <a:prstGeom prst="roundRect">
            <a:avLst>
              <a:gd name="adj" fmla="val 7619"/>
            </a:avLst>
          </a:prstGeom>
          <a:solidFill>
            <a:srgbClr val="FFFFFF"/>
          </a:solidFill>
          <a:ln w="12700">
            <a:solidFill>
              <a:srgbClr val="E4DFD4"/>
            </a:solidFill>
            <a:prstDash val="solid"/>
          </a:ln>
        </p:spPr>
      </p:sp>
      <p:sp>
        <p:nvSpPr>
          <p:cNvPr id="19" name="Shape 17"/>
          <p:cNvSpPr/>
          <p:nvPr/>
        </p:nvSpPr>
        <p:spPr>
          <a:xfrm>
            <a:off x="777240" y="4032504"/>
            <a:ext cx="457200" cy="457200"/>
          </a:xfrm>
          <a:prstGeom prst="ellipse">
            <a:avLst/>
          </a:prstGeom>
          <a:solidFill>
            <a:srgbClr val="9A4A3A"/>
          </a:solidFill>
          <a:ln/>
        </p:spPr>
      </p:sp>
      <p:sp>
        <p:nvSpPr>
          <p:cNvPr id="20" name="Text 18"/>
          <p:cNvSpPr/>
          <p:nvPr/>
        </p:nvSpPr>
        <p:spPr>
          <a:xfrm>
            <a:off x="777240" y="4032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21" name="Text 19"/>
          <p:cNvSpPr/>
          <p:nvPr/>
        </p:nvSpPr>
        <p:spPr>
          <a:xfrm>
            <a:off x="1463040" y="3913632"/>
            <a:ext cx="9902952" cy="384048"/>
          </a:xfrm>
          <a:prstGeom prst="rect">
            <a:avLst/>
          </a:prstGeom>
          <a:noFill/>
          <a:ln/>
        </p:spPr>
        <p:txBody>
          <a:bodyPr wrap="square" lIns="0" tIns="0" rIns="0" bIns="0" rtlCol="0" anchor="t"/>
          <a:lstStyle/>
          <a:p>
            <a:pPr indent="0" marL="0">
              <a:buNone/>
            </a:pPr>
            <a:r>
              <a:rPr lang="en-US" sz="1600" b="1" dirty="0">
                <a:solidFill>
                  <a:srgbClr val="1F2A28"/>
                </a:solidFill>
                <a:latin typeface="Yu Gothic" pitchFamily="34" charset="0"/>
                <a:ea typeface="Yu Gothic" pitchFamily="34" charset="-122"/>
                <a:cs typeface="Yu Gothic" pitchFamily="34" charset="-120"/>
              </a:rPr>
              <a:t>リポジトリは必ず「Private（非公開）」</a:t>
            </a:r>
            <a:endParaRPr lang="en-US" sz="1600" dirty="0"/>
          </a:p>
        </p:txBody>
      </p:sp>
      <p:sp>
        <p:nvSpPr>
          <p:cNvPr id="22" name="Text 20"/>
          <p:cNvSpPr/>
          <p:nvPr/>
        </p:nvSpPr>
        <p:spPr>
          <a:xfrm>
            <a:off x="1463040" y="4297680"/>
            <a:ext cx="9902952" cy="365760"/>
          </a:xfrm>
          <a:prstGeom prst="rect">
            <a:avLst/>
          </a:prstGeom>
          <a:noFill/>
          <a:ln/>
        </p:spPr>
        <p:txBody>
          <a:bodyPr wrap="square" lIns="0" tIns="0" rIns="0" bIns="0" rtlCol="0" anchor="t"/>
          <a:lstStyle/>
          <a:p>
            <a:pPr indent="0" marL="0">
              <a:buNone/>
            </a:pPr>
            <a:r>
              <a:rPr lang="en-US" sz="1250" dirty="0">
                <a:solidFill>
                  <a:srgbClr val="3E3E3B"/>
                </a:solidFill>
                <a:latin typeface="Yu Gothic" pitchFamily="34" charset="0"/>
                <a:ea typeface="Yu Gothic" pitchFamily="34" charset="-122"/>
                <a:cs typeface="Yu Gothic" pitchFamily="34" charset="-120"/>
              </a:rPr>
              <a:t>STEP 2 で作るリポジトリは Private にする。ツールのプログラムも社外に見せない</a:t>
            </a:r>
            <a:endParaRPr lang="en-US" sz="1250" dirty="0"/>
          </a:p>
        </p:txBody>
      </p:sp>
      <p:sp>
        <p:nvSpPr>
          <p:cNvPr id="23" name="Shape 21"/>
          <p:cNvSpPr/>
          <p:nvPr/>
        </p:nvSpPr>
        <p:spPr>
          <a:xfrm>
            <a:off x="548640" y="4855464"/>
            <a:ext cx="11091672" cy="960120"/>
          </a:xfrm>
          <a:prstGeom prst="roundRect">
            <a:avLst>
              <a:gd name="adj" fmla="val 7619"/>
            </a:avLst>
          </a:prstGeom>
          <a:solidFill>
            <a:srgbClr val="FFFFFF"/>
          </a:solidFill>
          <a:ln w="12700">
            <a:solidFill>
              <a:srgbClr val="E4DFD4"/>
            </a:solidFill>
            <a:prstDash val="solid"/>
          </a:ln>
        </p:spPr>
      </p:sp>
      <p:sp>
        <p:nvSpPr>
          <p:cNvPr id="24" name="Shape 22"/>
          <p:cNvSpPr/>
          <p:nvPr/>
        </p:nvSpPr>
        <p:spPr>
          <a:xfrm>
            <a:off x="777240" y="5102352"/>
            <a:ext cx="457200" cy="457200"/>
          </a:xfrm>
          <a:prstGeom prst="ellipse">
            <a:avLst/>
          </a:prstGeom>
          <a:solidFill>
            <a:srgbClr val="9A4A3A"/>
          </a:solidFill>
          <a:ln/>
        </p:spPr>
      </p:sp>
      <p:sp>
        <p:nvSpPr>
          <p:cNvPr id="25" name="Text 23"/>
          <p:cNvSpPr/>
          <p:nvPr/>
        </p:nvSpPr>
        <p:spPr>
          <a:xfrm>
            <a:off x="777240" y="51023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4</a:t>
            </a:r>
            <a:endParaRPr lang="en-US" sz="1600" dirty="0"/>
          </a:p>
        </p:txBody>
      </p:sp>
      <p:sp>
        <p:nvSpPr>
          <p:cNvPr id="26" name="Text 24"/>
          <p:cNvSpPr/>
          <p:nvPr/>
        </p:nvSpPr>
        <p:spPr>
          <a:xfrm>
            <a:off x="1463040" y="4983480"/>
            <a:ext cx="9902952" cy="384048"/>
          </a:xfrm>
          <a:prstGeom prst="rect">
            <a:avLst/>
          </a:prstGeom>
          <a:noFill/>
          <a:ln/>
        </p:spPr>
        <p:txBody>
          <a:bodyPr wrap="square" lIns="0" tIns="0" rIns="0" bIns="0" rtlCol="0" anchor="t"/>
          <a:lstStyle/>
          <a:p>
            <a:pPr indent="0" marL="0">
              <a:buNone/>
            </a:pPr>
            <a:r>
              <a:rPr lang="en-US" sz="1600" b="1" dirty="0">
                <a:solidFill>
                  <a:srgbClr val="1F2A28"/>
                </a:solidFill>
                <a:latin typeface="Yu Gothic" pitchFamily="34" charset="0"/>
                <a:ea typeface="Yu Gothic" pitchFamily="34" charset="-122"/>
                <a:cs typeface="Yu Gothic" pitchFamily="34" charset="-120"/>
              </a:rPr>
              <a:t>社内規程とデータ提供元のルールに従う</a:t>
            </a:r>
            <a:endParaRPr lang="en-US" sz="1600" dirty="0"/>
          </a:p>
        </p:txBody>
      </p:sp>
      <p:sp>
        <p:nvSpPr>
          <p:cNvPr id="27" name="Text 25"/>
          <p:cNvSpPr/>
          <p:nvPr/>
        </p:nvSpPr>
        <p:spPr>
          <a:xfrm>
            <a:off x="1463040" y="5367528"/>
            <a:ext cx="9902952" cy="365760"/>
          </a:xfrm>
          <a:prstGeom prst="rect">
            <a:avLst/>
          </a:prstGeom>
          <a:noFill/>
          <a:ln/>
        </p:spPr>
        <p:txBody>
          <a:bodyPr wrap="square" lIns="0" tIns="0" rIns="0" bIns="0" rtlCol="0" anchor="t"/>
          <a:lstStyle/>
          <a:p>
            <a:pPr indent="0" marL="0">
              <a:buNone/>
            </a:pPr>
            <a:r>
              <a:rPr lang="en-US" sz="1250" dirty="0">
                <a:solidFill>
                  <a:srgbClr val="3E3E3B"/>
                </a:solidFill>
                <a:latin typeface="Yu Gothic" pitchFamily="34" charset="0"/>
                <a:ea typeface="Yu Gothic" pitchFamily="34" charset="-122"/>
                <a:cs typeface="Yu Gothic" pitchFamily="34" charset="-120"/>
              </a:rPr>
              <a:t>データの入手元ごとの利用条件、社内の情報管理ルールを守る。迷ったら上長・管理部門に確認</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E2B"/>
        </a:solidFill>
      </p:bgPr>
    </p:bg>
    <p:spTree>
      <p:nvGrpSpPr>
        <p:cNvPr id="1" name=""/>
        <p:cNvGrpSpPr/>
        <p:nvPr/>
      </p:nvGrpSpPr>
      <p:grpSpPr>
        <a:xfrm>
          <a:off x="0" y="0"/>
          <a:ext cx="0" cy="0"/>
          <a:chOff x="0" y="0"/>
          <a:chExt cx="0" cy="0"/>
        </a:xfrm>
      </p:grpSpPr>
      <p:sp>
        <p:nvSpPr>
          <p:cNvPr id="2" name="Text 0"/>
          <p:cNvSpPr/>
          <p:nvPr/>
        </p:nvSpPr>
        <p:spPr>
          <a:xfrm>
            <a:off x="914400" y="2194560"/>
            <a:ext cx="5486400" cy="457200"/>
          </a:xfrm>
          <a:prstGeom prst="rect">
            <a:avLst/>
          </a:prstGeom>
          <a:noFill/>
          <a:ln/>
        </p:spPr>
        <p:txBody>
          <a:bodyPr wrap="square" lIns="0" tIns="0" rIns="0" bIns="0" rtlCol="0" anchor="t"/>
          <a:lstStyle/>
          <a:p>
            <a:pPr indent="0" marL="0">
              <a:buNone/>
            </a:pPr>
            <a:r>
              <a:rPr lang="en-US" sz="1800" b="1" dirty="0">
                <a:solidFill>
                  <a:srgbClr val="CBB07A"/>
                </a:solidFill>
                <a:latin typeface="Yu Gothic" pitchFamily="34" charset="0"/>
                <a:ea typeface="Yu Gothic" pitchFamily="34" charset="-122"/>
                <a:cs typeface="Yu Gothic" pitchFamily="34" charset="-120"/>
              </a:rPr>
              <a:t>第1部</a:t>
            </a:r>
            <a:endParaRPr lang="en-US" sz="1800" dirty="0"/>
          </a:p>
        </p:txBody>
      </p:sp>
      <p:sp>
        <p:nvSpPr>
          <p:cNvPr id="3" name="Text 1"/>
          <p:cNvSpPr/>
          <p:nvPr/>
        </p:nvSpPr>
        <p:spPr>
          <a:xfrm>
            <a:off x="914400" y="2697480"/>
            <a:ext cx="10058400" cy="822960"/>
          </a:xfrm>
          <a:prstGeom prst="rect">
            <a:avLst/>
          </a:prstGeom>
          <a:noFill/>
          <a:ln/>
        </p:spPr>
        <p:txBody>
          <a:bodyPr wrap="square" lIns="0" tIns="0" rIns="0" bIns="0" rtlCol="0" anchor="t"/>
          <a:lstStyle/>
          <a:p>
            <a:pPr indent="0" marL="0">
              <a:buNone/>
            </a:pPr>
            <a:r>
              <a:rPr lang="en-US" sz="3600" b="1" dirty="0">
                <a:solidFill>
                  <a:srgbClr val="FFFFFF"/>
                </a:solidFill>
                <a:latin typeface="Yu Gothic" pitchFamily="34" charset="0"/>
                <a:ea typeface="Yu Gothic" pitchFamily="34" charset="-122"/>
                <a:cs typeface="Yu Gothic" pitchFamily="34" charset="-120"/>
              </a:rPr>
              <a:t>準備する ─ GitHub と Claude</a:t>
            </a:r>
            <a:endParaRPr lang="en-US" sz="3600" dirty="0"/>
          </a:p>
        </p:txBody>
      </p:sp>
      <p:sp>
        <p:nvSpPr>
          <p:cNvPr id="4" name="Shape 2"/>
          <p:cNvSpPr/>
          <p:nvPr/>
        </p:nvSpPr>
        <p:spPr>
          <a:xfrm>
            <a:off x="914400" y="3657600"/>
            <a:ext cx="1097280" cy="0"/>
          </a:xfrm>
          <a:prstGeom prst="line">
            <a:avLst/>
          </a:prstGeom>
          <a:noFill/>
          <a:ln w="25400">
            <a:solidFill>
              <a:srgbClr val="B08D47"/>
            </a:solidFill>
            <a:prstDash val="solid"/>
          </a:ln>
        </p:spPr>
      </p:sp>
      <p:sp>
        <p:nvSpPr>
          <p:cNvPr id="5" name="Text 3"/>
          <p:cNvSpPr/>
          <p:nvPr/>
        </p:nvSpPr>
        <p:spPr>
          <a:xfrm>
            <a:off x="914400" y="3886200"/>
            <a:ext cx="10058400" cy="822960"/>
          </a:xfrm>
          <a:prstGeom prst="rect">
            <a:avLst/>
          </a:prstGeom>
          <a:noFill/>
          <a:ln/>
        </p:spPr>
        <p:txBody>
          <a:bodyPr wrap="square" lIns="0" tIns="0" rIns="0" bIns="0" rtlCol="0" anchor="t"/>
          <a:lstStyle/>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1　GitHub のアカウントを作る</a:t>
            </a:r>
            <a:endParaRPr lang="en-US" sz="1500" dirty="0"/>
          </a:p>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2　ツールを保管するリポジトリを作る</a:t>
            </a:r>
            <a:endParaRPr lang="en-US" sz="1500" dirty="0"/>
          </a:p>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3〜4　Claude のアカウントを作り、プランを選ぶ</a:t>
            </a:r>
            <a:endParaRPr lang="en-US" sz="1500" dirty="0"/>
          </a:p>
        </p:txBody>
      </p:sp>
      <p:sp>
        <p:nvSpPr>
          <p:cNvPr id="6" name="Text 4"/>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8C877B"/>
                </a:solidFill>
                <a:latin typeface="Yu Gothic" pitchFamily="34" charset="0"/>
                <a:ea typeface="Yu Gothic" pitchFamily="34" charset="-122"/>
                <a:cs typeface="Yu 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第1部　STEP 1</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GitHub のアカウントを作る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GitHub の画面は英語です。押す場所は赤枠のとおりです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9</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https://github.com</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Shape 14"/>
          <p:cNvSpPr/>
          <p:nvPr/>
        </p:nvSpPr>
        <p:spPr>
          <a:xfrm>
            <a:off x="566928" y="1920240"/>
            <a:ext cx="6912864" cy="457200"/>
          </a:xfrm>
          <a:prstGeom prst="rect">
            <a:avLst/>
          </a:prstGeom>
          <a:solidFill>
            <a:srgbClr val="0D1117"/>
          </a:solidFill>
          <a:ln/>
        </p:spPr>
      </p:sp>
      <p:sp>
        <p:nvSpPr>
          <p:cNvPr id="17" name="Text 15"/>
          <p:cNvSpPr/>
          <p:nvPr/>
        </p:nvSpPr>
        <p:spPr>
          <a:xfrm>
            <a:off x="731520" y="1920240"/>
            <a:ext cx="1371600" cy="45720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GitHub</a:t>
            </a:r>
            <a:endParaRPr lang="en-US" sz="1300" dirty="0"/>
          </a:p>
        </p:txBody>
      </p:sp>
      <p:sp>
        <p:nvSpPr>
          <p:cNvPr id="18" name="Shape 16"/>
          <p:cNvSpPr/>
          <p:nvPr/>
        </p:nvSpPr>
        <p:spPr>
          <a:xfrm>
            <a:off x="5394960" y="1993392"/>
            <a:ext cx="822960" cy="310896"/>
          </a:xfrm>
          <a:prstGeom prst="roundRect">
            <a:avLst>
              <a:gd name="adj" fmla="val 17647"/>
            </a:avLst>
          </a:prstGeom>
          <a:solidFill>
            <a:srgbClr val="0D1117"/>
          </a:solidFill>
          <a:ln w="9525">
            <a:solidFill>
              <a:srgbClr val="0D1117"/>
            </a:solidFill>
            <a:prstDash val="solid"/>
          </a:ln>
        </p:spPr>
      </p:sp>
      <p:sp>
        <p:nvSpPr>
          <p:cNvPr id="19" name="Text 17"/>
          <p:cNvSpPr/>
          <p:nvPr/>
        </p:nvSpPr>
        <p:spPr>
          <a:xfrm>
            <a:off x="5449824" y="1993392"/>
            <a:ext cx="713232" cy="310896"/>
          </a:xfrm>
          <a:prstGeom prst="rect">
            <a:avLst/>
          </a:prstGeom>
          <a:noFill/>
          <a:ln/>
        </p:spPr>
        <p:txBody>
          <a:bodyPr wrap="square" lIns="0" tIns="0" rIns="0" bIns="0" rtlCol="0" anchor="ctr"/>
          <a:lstStyle/>
          <a:p>
            <a:pPr algn="ctr" indent="0" marL="0">
              <a:buNone/>
            </a:pPr>
            <a:r>
              <a:rPr lang="en-US" sz="1000" dirty="0">
                <a:solidFill>
                  <a:srgbClr val="FFFFFF"/>
                </a:solidFill>
                <a:latin typeface="Yu Gothic" pitchFamily="34" charset="0"/>
                <a:ea typeface="Yu Gothic" pitchFamily="34" charset="-122"/>
                <a:cs typeface="Yu Gothic" pitchFamily="34" charset="-120"/>
              </a:rPr>
              <a:t>Sign in</a:t>
            </a:r>
            <a:endParaRPr lang="en-US" sz="1000" dirty="0"/>
          </a:p>
        </p:txBody>
      </p:sp>
      <p:sp>
        <p:nvSpPr>
          <p:cNvPr id="20" name="Shape 18"/>
          <p:cNvSpPr/>
          <p:nvPr/>
        </p:nvSpPr>
        <p:spPr>
          <a:xfrm>
            <a:off x="6355080" y="1993392"/>
            <a:ext cx="914400" cy="310896"/>
          </a:xfrm>
          <a:prstGeom prst="roundRect">
            <a:avLst>
              <a:gd name="adj" fmla="val 17647"/>
            </a:avLst>
          </a:prstGeom>
          <a:solidFill>
            <a:srgbClr val="0D1117"/>
          </a:solidFill>
          <a:ln w="9525">
            <a:solidFill>
              <a:srgbClr val="8B949E"/>
            </a:solidFill>
            <a:prstDash val="solid"/>
          </a:ln>
        </p:spPr>
      </p:sp>
      <p:sp>
        <p:nvSpPr>
          <p:cNvPr id="21" name="Text 19"/>
          <p:cNvSpPr/>
          <p:nvPr/>
        </p:nvSpPr>
        <p:spPr>
          <a:xfrm>
            <a:off x="6409944" y="1993392"/>
            <a:ext cx="804672" cy="310896"/>
          </a:xfrm>
          <a:prstGeom prst="rect">
            <a:avLst/>
          </a:prstGeom>
          <a:noFill/>
          <a:ln/>
        </p:spPr>
        <p:txBody>
          <a:bodyPr wrap="square" lIns="0" tIns="0" rIns="0" bIns="0" rtlCol="0" anchor="ctr"/>
          <a:lstStyle/>
          <a:p>
            <a:pPr algn="ctr" indent="0" marL="0">
              <a:buNone/>
            </a:pPr>
            <a:r>
              <a:rPr lang="en-US" sz="1000" dirty="0">
                <a:solidFill>
                  <a:srgbClr val="FFFFFF"/>
                </a:solidFill>
                <a:latin typeface="Yu Gothic" pitchFamily="34" charset="0"/>
                <a:ea typeface="Yu Gothic" pitchFamily="34" charset="-122"/>
                <a:cs typeface="Yu Gothic" pitchFamily="34" charset="-120"/>
              </a:rPr>
              <a:t>Sign up</a:t>
            </a:r>
            <a:endParaRPr lang="en-US" sz="1000" dirty="0"/>
          </a:p>
        </p:txBody>
      </p:sp>
      <p:sp>
        <p:nvSpPr>
          <p:cNvPr id="22" name="Shape 20"/>
          <p:cNvSpPr/>
          <p:nvPr/>
        </p:nvSpPr>
        <p:spPr>
          <a:xfrm>
            <a:off x="6309360" y="1947672"/>
            <a:ext cx="1005840" cy="402336"/>
          </a:xfrm>
          <a:prstGeom prst="roundRect">
            <a:avLst>
              <a:gd name="adj" fmla="val 13636"/>
            </a:avLst>
          </a:prstGeom>
          <a:ln w="31750">
            <a:solidFill>
              <a:srgbClr val="E5484D"/>
            </a:solidFill>
            <a:prstDash val="solid"/>
          </a:ln>
        </p:spPr>
      </p:sp>
      <p:sp>
        <p:nvSpPr>
          <p:cNvPr id="23" name="Shape 21"/>
          <p:cNvSpPr/>
          <p:nvPr/>
        </p:nvSpPr>
        <p:spPr>
          <a:xfrm>
            <a:off x="6153912" y="1792224"/>
            <a:ext cx="310896" cy="310896"/>
          </a:xfrm>
          <a:prstGeom prst="ellipse">
            <a:avLst/>
          </a:prstGeom>
          <a:solidFill>
            <a:srgbClr val="E5484D"/>
          </a:solidFill>
          <a:ln w="12700">
            <a:solidFill>
              <a:srgbClr val="FFFFFF"/>
            </a:solidFill>
            <a:prstDash val="solid"/>
          </a:ln>
        </p:spPr>
      </p:sp>
      <p:sp>
        <p:nvSpPr>
          <p:cNvPr id="24" name="Text 22"/>
          <p:cNvSpPr/>
          <p:nvPr/>
        </p:nvSpPr>
        <p:spPr>
          <a:xfrm>
            <a:off x="6153912" y="1792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5" name="Text 23"/>
          <p:cNvSpPr/>
          <p:nvPr/>
        </p:nvSpPr>
        <p:spPr>
          <a:xfrm>
            <a:off x="1828800" y="2606040"/>
            <a:ext cx="4389120" cy="365760"/>
          </a:xfrm>
          <a:prstGeom prst="rect">
            <a:avLst/>
          </a:prstGeom>
          <a:noFill/>
          <a:ln/>
        </p:spPr>
        <p:txBody>
          <a:bodyPr wrap="square" lIns="0" tIns="0" rIns="0" bIns="0" rtlCol="0" anchor="t"/>
          <a:lstStyle/>
          <a:p>
            <a:pPr algn="ctr" indent="0" marL="0">
              <a:buNone/>
            </a:pPr>
            <a:r>
              <a:rPr lang="en-US" sz="1500" b="1" dirty="0">
                <a:solidFill>
                  <a:srgbClr val="24292F"/>
                </a:solidFill>
                <a:latin typeface="Yu Gothic" pitchFamily="34" charset="0"/>
                <a:ea typeface="Yu Gothic" pitchFamily="34" charset="-122"/>
                <a:cs typeface="Yu Gothic" pitchFamily="34" charset="-120"/>
              </a:rPr>
              <a:t>Create your free account</a:t>
            </a:r>
            <a:endParaRPr lang="en-US" sz="1500" dirty="0"/>
          </a:p>
        </p:txBody>
      </p:sp>
      <p:sp>
        <p:nvSpPr>
          <p:cNvPr id="26" name="Text 24"/>
          <p:cNvSpPr/>
          <p:nvPr/>
        </p:nvSpPr>
        <p:spPr>
          <a:xfrm>
            <a:off x="2194560" y="3154680"/>
            <a:ext cx="3657600" cy="201168"/>
          </a:xfrm>
          <a:prstGeom prst="rect">
            <a:avLst/>
          </a:prstGeom>
          <a:noFill/>
          <a:ln/>
        </p:spPr>
        <p:txBody>
          <a:bodyPr wrap="square" lIns="0" tIns="0" rIns="0" bIns="0" rtlCol="0" anchor="t"/>
          <a:lstStyle/>
          <a:p>
            <a:pPr indent="0" marL="0">
              <a:buNone/>
            </a:pPr>
            <a:r>
              <a:rPr lang="en-US" sz="950" dirty="0">
                <a:solidFill>
                  <a:srgbClr val="57606A"/>
                </a:solidFill>
                <a:latin typeface="Yu Gothic" pitchFamily="34" charset="0"/>
                <a:ea typeface="Yu Gothic" pitchFamily="34" charset="-122"/>
                <a:cs typeface="Yu Gothic" pitchFamily="34" charset="-120"/>
              </a:rPr>
              <a:t>Email</a:t>
            </a:r>
            <a:endParaRPr lang="en-US" sz="950" dirty="0"/>
          </a:p>
        </p:txBody>
      </p:sp>
      <p:sp>
        <p:nvSpPr>
          <p:cNvPr id="27" name="Shape 25"/>
          <p:cNvSpPr/>
          <p:nvPr/>
        </p:nvSpPr>
        <p:spPr>
          <a:xfrm>
            <a:off x="2194560" y="3364992"/>
            <a:ext cx="3657600" cy="310896"/>
          </a:xfrm>
          <a:prstGeom prst="roundRect">
            <a:avLst>
              <a:gd name="adj" fmla="val 17647"/>
            </a:avLst>
          </a:prstGeom>
          <a:solidFill>
            <a:srgbClr val="FFFFFF"/>
          </a:solidFill>
          <a:ln w="9525">
            <a:solidFill>
              <a:srgbClr val="C9CED6"/>
            </a:solidFill>
            <a:prstDash val="solid"/>
          </a:ln>
        </p:spPr>
      </p:sp>
      <p:sp>
        <p:nvSpPr>
          <p:cNvPr id="28" name="Text 26"/>
          <p:cNvSpPr/>
          <p:nvPr/>
        </p:nvSpPr>
        <p:spPr>
          <a:xfrm>
            <a:off x="2194560" y="3794760"/>
            <a:ext cx="3657600" cy="201168"/>
          </a:xfrm>
          <a:prstGeom prst="rect">
            <a:avLst/>
          </a:prstGeom>
          <a:noFill/>
          <a:ln/>
        </p:spPr>
        <p:txBody>
          <a:bodyPr wrap="square" lIns="0" tIns="0" rIns="0" bIns="0" rtlCol="0" anchor="t"/>
          <a:lstStyle/>
          <a:p>
            <a:pPr indent="0" marL="0">
              <a:buNone/>
            </a:pPr>
            <a:r>
              <a:rPr lang="en-US" sz="950" dirty="0">
                <a:solidFill>
                  <a:srgbClr val="57606A"/>
                </a:solidFill>
                <a:latin typeface="Yu Gothic" pitchFamily="34" charset="0"/>
                <a:ea typeface="Yu Gothic" pitchFamily="34" charset="-122"/>
                <a:cs typeface="Yu Gothic" pitchFamily="34" charset="-120"/>
              </a:rPr>
              <a:t>Password</a:t>
            </a:r>
            <a:endParaRPr lang="en-US" sz="950" dirty="0"/>
          </a:p>
        </p:txBody>
      </p:sp>
      <p:sp>
        <p:nvSpPr>
          <p:cNvPr id="29" name="Shape 27"/>
          <p:cNvSpPr/>
          <p:nvPr/>
        </p:nvSpPr>
        <p:spPr>
          <a:xfrm>
            <a:off x="2194560" y="4005072"/>
            <a:ext cx="3657600" cy="310896"/>
          </a:xfrm>
          <a:prstGeom prst="roundRect">
            <a:avLst>
              <a:gd name="adj" fmla="val 17647"/>
            </a:avLst>
          </a:prstGeom>
          <a:solidFill>
            <a:srgbClr val="FFFFFF"/>
          </a:solidFill>
          <a:ln w="9525">
            <a:solidFill>
              <a:srgbClr val="C9CED6"/>
            </a:solidFill>
            <a:prstDash val="solid"/>
          </a:ln>
        </p:spPr>
      </p:sp>
      <p:sp>
        <p:nvSpPr>
          <p:cNvPr id="30" name="Text 28"/>
          <p:cNvSpPr/>
          <p:nvPr/>
        </p:nvSpPr>
        <p:spPr>
          <a:xfrm>
            <a:off x="2194560" y="4434840"/>
            <a:ext cx="3657600" cy="201168"/>
          </a:xfrm>
          <a:prstGeom prst="rect">
            <a:avLst/>
          </a:prstGeom>
          <a:noFill/>
          <a:ln/>
        </p:spPr>
        <p:txBody>
          <a:bodyPr wrap="square" lIns="0" tIns="0" rIns="0" bIns="0" rtlCol="0" anchor="t"/>
          <a:lstStyle/>
          <a:p>
            <a:pPr indent="0" marL="0">
              <a:buNone/>
            </a:pPr>
            <a:r>
              <a:rPr lang="en-US" sz="950" dirty="0">
                <a:solidFill>
                  <a:srgbClr val="57606A"/>
                </a:solidFill>
                <a:latin typeface="Yu Gothic" pitchFamily="34" charset="0"/>
                <a:ea typeface="Yu Gothic" pitchFamily="34" charset="-122"/>
                <a:cs typeface="Yu Gothic" pitchFamily="34" charset="-120"/>
              </a:rPr>
              <a:t>Username</a:t>
            </a:r>
            <a:endParaRPr lang="en-US" sz="950" dirty="0"/>
          </a:p>
        </p:txBody>
      </p:sp>
      <p:sp>
        <p:nvSpPr>
          <p:cNvPr id="31" name="Shape 29"/>
          <p:cNvSpPr/>
          <p:nvPr/>
        </p:nvSpPr>
        <p:spPr>
          <a:xfrm>
            <a:off x="2194560" y="4645152"/>
            <a:ext cx="3657600" cy="310896"/>
          </a:xfrm>
          <a:prstGeom prst="roundRect">
            <a:avLst>
              <a:gd name="adj" fmla="val 17647"/>
            </a:avLst>
          </a:prstGeom>
          <a:solidFill>
            <a:srgbClr val="FFFFFF"/>
          </a:solidFill>
          <a:ln w="9525">
            <a:solidFill>
              <a:srgbClr val="C9CED6"/>
            </a:solidFill>
            <a:prstDash val="solid"/>
          </a:ln>
        </p:spPr>
      </p:sp>
      <p:sp>
        <p:nvSpPr>
          <p:cNvPr id="32" name="Shape 30"/>
          <p:cNvSpPr/>
          <p:nvPr/>
        </p:nvSpPr>
        <p:spPr>
          <a:xfrm>
            <a:off x="2148840" y="3108960"/>
            <a:ext cx="3749040" cy="1892808"/>
          </a:xfrm>
          <a:prstGeom prst="roundRect">
            <a:avLst>
              <a:gd name="adj" fmla="val 2899"/>
            </a:avLst>
          </a:prstGeom>
          <a:ln w="31750">
            <a:solidFill>
              <a:srgbClr val="E5484D"/>
            </a:solidFill>
            <a:prstDash val="solid"/>
          </a:ln>
        </p:spPr>
      </p:sp>
      <p:sp>
        <p:nvSpPr>
          <p:cNvPr id="33" name="Shape 31"/>
          <p:cNvSpPr/>
          <p:nvPr/>
        </p:nvSpPr>
        <p:spPr>
          <a:xfrm>
            <a:off x="1764792" y="3899916"/>
            <a:ext cx="310896" cy="310896"/>
          </a:xfrm>
          <a:prstGeom prst="ellipse">
            <a:avLst/>
          </a:prstGeom>
          <a:solidFill>
            <a:srgbClr val="E5484D"/>
          </a:solidFill>
          <a:ln w="12700">
            <a:solidFill>
              <a:srgbClr val="FFFFFF"/>
            </a:solidFill>
            <a:prstDash val="solid"/>
          </a:ln>
        </p:spPr>
      </p:sp>
      <p:sp>
        <p:nvSpPr>
          <p:cNvPr id="34" name="Text 32"/>
          <p:cNvSpPr/>
          <p:nvPr/>
        </p:nvSpPr>
        <p:spPr>
          <a:xfrm>
            <a:off x="1764792" y="38999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35" name="Shape 33"/>
          <p:cNvSpPr/>
          <p:nvPr/>
        </p:nvSpPr>
        <p:spPr>
          <a:xfrm>
            <a:off x="2194560" y="5166360"/>
            <a:ext cx="3657600" cy="365760"/>
          </a:xfrm>
          <a:prstGeom prst="roundRect">
            <a:avLst>
              <a:gd name="adj" fmla="val 15000"/>
            </a:avLst>
          </a:prstGeom>
          <a:solidFill>
            <a:srgbClr val="1F883D"/>
          </a:solidFill>
          <a:ln w="9525">
            <a:solidFill>
              <a:srgbClr val="1F883D"/>
            </a:solidFill>
            <a:prstDash val="solid"/>
          </a:ln>
        </p:spPr>
      </p:sp>
      <p:sp>
        <p:nvSpPr>
          <p:cNvPr id="36" name="Text 34"/>
          <p:cNvSpPr/>
          <p:nvPr/>
        </p:nvSpPr>
        <p:spPr>
          <a:xfrm>
            <a:off x="2249424" y="5166360"/>
            <a:ext cx="3547872"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Continue</a:t>
            </a:r>
            <a:endParaRPr lang="en-US" sz="1000" dirty="0"/>
          </a:p>
        </p:txBody>
      </p:sp>
      <p:sp>
        <p:nvSpPr>
          <p:cNvPr id="37" name="Shape 35"/>
          <p:cNvSpPr/>
          <p:nvPr/>
        </p:nvSpPr>
        <p:spPr>
          <a:xfrm>
            <a:off x="2148840" y="5120640"/>
            <a:ext cx="3749040" cy="457200"/>
          </a:xfrm>
          <a:prstGeom prst="roundRect">
            <a:avLst>
              <a:gd name="adj" fmla="val 12000"/>
            </a:avLst>
          </a:prstGeom>
          <a:ln w="31750">
            <a:solidFill>
              <a:srgbClr val="E5484D"/>
            </a:solidFill>
            <a:prstDash val="solid"/>
          </a:ln>
        </p:spPr>
      </p:sp>
      <p:sp>
        <p:nvSpPr>
          <p:cNvPr id="38" name="Shape 36"/>
          <p:cNvSpPr/>
          <p:nvPr/>
        </p:nvSpPr>
        <p:spPr>
          <a:xfrm>
            <a:off x="1764792" y="5193792"/>
            <a:ext cx="310896" cy="310896"/>
          </a:xfrm>
          <a:prstGeom prst="ellipse">
            <a:avLst/>
          </a:prstGeom>
          <a:solidFill>
            <a:srgbClr val="E5484D"/>
          </a:solidFill>
          <a:ln w="12700">
            <a:solidFill>
              <a:srgbClr val="FFFFFF"/>
            </a:solidFill>
            <a:prstDash val="solid"/>
          </a:ln>
        </p:spPr>
      </p:sp>
      <p:sp>
        <p:nvSpPr>
          <p:cNvPr id="39" name="Text 37"/>
          <p:cNvSpPr/>
          <p:nvPr/>
        </p:nvSpPr>
        <p:spPr>
          <a:xfrm>
            <a:off x="1764792" y="51937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40" name="Shape 38"/>
          <p:cNvSpPr/>
          <p:nvPr/>
        </p:nvSpPr>
        <p:spPr>
          <a:xfrm>
            <a:off x="7818120" y="1618488"/>
            <a:ext cx="329184" cy="329184"/>
          </a:xfrm>
          <a:prstGeom prst="ellipse">
            <a:avLst/>
          </a:prstGeom>
          <a:solidFill>
            <a:srgbClr val="E5484D"/>
          </a:solidFill>
          <a:ln/>
        </p:spPr>
      </p:sp>
      <p:sp>
        <p:nvSpPr>
          <p:cNvPr id="41" name="Text 39"/>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42" name="Text 40"/>
          <p:cNvSpPr/>
          <p:nvPr/>
        </p:nvSpPr>
        <p:spPr>
          <a:xfrm>
            <a:off x="8275320" y="1600200"/>
            <a:ext cx="3364992" cy="967645"/>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github.com を開き、右上の「Sign up」</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Chrome のアドレス欄に github.com と入力して Enter</a:t>
            </a:r>
            <a:endParaRPr lang="en-US" sz="1400" dirty="0"/>
          </a:p>
        </p:txBody>
      </p:sp>
      <p:sp>
        <p:nvSpPr>
          <p:cNvPr id="43" name="Shape 41"/>
          <p:cNvSpPr/>
          <p:nvPr/>
        </p:nvSpPr>
        <p:spPr>
          <a:xfrm>
            <a:off x="7818120" y="2732437"/>
            <a:ext cx="329184" cy="329184"/>
          </a:xfrm>
          <a:prstGeom prst="ellipse">
            <a:avLst/>
          </a:prstGeom>
          <a:solidFill>
            <a:srgbClr val="E5484D"/>
          </a:solidFill>
          <a:ln/>
        </p:spPr>
      </p:sp>
      <p:sp>
        <p:nvSpPr>
          <p:cNvPr id="44" name="Text 42"/>
          <p:cNvSpPr/>
          <p:nvPr/>
        </p:nvSpPr>
        <p:spPr>
          <a:xfrm>
            <a:off x="7818120" y="273243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45" name="Text 43"/>
          <p:cNvSpPr/>
          <p:nvPr/>
        </p:nvSpPr>
        <p:spPr>
          <a:xfrm>
            <a:off x="8275320" y="2714149"/>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メール・パスワード・ユーザー名を入力</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ユーザー名は英数字。例：tanaka-realestate</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（あとで画面に表示されます）</a:t>
            </a:r>
            <a:endParaRPr lang="en-US" sz="1400" dirty="0"/>
          </a:p>
        </p:txBody>
      </p:sp>
      <p:sp>
        <p:nvSpPr>
          <p:cNvPr id="46" name="Shape 44"/>
          <p:cNvSpPr/>
          <p:nvPr/>
        </p:nvSpPr>
        <p:spPr>
          <a:xfrm>
            <a:off x="7818120" y="3590798"/>
            <a:ext cx="329184" cy="329184"/>
          </a:xfrm>
          <a:prstGeom prst="ellipse">
            <a:avLst/>
          </a:prstGeom>
          <a:solidFill>
            <a:srgbClr val="E5484D"/>
          </a:solidFill>
          <a:ln/>
        </p:spPr>
      </p:sp>
      <p:sp>
        <p:nvSpPr>
          <p:cNvPr id="47" name="Text 45"/>
          <p:cNvSpPr/>
          <p:nvPr/>
        </p:nvSpPr>
        <p:spPr>
          <a:xfrm>
            <a:off x="7818120" y="359079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48" name="Text 46"/>
          <p:cNvSpPr/>
          <p:nvPr/>
        </p:nvSpPr>
        <p:spPr>
          <a:xfrm>
            <a:off x="8275320" y="357251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「Continue」→ 画面の指示に従う</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パズル認証が出たら自分で解きます。メールに届く数字（認証コード）を入力</a:t>
            </a:r>
            <a:endParaRPr lang="en-US" sz="1400" dirty="0"/>
          </a:p>
        </p:txBody>
      </p:sp>
      <p:sp>
        <p:nvSpPr>
          <p:cNvPr id="49" name="Shape 47"/>
          <p:cNvSpPr/>
          <p:nvPr/>
        </p:nvSpPr>
        <p:spPr>
          <a:xfrm>
            <a:off x="7818120" y="4449159"/>
            <a:ext cx="329184" cy="329184"/>
          </a:xfrm>
          <a:prstGeom prst="ellipse">
            <a:avLst/>
          </a:prstGeom>
          <a:solidFill>
            <a:srgbClr val="B08D47"/>
          </a:solidFill>
          <a:ln/>
        </p:spPr>
      </p:sp>
      <p:sp>
        <p:nvSpPr>
          <p:cNvPr id="50" name="Text 48"/>
          <p:cNvSpPr/>
          <p:nvPr/>
        </p:nvSpPr>
        <p:spPr>
          <a:xfrm>
            <a:off x="7818120" y="444915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51" name="Text 49"/>
          <p:cNvSpPr/>
          <p:nvPr/>
        </p:nvSpPr>
        <p:spPr>
          <a:xfrm>
            <a:off x="8275320" y="4430871"/>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無料プラン（Free）でOK</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「Continue for free」などを選びます</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第1部　STEP 2</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リポジトリ（保管用フォルダ）を作る ①</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ログインした状態で、画面右上の「＋」から作ります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10</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https://github.com</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Shape 14"/>
          <p:cNvSpPr/>
          <p:nvPr/>
        </p:nvSpPr>
        <p:spPr>
          <a:xfrm>
            <a:off x="566928" y="1920240"/>
            <a:ext cx="6912864" cy="457200"/>
          </a:xfrm>
          <a:prstGeom prst="rect">
            <a:avLst/>
          </a:prstGeom>
          <a:solidFill>
            <a:srgbClr val="F6F8FA"/>
          </a:solidFill>
          <a:ln w="6350">
            <a:solidFill>
              <a:srgbClr val="D0D7DE"/>
            </a:solidFill>
            <a:prstDash val="solid"/>
          </a:ln>
        </p:spPr>
      </p:sp>
      <p:sp>
        <p:nvSpPr>
          <p:cNvPr id="17" name="Text 15"/>
          <p:cNvSpPr/>
          <p:nvPr/>
        </p:nvSpPr>
        <p:spPr>
          <a:xfrm>
            <a:off x="731520" y="1920240"/>
            <a:ext cx="1828800" cy="457200"/>
          </a:xfrm>
          <a:prstGeom prst="rect">
            <a:avLst/>
          </a:prstGeom>
          <a:noFill/>
          <a:ln/>
        </p:spPr>
        <p:txBody>
          <a:bodyPr wrap="square" lIns="0" tIns="0" rIns="0" bIns="0" rtlCol="0" anchor="ctr"/>
          <a:lstStyle/>
          <a:p>
            <a:pPr indent="0" marL="0">
              <a:buNone/>
            </a:pPr>
            <a:r>
              <a:rPr lang="en-US" sz="1100" b="1" dirty="0">
                <a:solidFill>
                  <a:srgbClr val="24292F"/>
                </a:solidFill>
                <a:latin typeface="Yu Gothic" pitchFamily="34" charset="0"/>
                <a:ea typeface="Yu Gothic" pitchFamily="34" charset="-122"/>
                <a:cs typeface="Yu Gothic" pitchFamily="34" charset="-120"/>
              </a:rPr>
              <a:t>≡  Dashboard</a:t>
            </a:r>
            <a:endParaRPr lang="en-US" sz="1100" dirty="0"/>
          </a:p>
        </p:txBody>
      </p:sp>
      <p:sp>
        <p:nvSpPr>
          <p:cNvPr id="18" name="Shape 16"/>
          <p:cNvSpPr/>
          <p:nvPr/>
        </p:nvSpPr>
        <p:spPr>
          <a:xfrm>
            <a:off x="6126480" y="1993392"/>
            <a:ext cx="548640" cy="310896"/>
          </a:xfrm>
          <a:prstGeom prst="roundRect">
            <a:avLst>
              <a:gd name="adj" fmla="val 17647"/>
            </a:avLst>
          </a:prstGeom>
          <a:solidFill>
            <a:srgbClr val="FFFFFF"/>
          </a:solidFill>
          <a:ln w="9525">
            <a:solidFill>
              <a:srgbClr val="C9CED6"/>
            </a:solidFill>
            <a:prstDash val="solid"/>
          </a:ln>
        </p:spPr>
      </p:sp>
      <p:sp>
        <p:nvSpPr>
          <p:cNvPr id="19" name="Text 17"/>
          <p:cNvSpPr/>
          <p:nvPr/>
        </p:nvSpPr>
        <p:spPr>
          <a:xfrm>
            <a:off x="6181344" y="1993392"/>
            <a:ext cx="438912" cy="310896"/>
          </a:xfrm>
          <a:prstGeom prst="rect">
            <a:avLst/>
          </a:prstGeom>
          <a:noFill/>
          <a:ln/>
        </p:spPr>
        <p:txBody>
          <a:bodyPr wrap="square" lIns="0" tIns="0" rIns="0" bIns="0" rtlCol="0" anchor="ctr"/>
          <a:lstStyle/>
          <a:p>
            <a:pPr algn="ctr" indent="0" marL="0">
              <a:buNone/>
            </a:pPr>
            <a:r>
              <a:rPr lang="en-US" sz="1000" dirty="0">
                <a:solidFill>
                  <a:srgbClr val="24292F"/>
                </a:solidFill>
                <a:latin typeface="Yu Gothic" pitchFamily="34" charset="0"/>
                <a:ea typeface="Yu Gothic" pitchFamily="34" charset="-122"/>
                <a:cs typeface="Yu Gothic" pitchFamily="34" charset="-120"/>
              </a:rPr>
              <a:t>＋ ▾</a:t>
            </a:r>
            <a:endParaRPr lang="en-US" sz="1000" dirty="0"/>
          </a:p>
        </p:txBody>
      </p:sp>
      <p:sp>
        <p:nvSpPr>
          <p:cNvPr id="20" name="Shape 18"/>
          <p:cNvSpPr/>
          <p:nvPr/>
        </p:nvSpPr>
        <p:spPr>
          <a:xfrm>
            <a:off x="6080760" y="1947672"/>
            <a:ext cx="640080" cy="402336"/>
          </a:xfrm>
          <a:prstGeom prst="roundRect">
            <a:avLst>
              <a:gd name="adj" fmla="val 13636"/>
            </a:avLst>
          </a:prstGeom>
          <a:ln w="31750">
            <a:solidFill>
              <a:srgbClr val="E5484D"/>
            </a:solidFill>
            <a:prstDash val="solid"/>
          </a:ln>
        </p:spPr>
      </p:sp>
      <p:sp>
        <p:nvSpPr>
          <p:cNvPr id="21" name="Shape 19"/>
          <p:cNvSpPr/>
          <p:nvPr/>
        </p:nvSpPr>
        <p:spPr>
          <a:xfrm>
            <a:off x="5925312" y="1792224"/>
            <a:ext cx="310896" cy="310896"/>
          </a:xfrm>
          <a:prstGeom prst="ellipse">
            <a:avLst/>
          </a:prstGeom>
          <a:solidFill>
            <a:srgbClr val="E5484D"/>
          </a:solidFill>
          <a:ln w="12700">
            <a:solidFill>
              <a:srgbClr val="FFFFFF"/>
            </a:solidFill>
            <a:prstDash val="solid"/>
          </a:ln>
        </p:spPr>
      </p:sp>
      <p:sp>
        <p:nvSpPr>
          <p:cNvPr id="22" name="Text 20"/>
          <p:cNvSpPr/>
          <p:nvPr/>
        </p:nvSpPr>
        <p:spPr>
          <a:xfrm>
            <a:off x="5925312" y="1792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3" name="Shape 21"/>
          <p:cNvSpPr/>
          <p:nvPr/>
        </p:nvSpPr>
        <p:spPr>
          <a:xfrm>
            <a:off x="6812280" y="1993392"/>
            <a:ext cx="310896" cy="310896"/>
          </a:xfrm>
          <a:prstGeom prst="ellipse">
            <a:avLst/>
          </a:prstGeom>
          <a:solidFill>
            <a:srgbClr val="D0D7DE"/>
          </a:solidFill>
          <a:ln/>
        </p:spPr>
      </p:sp>
      <p:sp>
        <p:nvSpPr>
          <p:cNvPr id="24" name="Shape 22"/>
          <p:cNvSpPr/>
          <p:nvPr/>
        </p:nvSpPr>
        <p:spPr>
          <a:xfrm>
            <a:off x="4663440" y="2423160"/>
            <a:ext cx="2377440" cy="1691640"/>
          </a:xfrm>
          <a:prstGeom prst="roundRect">
            <a:avLst>
              <a:gd name="adj" fmla="val 2703"/>
            </a:avLst>
          </a:prstGeom>
          <a:solidFill>
            <a:srgbClr val="FFFFFF"/>
          </a:solidFill>
          <a:ln w="9525">
            <a:solidFill>
              <a:srgbClr val="D0D7DE"/>
            </a:solidFill>
            <a:prstDash val="solid"/>
          </a:ln>
          <a:effectLst>
            <a:outerShdw sx="100000" sy="100000" kx="0" ky="0" algn="bl" rotWithShape="0" blurRad="50800" dist="25400" dir="16200000">
              <a:srgbClr val="000000">
                <a:alpha val="20000"/>
              </a:srgbClr>
            </a:outerShdw>
          </a:effectLst>
        </p:spPr>
      </p:sp>
      <p:sp>
        <p:nvSpPr>
          <p:cNvPr id="25" name="Text 23"/>
          <p:cNvSpPr/>
          <p:nvPr/>
        </p:nvSpPr>
        <p:spPr>
          <a:xfrm>
            <a:off x="4846320" y="2514600"/>
            <a:ext cx="2011680" cy="274320"/>
          </a:xfrm>
          <a:prstGeom prst="rect">
            <a:avLst/>
          </a:prstGeom>
          <a:noFill/>
          <a:ln/>
        </p:spPr>
        <p:txBody>
          <a:bodyPr wrap="square" lIns="0" tIns="0" rIns="0" bIns="0" rtlCol="0" anchor="ctr"/>
          <a:lstStyle/>
          <a:p>
            <a:pPr indent="0" marL="0">
              <a:buNone/>
            </a:pPr>
            <a:r>
              <a:rPr lang="en-US" sz="1050" dirty="0">
                <a:solidFill>
                  <a:srgbClr val="24292F"/>
                </a:solidFill>
                <a:latin typeface="Yu Gothic" pitchFamily="34" charset="0"/>
                <a:ea typeface="Yu Gothic" pitchFamily="34" charset="-122"/>
                <a:cs typeface="Yu Gothic" pitchFamily="34" charset="-120"/>
              </a:rPr>
              <a:t>New repository</a:t>
            </a:r>
            <a:endParaRPr lang="en-US" sz="1050" dirty="0"/>
          </a:p>
        </p:txBody>
      </p:sp>
      <p:sp>
        <p:nvSpPr>
          <p:cNvPr id="26" name="Text 24"/>
          <p:cNvSpPr/>
          <p:nvPr/>
        </p:nvSpPr>
        <p:spPr>
          <a:xfrm>
            <a:off x="4846320" y="2816352"/>
            <a:ext cx="2011680" cy="274320"/>
          </a:xfrm>
          <a:prstGeom prst="rect">
            <a:avLst/>
          </a:prstGeom>
          <a:noFill/>
          <a:ln/>
        </p:spPr>
        <p:txBody>
          <a:bodyPr wrap="square" lIns="0" tIns="0" rIns="0" bIns="0" rtlCol="0" anchor="ctr"/>
          <a:lstStyle/>
          <a:p>
            <a:pPr indent="0" marL="0">
              <a:buNone/>
            </a:pPr>
            <a:r>
              <a:rPr lang="en-US" sz="1050" dirty="0">
                <a:solidFill>
                  <a:srgbClr val="24292F"/>
                </a:solidFill>
                <a:latin typeface="Yu Gothic" pitchFamily="34" charset="0"/>
                <a:ea typeface="Yu Gothic" pitchFamily="34" charset="-122"/>
                <a:cs typeface="Yu Gothic" pitchFamily="34" charset="-120"/>
              </a:rPr>
              <a:t>Import repository</a:t>
            </a:r>
            <a:endParaRPr lang="en-US" sz="1050" dirty="0"/>
          </a:p>
        </p:txBody>
      </p:sp>
      <p:sp>
        <p:nvSpPr>
          <p:cNvPr id="27" name="Text 25"/>
          <p:cNvSpPr/>
          <p:nvPr/>
        </p:nvSpPr>
        <p:spPr>
          <a:xfrm>
            <a:off x="4846320" y="3118104"/>
            <a:ext cx="2011680" cy="274320"/>
          </a:xfrm>
          <a:prstGeom prst="rect">
            <a:avLst/>
          </a:prstGeom>
          <a:noFill/>
          <a:ln/>
        </p:spPr>
        <p:txBody>
          <a:bodyPr wrap="square" lIns="0" tIns="0" rIns="0" bIns="0" rtlCol="0" anchor="ctr"/>
          <a:lstStyle/>
          <a:p>
            <a:pPr indent="0" marL="0">
              <a:buNone/>
            </a:pPr>
            <a:r>
              <a:rPr lang="en-US" sz="1050" dirty="0">
                <a:solidFill>
                  <a:srgbClr val="24292F"/>
                </a:solidFill>
                <a:latin typeface="Yu Gothic" pitchFamily="34" charset="0"/>
                <a:ea typeface="Yu Gothic" pitchFamily="34" charset="-122"/>
                <a:cs typeface="Yu Gothic" pitchFamily="34" charset="-120"/>
              </a:rPr>
              <a:t>New codespace</a:t>
            </a:r>
            <a:endParaRPr lang="en-US" sz="1050" dirty="0"/>
          </a:p>
        </p:txBody>
      </p:sp>
      <p:sp>
        <p:nvSpPr>
          <p:cNvPr id="28" name="Text 26"/>
          <p:cNvSpPr/>
          <p:nvPr/>
        </p:nvSpPr>
        <p:spPr>
          <a:xfrm>
            <a:off x="4846320" y="3419856"/>
            <a:ext cx="2011680" cy="274320"/>
          </a:xfrm>
          <a:prstGeom prst="rect">
            <a:avLst/>
          </a:prstGeom>
          <a:noFill/>
          <a:ln/>
        </p:spPr>
        <p:txBody>
          <a:bodyPr wrap="square" lIns="0" tIns="0" rIns="0" bIns="0" rtlCol="0" anchor="ctr"/>
          <a:lstStyle/>
          <a:p>
            <a:pPr indent="0" marL="0">
              <a:buNone/>
            </a:pPr>
            <a:r>
              <a:rPr lang="en-US" sz="1050" dirty="0">
                <a:solidFill>
                  <a:srgbClr val="24292F"/>
                </a:solidFill>
                <a:latin typeface="Yu Gothic" pitchFamily="34" charset="0"/>
                <a:ea typeface="Yu Gothic" pitchFamily="34" charset="-122"/>
                <a:cs typeface="Yu Gothic" pitchFamily="34" charset="-120"/>
              </a:rPr>
              <a:t>New gist</a:t>
            </a:r>
            <a:endParaRPr lang="en-US" sz="1050" dirty="0"/>
          </a:p>
        </p:txBody>
      </p:sp>
      <p:sp>
        <p:nvSpPr>
          <p:cNvPr id="29" name="Text 27"/>
          <p:cNvSpPr/>
          <p:nvPr/>
        </p:nvSpPr>
        <p:spPr>
          <a:xfrm>
            <a:off x="4846320" y="3721608"/>
            <a:ext cx="2011680" cy="274320"/>
          </a:xfrm>
          <a:prstGeom prst="rect">
            <a:avLst/>
          </a:prstGeom>
          <a:noFill/>
          <a:ln/>
        </p:spPr>
        <p:txBody>
          <a:bodyPr wrap="square" lIns="0" tIns="0" rIns="0" bIns="0" rtlCol="0" anchor="ctr"/>
          <a:lstStyle/>
          <a:p>
            <a:pPr indent="0" marL="0">
              <a:buNone/>
            </a:pPr>
            <a:r>
              <a:rPr lang="en-US" sz="1050" dirty="0">
                <a:solidFill>
                  <a:srgbClr val="24292F"/>
                </a:solidFill>
                <a:latin typeface="Yu Gothic" pitchFamily="34" charset="0"/>
                <a:ea typeface="Yu Gothic" pitchFamily="34" charset="-122"/>
                <a:cs typeface="Yu Gothic" pitchFamily="34" charset="-120"/>
              </a:rPr>
              <a:t>New organization</a:t>
            </a:r>
            <a:endParaRPr lang="en-US" sz="1050" dirty="0"/>
          </a:p>
        </p:txBody>
      </p:sp>
      <p:sp>
        <p:nvSpPr>
          <p:cNvPr id="30" name="Shape 28"/>
          <p:cNvSpPr/>
          <p:nvPr/>
        </p:nvSpPr>
        <p:spPr>
          <a:xfrm>
            <a:off x="4727448" y="2468880"/>
            <a:ext cx="2249424" cy="365760"/>
          </a:xfrm>
          <a:prstGeom prst="roundRect">
            <a:avLst>
              <a:gd name="adj" fmla="val 15000"/>
            </a:avLst>
          </a:prstGeom>
          <a:ln w="31750">
            <a:solidFill>
              <a:srgbClr val="E5484D"/>
            </a:solidFill>
            <a:prstDash val="solid"/>
          </a:ln>
        </p:spPr>
      </p:sp>
      <p:sp>
        <p:nvSpPr>
          <p:cNvPr id="31" name="Shape 29"/>
          <p:cNvSpPr/>
          <p:nvPr/>
        </p:nvSpPr>
        <p:spPr>
          <a:xfrm>
            <a:off x="4572000" y="2313432"/>
            <a:ext cx="310896" cy="310896"/>
          </a:xfrm>
          <a:prstGeom prst="ellipse">
            <a:avLst/>
          </a:prstGeom>
          <a:solidFill>
            <a:srgbClr val="E5484D"/>
          </a:solidFill>
          <a:ln w="12700">
            <a:solidFill>
              <a:srgbClr val="FFFFFF"/>
            </a:solidFill>
            <a:prstDash val="solid"/>
          </a:ln>
        </p:spPr>
      </p:sp>
      <p:sp>
        <p:nvSpPr>
          <p:cNvPr id="32" name="Text 30"/>
          <p:cNvSpPr/>
          <p:nvPr/>
        </p:nvSpPr>
        <p:spPr>
          <a:xfrm>
            <a:off x="4572000" y="23134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33" name="Text 31"/>
          <p:cNvSpPr/>
          <p:nvPr/>
        </p:nvSpPr>
        <p:spPr>
          <a:xfrm>
            <a:off x="731520" y="2606040"/>
            <a:ext cx="2194560" cy="274320"/>
          </a:xfrm>
          <a:prstGeom prst="rect">
            <a:avLst/>
          </a:prstGeom>
          <a:noFill/>
          <a:ln/>
        </p:spPr>
        <p:txBody>
          <a:bodyPr wrap="square" lIns="0" tIns="0" rIns="0" bIns="0" rtlCol="0" anchor="t"/>
          <a:lstStyle/>
          <a:p>
            <a:pPr indent="0" marL="0">
              <a:buNone/>
            </a:pPr>
            <a:r>
              <a:rPr lang="en-US" sz="1000" b="1" dirty="0">
                <a:solidFill>
                  <a:srgbClr val="24292F"/>
                </a:solidFill>
                <a:latin typeface="Yu Gothic" pitchFamily="34" charset="0"/>
                <a:ea typeface="Yu Gothic" pitchFamily="34" charset="-122"/>
                <a:cs typeface="Yu Gothic" pitchFamily="34" charset="-120"/>
              </a:rPr>
              <a:t>Top repositories</a:t>
            </a:r>
            <a:endParaRPr lang="en-US" sz="1000" dirty="0"/>
          </a:p>
        </p:txBody>
      </p:sp>
      <p:sp>
        <p:nvSpPr>
          <p:cNvPr id="34" name="Shape 32"/>
          <p:cNvSpPr/>
          <p:nvPr/>
        </p:nvSpPr>
        <p:spPr>
          <a:xfrm>
            <a:off x="731520" y="2971800"/>
            <a:ext cx="2194560" cy="274320"/>
          </a:xfrm>
          <a:prstGeom prst="roundRect">
            <a:avLst>
              <a:gd name="adj" fmla="val 20000"/>
            </a:avLst>
          </a:prstGeom>
          <a:solidFill>
            <a:srgbClr val="F6F8FA"/>
          </a:solidFill>
          <a:ln w="9525">
            <a:solidFill>
              <a:srgbClr val="D0D7DE"/>
            </a:solidFill>
            <a:prstDash val="solid"/>
          </a:ln>
        </p:spPr>
      </p:sp>
      <p:sp>
        <p:nvSpPr>
          <p:cNvPr id="35" name="Text 33"/>
          <p:cNvSpPr/>
          <p:nvPr/>
        </p:nvSpPr>
        <p:spPr>
          <a:xfrm>
            <a:off x="3383280" y="4434840"/>
            <a:ext cx="2743200" cy="274320"/>
          </a:xfrm>
          <a:prstGeom prst="rect">
            <a:avLst/>
          </a:prstGeom>
          <a:noFill/>
          <a:ln/>
        </p:spPr>
        <p:txBody>
          <a:bodyPr wrap="square" lIns="0" tIns="0" rIns="0" bIns="0" rtlCol="0" anchor="t"/>
          <a:lstStyle/>
          <a:p>
            <a:pPr indent="0" marL="0">
              <a:buNone/>
            </a:pPr>
            <a:r>
              <a:rPr lang="en-US" sz="1200" b="1" dirty="0">
                <a:solidFill>
                  <a:srgbClr val="24292F"/>
                </a:solidFill>
                <a:latin typeface="Yu Gothic" pitchFamily="34" charset="0"/>
                <a:ea typeface="Yu Gothic" pitchFamily="34" charset="-122"/>
                <a:cs typeface="Yu Gothic" pitchFamily="34" charset="-120"/>
              </a:rPr>
              <a:t>Home</a:t>
            </a:r>
            <a:endParaRPr lang="en-US" sz="1200" dirty="0"/>
          </a:p>
        </p:txBody>
      </p:sp>
      <p:sp>
        <p:nvSpPr>
          <p:cNvPr id="36" name="Shape 34"/>
          <p:cNvSpPr/>
          <p:nvPr/>
        </p:nvSpPr>
        <p:spPr>
          <a:xfrm>
            <a:off x="7818120" y="1618488"/>
            <a:ext cx="329184" cy="329184"/>
          </a:xfrm>
          <a:prstGeom prst="ellipse">
            <a:avLst/>
          </a:prstGeom>
          <a:solidFill>
            <a:srgbClr val="E5484D"/>
          </a:solidFill>
          <a:ln/>
        </p:spPr>
      </p:sp>
      <p:sp>
        <p:nvSpPr>
          <p:cNvPr id="37" name="Text 35"/>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8" name="Text 36"/>
          <p:cNvSpPr/>
          <p:nvPr/>
        </p:nvSpPr>
        <p:spPr>
          <a:xfrm>
            <a:off x="8275320" y="1600200"/>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右上の「＋」を押す</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自分のアイコン（丸）の左どなりにあります</a:t>
            </a:r>
            <a:endParaRPr lang="en-US" sz="1400" dirty="0"/>
          </a:p>
        </p:txBody>
      </p:sp>
      <p:sp>
        <p:nvSpPr>
          <p:cNvPr id="39" name="Shape 37"/>
          <p:cNvSpPr/>
          <p:nvPr/>
        </p:nvSpPr>
        <p:spPr>
          <a:xfrm>
            <a:off x="7818120" y="2266902"/>
            <a:ext cx="329184" cy="329184"/>
          </a:xfrm>
          <a:prstGeom prst="ellipse">
            <a:avLst/>
          </a:prstGeom>
          <a:solidFill>
            <a:srgbClr val="E5484D"/>
          </a:solidFill>
          <a:ln/>
        </p:spPr>
      </p:sp>
      <p:sp>
        <p:nvSpPr>
          <p:cNvPr id="40" name="Text 38"/>
          <p:cNvSpPr/>
          <p:nvPr/>
        </p:nvSpPr>
        <p:spPr>
          <a:xfrm>
            <a:off x="7818120" y="226690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41" name="Text 39"/>
          <p:cNvSpPr/>
          <p:nvPr/>
        </p:nvSpPr>
        <p:spPr>
          <a:xfrm>
            <a:off x="8275320" y="2248614"/>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「New repository」を押す</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新しいリポジトリを作る画面が開きます</a:t>
            </a:r>
            <a:endParaRPr lang="en-US" sz="1400" dirty="0"/>
          </a:p>
        </p:txBody>
      </p:sp>
      <p:sp>
        <p:nvSpPr>
          <p:cNvPr id="42" name="Shape 40"/>
          <p:cNvSpPr/>
          <p:nvPr/>
        </p:nvSpPr>
        <p:spPr>
          <a:xfrm>
            <a:off x="7818120" y="3749040"/>
            <a:ext cx="3822192" cy="868680"/>
          </a:xfrm>
          <a:prstGeom prst="roundRect">
            <a:avLst>
              <a:gd name="adj" fmla="val 6316"/>
            </a:avLst>
          </a:prstGeom>
          <a:solidFill>
            <a:srgbClr val="F5F2EA"/>
          </a:solidFill>
          <a:ln/>
        </p:spPr>
      </p:sp>
      <p:sp>
        <p:nvSpPr>
          <p:cNvPr id="43" name="Shape 41"/>
          <p:cNvSpPr/>
          <p:nvPr/>
        </p:nvSpPr>
        <p:spPr>
          <a:xfrm>
            <a:off x="7818120" y="3749040"/>
            <a:ext cx="73152" cy="868680"/>
          </a:xfrm>
          <a:prstGeom prst="rect">
            <a:avLst/>
          </a:prstGeom>
          <a:solidFill>
            <a:srgbClr val="B08D47"/>
          </a:solidFill>
          <a:ln/>
        </p:spPr>
      </p:sp>
      <p:sp>
        <p:nvSpPr>
          <p:cNvPr id="44" name="Text 42"/>
          <p:cNvSpPr/>
          <p:nvPr/>
        </p:nvSpPr>
        <p:spPr>
          <a:xfrm>
            <a:off x="8046720" y="3749040"/>
            <a:ext cx="3456432" cy="86868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画面の左上にある緑の「New」ボタンからでも同じ画面が開きます</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第1部　STEP 2</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リポジトリ（保管用フォルダ）を作る ②</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名前を入れて、必ず Private（非公開）を選びます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11</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https://github.com/new</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057400"/>
            <a:ext cx="4572000" cy="365760"/>
          </a:xfrm>
          <a:prstGeom prst="rect">
            <a:avLst/>
          </a:prstGeom>
          <a:noFill/>
          <a:ln/>
        </p:spPr>
        <p:txBody>
          <a:bodyPr wrap="square" lIns="0" tIns="0" rIns="0" bIns="0" rtlCol="0" anchor="t"/>
          <a:lstStyle/>
          <a:p>
            <a:pPr indent="0" marL="0">
              <a:buNone/>
            </a:pPr>
            <a:r>
              <a:rPr lang="en-US" sz="1500" b="1" dirty="0">
                <a:solidFill>
                  <a:srgbClr val="24292F"/>
                </a:solidFill>
                <a:latin typeface="Yu Gothic" pitchFamily="34" charset="0"/>
                <a:ea typeface="Yu Gothic" pitchFamily="34" charset="-122"/>
                <a:cs typeface="Yu Gothic" pitchFamily="34" charset="-120"/>
              </a:rPr>
              <a:t>Create a new repository</a:t>
            </a:r>
            <a:endParaRPr lang="en-US" sz="1500" dirty="0"/>
          </a:p>
        </p:txBody>
      </p:sp>
      <p:sp>
        <p:nvSpPr>
          <p:cNvPr id="17" name="Text 15"/>
          <p:cNvSpPr/>
          <p:nvPr/>
        </p:nvSpPr>
        <p:spPr>
          <a:xfrm>
            <a:off x="731520" y="2560320"/>
            <a:ext cx="2743200" cy="228600"/>
          </a:xfrm>
          <a:prstGeom prst="rect">
            <a:avLst/>
          </a:prstGeom>
          <a:noFill/>
          <a:ln/>
        </p:spPr>
        <p:txBody>
          <a:bodyPr wrap="square" lIns="0" tIns="0" rIns="0" bIns="0" rtlCol="0" anchor="t"/>
          <a:lstStyle/>
          <a:p>
            <a:pPr indent="0" marL="0">
              <a:buNone/>
            </a:pPr>
            <a:r>
              <a:rPr lang="en-US" sz="950" b="1" dirty="0">
                <a:solidFill>
                  <a:srgbClr val="24292F"/>
                </a:solidFill>
                <a:latin typeface="Yu Gothic" pitchFamily="34" charset="0"/>
                <a:ea typeface="Yu Gothic" pitchFamily="34" charset="-122"/>
                <a:cs typeface="Yu Gothic" pitchFamily="34" charset="-120"/>
              </a:rPr>
              <a:t>Repository name *</a:t>
            </a:r>
            <a:endParaRPr lang="en-US" sz="950" dirty="0"/>
          </a:p>
        </p:txBody>
      </p:sp>
      <p:sp>
        <p:nvSpPr>
          <p:cNvPr id="18" name="Shape 16"/>
          <p:cNvSpPr/>
          <p:nvPr/>
        </p:nvSpPr>
        <p:spPr>
          <a:xfrm>
            <a:off x="731520" y="2807208"/>
            <a:ext cx="3291840" cy="329184"/>
          </a:xfrm>
          <a:prstGeom prst="roundRect">
            <a:avLst>
              <a:gd name="adj" fmla="val 16667"/>
            </a:avLst>
          </a:prstGeom>
          <a:solidFill>
            <a:srgbClr val="FFFFFF"/>
          </a:solidFill>
          <a:ln w="9525">
            <a:solidFill>
              <a:srgbClr val="C9CED6"/>
            </a:solidFill>
            <a:prstDash val="solid"/>
          </a:ln>
        </p:spPr>
      </p:sp>
      <p:sp>
        <p:nvSpPr>
          <p:cNvPr id="19" name="Text 17"/>
          <p:cNvSpPr/>
          <p:nvPr/>
        </p:nvSpPr>
        <p:spPr>
          <a:xfrm>
            <a:off x="786384" y="2807208"/>
            <a:ext cx="3182112" cy="329184"/>
          </a:xfrm>
          <a:prstGeom prst="rect">
            <a:avLst/>
          </a:prstGeom>
          <a:noFill/>
          <a:ln/>
        </p:spPr>
        <p:txBody>
          <a:bodyPr wrap="square" lIns="0" tIns="0" rIns="0" bIns="0" rtlCol="0" anchor="ctr"/>
          <a:lstStyle/>
          <a:p>
            <a:pPr algn="l" indent="0" marL="0">
              <a:buNone/>
            </a:pPr>
            <a:r>
              <a:rPr lang="en-US" sz="1100" dirty="0">
                <a:solidFill>
                  <a:srgbClr val="24292F"/>
                </a:solidFill>
                <a:latin typeface="Yu Gothic" pitchFamily="34" charset="0"/>
                <a:ea typeface="Yu Gothic" pitchFamily="34" charset="-122"/>
                <a:cs typeface="Yu Gothic" pitchFamily="34" charset="-120"/>
              </a:rPr>
              <a:t>teisha-tool</a:t>
            </a:r>
            <a:endParaRPr lang="en-US" sz="1100" dirty="0"/>
          </a:p>
        </p:txBody>
      </p:sp>
      <p:sp>
        <p:nvSpPr>
          <p:cNvPr id="20" name="Shape 18"/>
          <p:cNvSpPr/>
          <p:nvPr/>
        </p:nvSpPr>
        <p:spPr>
          <a:xfrm>
            <a:off x="685800" y="2761488"/>
            <a:ext cx="3383280" cy="420624"/>
          </a:xfrm>
          <a:prstGeom prst="roundRect">
            <a:avLst>
              <a:gd name="adj" fmla="val 13043"/>
            </a:avLst>
          </a:prstGeom>
          <a:ln w="31750">
            <a:solidFill>
              <a:srgbClr val="E5484D"/>
            </a:solidFill>
            <a:prstDash val="solid"/>
          </a:ln>
        </p:spPr>
      </p:sp>
      <p:sp>
        <p:nvSpPr>
          <p:cNvPr id="21" name="Shape 19"/>
          <p:cNvSpPr/>
          <p:nvPr/>
        </p:nvSpPr>
        <p:spPr>
          <a:xfrm>
            <a:off x="4096512" y="2816352"/>
            <a:ext cx="310896" cy="310896"/>
          </a:xfrm>
          <a:prstGeom prst="ellipse">
            <a:avLst/>
          </a:prstGeom>
          <a:solidFill>
            <a:srgbClr val="E5484D"/>
          </a:solidFill>
          <a:ln w="12700">
            <a:solidFill>
              <a:srgbClr val="FFFFFF"/>
            </a:solidFill>
            <a:prstDash val="solid"/>
          </a:ln>
        </p:spPr>
      </p:sp>
      <p:sp>
        <p:nvSpPr>
          <p:cNvPr id="22" name="Text 20"/>
          <p:cNvSpPr/>
          <p:nvPr/>
        </p:nvSpPr>
        <p:spPr>
          <a:xfrm>
            <a:off x="4096512" y="28163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3" name="Text 21"/>
          <p:cNvSpPr/>
          <p:nvPr/>
        </p:nvSpPr>
        <p:spPr>
          <a:xfrm>
            <a:off x="731520" y="3383280"/>
            <a:ext cx="2743200" cy="228600"/>
          </a:xfrm>
          <a:prstGeom prst="rect">
            <a:avLst/>
          </a:prstGeom>
          <a:noFill/>
          <a:ln/>
        </p:spPr>
        <p:txBody>
          <a:bodyPr wrap="square" lIns="0" tIns="0" rIns="0" bIns="0" rtlCol="0" anchor="t"/>
          <a:lstStyle/>
          <a:p>
            <a:pPr indent="0" marL="0">
              <a:buNone/>
            </a:pPr>
            <a:r>
              <a:rPr lang="en-US" sz="950" b="1" dirty="0">
                <a:solidFill>
                  <a:srgbClr val="24292F"/>
                </a:solidFill>
                <a:latin typeface="Yu Gothic" pitchFamily="34" charset="0"/>
                <a:ea typeface="Yu Gothic" pitchFamily="34" charset="-122"/>
                <a:cs typeface="Yu Gothic" pitchFamily="34" charset="-120"/>
              </a:rPr>
              <a:t>Choose visibility</a:t>
            </a:r>
            <a:endParaRPr lang="en-US" sz="950" dirty="0"/>
          </a:p>
        </p:txBody>
      </p:sp>
      <p:sp>
        <p:nvSpPr>
          <p:cNvPr id="24" name="Shape 22"/>
          <p:cNvSpPr/>
          <p:nvPr/>
        </p:nvSpPr>
        <p:spPr>
          <a:xfrm>
            <a:off x="731520" y="3630168"/>
            <a:ext cx="2011680" cy="329184"/>
          </a:xfrm>
          <a:prstGeom prst="roundRect">
            <a:avLst>
              <a:gd name="adj" fmla="val 16667"/>
            </a:avLst>
          </a:prstGeom>
          <a:solidFill>
            <a:srgbClr val="FFFFFF"/>
          </a:solidFill>
          <a:ln w="9525">
            <a:solidFill>
              <a:srgbClr val="C9CED6"/>
            </a:solidFill>
            <a:prstDash val="solid"/>
          </a:ln>
        </p:spPr>
      </p:sp>
      <p:sp>
        <p:nvSpPr>
          <p:cNvPr id="25" name="Text 23"/>
          <p:cNvSpPr/>
          <p:nvPr/>
        </p:nvSpPr>
        <p:spPr>
          <a:xfrm>
            <a:off x="786384" y="3630168"/>
            <a:ext cx="1901952" cy="329184"/>
          </a:xfrm>
          <a:prstGeom prst="rect">
            <a:avLst/>
          </a:prstGeom>
          <a:noFill/>
          <a:ln/>
        </p:spPr>
        <p:txBody>
          <a:bodyPr wrap="square" lIns="0" tIns="0" rIns="0" bIns="0" rtlCol="0" anchor="ctr"/>
          <a:lstStyle/>
          <a:p>
            <a:pPr algn="ctr" indent="0" marL="0">
              <a:buNone/>
            </a:pPr>
            <a:r>
              <a:rPr lang="en-US" sz="1100" b="1" dirty="0">
                <a:solidFill>
                  <a:srgbClr val="24292F"/>
                </a:solidFill>
                <a:latin typeface="Yu Gothic" pitchFamily="34" charset="0"/>
                <a:ea typeface="Yu Gothic" pitchFamily="34" charset="-122"/>
                <a:cs typeface="Yu Gothic" pitchFamily="34" charset="-120"/>
              </a:rPr>
              <a:t>🔒 Private ▾</a:t>
            </a:r>
            <a:endParaRPr lang="en-US" sz="1100" dirty="0"/>
          </a:p>
        </p:txBody>
      </p:sp>
      <p:sp>
        <p:nvSpPr>
          <p:cNvPr id="26" name="Shape 24"/>
          <p:cNvSpPr/>
          <p:nvPr/>
        </p:nvSpPr>
        <p:spPr>
          <a:xfrm>
            <a:off x="685800" y="3584448"/>
            <a:ext cx="2103120" cy="420624"/>
          </a:xfrm>
          <a:prstGeom prst="roundRect">
            <a:avLst>
              <a:gd name="adj" fmla="val 13043"/>
            </a:avLst>
          </a:prstGeom>
          <a:ln w="31750">
            <a:solidFill>
              <a:srgbClr val="E5484D"/>
            </a:solidFill>
            <a:prstDash val="solid"/>
          </a:ln>
        </p:spPr>
      </p:sp>
      <p:sp>
        <p:nvSpPr>
          <p:cNvPr id="27" name="Shape 25"/>
          <p:cNvSpPr/>
          <p:nvPr/>
        </p:nvSpPr>
        <p:spPr>
          <a:xfrm>
            <a:off x="2816352" y="3639312"/>
            <a:ext cx="310896" cy="310896"/>
          </a:xfrm>
          <a:prstGeom prst="ellipse">
            <a:avLst/>
          </a:prstGeom>
          <a:solidFill>
            <a:srgbClr val="E5484D"/>
          </a:solidFill>
          <a:ln w="12700">
            <a:solidFill>
              <a:srgbClr val="FFFFFF"/>
            </a:solidFill>
            <a:prstDash val="solid"/>
          </a:ln>
        </p:spPr>
      </p:sp>
      <p:sp>
        <p:nvSpPr>
          <p:cNvPr id="28" name="Text 26"/>
          <p:cNvSpPr/>
          <p:nvPr/>
        </p:nvSpPr>
        <p:spPr>
          <a:xfrm>
            <a:off x="2816352"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29" name="Text 27"/>
          <p:cNvSpPr/>
          <p:nvPr/>
        </p:nvSpPr>
        <p:spPr>
          <a:xfrm>
            <a:off x="731520" y="4206240"/>
            <a:ext cx="2743200" cy="228600"/>
          </a:xfrm>
          <a:prstGeom prst="rect">
            <a:avLst/>
          </a:prstGeom>
          <a:noFill/>
          <a:ln/>
        </p:spPr>
        <p:txBody>
          <a:bodyPr wrap="square" lIns="0" tIns="0" rIns="0" bIns="0" rtlCol="0" anchor="t"/>
          <a:lstStyle/>
          <a:p>
            <a:pPr indent="0" marL="0">
              <a:buNone/>
            </a:pPr>
            <a:r>
              <a:rPr lang="en-US" sz="950" b="1" dirty="0">
                <a:solidFill>
                  <a:srgbClr val="24292F"/>
                </a:solidFill>
                <a:latin typeface="Yu Gothic" pitchFamily="34" charset="0"/>
                <a:ea typeface="Yu Gothic" pitchFamily="34" charset="-122"/>
                <a:cs typeface="Yu Gothic" pitchFamily="34" charset="-120"/>
              </a:rPr>
              <a:t>Add README</a:t>
            </a:r>
            <a:endParaRPr lang="en-US" sz="950" dirty="0"/>
          </a:p>
        </p:txBody>
      </p:sp>
      <p:sp>
        <p:nvSpPr>
          <p:cNvPr id="30" name="Shape 28"/>
          <p:cNvSpPr/>
          <p:nvPr/>
        </p:nvSpPr>
        <p:spPr>
          <a:xfrm>
            <a:off x="731520" y="4453128"/>
            <a:ext cx="1005840" cy="310896"/>
          </a:xfrm>
          <a:prstGeom prst="roundRect">
            <a:avLst>
              <a:gd name="adj" fmla="val 17647"/>
            </a:avLst>
          </a:prstGeom>
          <a:solidFill>
            <a:srgbClr val="DDF4FF"/>
          </a:solidFill>
          <a:ln w="9525">
            <a:solidFill>
              <a:srgbClr val="54AEFF"/>
            </a:solidFill>
            <a:prstDash val="solid"/>
          </a:ln>
        </p:spPr>
      </p:sp>
      <p:sp>
        <p:nvSpPr>
          <p:cNvPr id="31" name="Text 29"/>
          <p:cNvSpPr/>
          <p:nvPr/>
        </p:nvSpPr>
        <p:spPr>
          <a:xfrm>
            <a:off x="786384" y="4453128"/>
            <a:ext cx="896112" cy="310896"/>
          </a:xfrm>
          <a:prstGeom prst="rect">
            <a:avLst/>
          </a:prstGeom>
          <a:noFill/>
          <a:ln/>
        </p:spPr>
        <p:txBody>
          <a:bodyPr wrap="square" lIns="0" tIns="0" rIns="0" bIns="0" rtlCol="0" anchor="ctr"/>
          <a:lstStyle/>
          <a:p>
            <a:pPr algn="ctr" indent="0" marL="0">
              <a:buNone/>
            </a:pPr>
            <a:r>
              <a:rPr lang="en-US" sz="1050" b="1" dirty="0">
                <a:solidFill>
                  <a:srgbClr val="24292F"/>
                </a:solidFill>
                <a:latin typeface="Yu Gothic" pitchFamily="34" charset="0"/>
                <a:ea typeface="Yu Gothic" pitchFamily="34" charset="-122"/>
                <a:cs typeface="Yu Gothic" pitchFamily="34" charset="-120"/>
              </a:rPr>
              <a:t>On</a:t>
            </a:r>
            <a:endParaRPr lang="en-US" sz="1050" dirty="0"/>
          </a:p>
        </p:txBody>
      </p:sp>
      <p:sp>
        <p:nvSpPr>
          <p:cNvPr id="32" name="Shape 30"/>
          <p:cNvSpPr/>
          <p:nvPr/>
        </p:nvSpPr>
        <p:spPr>
          <a:xfrm>
            <a:off x="685800" y="4407408"/>
            <a:ext cx="1097280" cy="402336"/>
          </a:xfrm>
          <a:prstGeom prst="roundRect">
            <a:avLst>
              <a:gd name="adj" fmla="val 13636"/>
            </a:avLst>
          </a:prstGeom>
          <a:ln w="31750">
            <a:solidFill>
              <a:srgbClr val="E5484D"/>
            </a:solidFill>
            <a:prstDash val="solid"/>
          </a:ln>
        </p:spPr>
      </p:sp>
      <p:sp>
        <p:nvSpPr>
          <p:cNvPr id="33" name="Shape 31"/>
          <p:cNvSpPr/>
          <p:nvPr/>
        </p:nvSpPr>
        <p:spPr>
          <a:xfrm>
            <a:off x="1810512" y="4453128"/>
            <a:ext cx="310896" cy="310896"/>
          </a:xfrm>
          <a:prstGeom prst="ellipse">
            <a:avLst/>
          </a:prstGeom>
          <a:solidFill>
            <a:srgbClr val="E5484D"/>
          </a:solidFill>
          <a:ln w="12700">
            <a:solidFill>
              <a:srgbClr val="FFFFFF"/>
            </a:solidFill>
            <a:prstDash val="solid"/>
          </a:ln>
        </p:spPr>
      </p:sp>
      <p:sp>
        <p:nvSpPr>
          <p:cNvPr id="34" name="Text 32"/>
          <p:cNvSpPr/>
          <p:nvPr/>
        </p:nvSpPr>
        <p:spPr>
          <a:xfrm>
            <a:off x="1810512" y="44531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35" name="Shape 33"/>
          <p:cNvSpPr/>
          <p:nvPr/>
        </p:nvSpPr>
        <p:spPr>
          <a:xfrm>
            <a:off x="5303520" y="5212080"/>
            <a:ext cx="2011680" cy="365760"/>
          </a:xfrm>
          <a:prstGeom prst="roundRect">
            <a:avLst>
              <a:gd name="adj" fmla="val 15000"/>
            </a:avLst>
          </a:prstGeom>
          <a:solidFill>
            <a:srgbClr val="1F883D"/>
          </a:solidFill>
          <a:ln w="9525">
            <a:solidFill>
              <a:srgbClr val="1F883D"/>
            </a:solidFill>
            <a:prstDash val="solid"/>
          </a:ln>
        </p:spPr>
      </p:sp>
      <p:sp>
        <p:nvSpPr>
          <p:cNvPr id="36" name="Text 34"/>
          <p:cNvSpPr/>
          <p:nvPr/>
        </p:nvSpPr>
        <p:spPr>
          <a:xfrm>
            <a:off x="5358384" y="5212080"/>
            <a:ext cx="1901952"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Create repository</a:t>
            </a:r>
            <a:endParaRPr lang="en-US" sz="1000" dirty="0"/>
          </a:p>
        </p:txBody>
      </p:sp>
      <p:sp>
        <p:nvSpPr>
          <p:cNvPr id="37" name="Shape 35"/>
          <p:cNvSpPr/>
          <p:nvPr/>
        </p:nvSpPr>
        <p:spPr>
          <a:xfrm>
            <a:off x="5257800" y="5166360"/>
            <a:ext cx="2103120" cy="457200"/>
          </a:xfrm>
          <a:prstGeom prst="roundRect">
            <a:avLst>
              <a:gd name="adj" fmla="val 12000"/>
            </a:avLst>
          </a:prstGeom>
          <a:ln w="31750">
            <a:solidFill>
              <a:srgbClr val="E5484D"/>
            </a:solidFill>
            <a:prstDash val="solid"/>
          </a:ln>
        </p:spPr>
      </p:sp>
      <p:sp>
        <p:nvSpPr>
          <p:cNvPr id="38" name="Shape 36"/>
          <p:cNvSpPr/>
          <p:nvPr/>
        </p:nvSpPr>
        <p:spPr>
          <a:xfrm>
            <a:off x="5102352" y="5010912"/>
            <a:ext cx="310896" cy="310896"/>
          </a:xfrm>
          <a:prstGeom prst="ellipse">
            <a:avLst/>
          </a:prstGeom>
          <a:solidFill>
            <a:srgbClr val="E5484D"/>
          </a:solidFill>
          <a:ln w="12700">
            <a:solidFill>
              <a:srgbClr val="FFFFFF"/>
            </a:solidFill>
            <a:prstDash val="solid"/>
          </a:ln>
        </p:spPr>
      </p:sp>
      <p:sp>
        <p:nvSpPr>
          <p:cNvPr id="39" name="Text 37"/>
          <p:cNvSpPr/>
          <p:nvPr/>
        </p:nvSpPr>
        <p:spPr>
          <a:xfrm>
            <a:off x="5102352" y="50109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40" name="Shape 38"/>
          <p:cNvSpPr/>
          <p:nvPr/>
        </p:nvSpPr>
        <p:spPr>
          <a:xfrm>
            <a:off x="7818120" y="1618488"/>
            <a:ext cx="329184" cy="329184"/>
          </a:xfrm>
          <a:prstGeom prst="ellipse">
            <a:avLst/>
          </a:prstGeom>
          <a:solidFill>
            <a:srgbClr val="E5484D"/>
          </a:solidFill>
          <a:ln/>
        </p:spPr>
      </p:sp>
      <p:sp>
        <p:nvSpPr>
          <p:cNvPr id="41" name="Text 39"/>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42" name="Text 40"/>
          <p:cNvSpPr/>
          <p:nvPr/>
        </p:nvSpPr>
        <p:spPr>
          <a:xfrm>
            <a:off x="8275320" y="160020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Repository name に「teisha-tool」</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半角英数字。全員同じ名前にすると、スライドどおりに進めやすい</a:t>
            </a:r>
            <a:endParaRPr lang="en-US" sz="1400" dirty="0"/>
          </a:p>
        </p:txBody>
      </p:sp>
      <p:sp>
        <p:nvSpPr>
          <p:cNvPr id="43" name="Shape 41"/>
          <p:cNvSpPr/>
          <p:nvPr/>
        </p:nvSpPr>
        <p:spPr>
          <a:xfrm>
            <a:off x="7818120" y="2476849"/>
            <a:ext cx="329184" cy="329184"/>
          </a:xfrm>
          <a:prstGeom prst="ellipse">
            <a:avLst/>
          </a:prstGeom>
          <a:solidFill>
            <a:srgbClr val="E5484D"/>
          </a:solidFill>
          <a:ln/>
        </p:spPr>
      </p:sp>
      <p:sp>
        <p:nvSpPr>
          <p:cNvPr id="44" name="Text 42"/>
          <p:cNvSpPr/>
          <p:nvPr/>
        </p:nvSpPr>
        <p:spPr>
          <a:xfrm>
            <a:off x="7818120" y="247684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45" name="Text 43"/>
          <p:cNvSpPr/>
          <p:nvPr/>
        </p:nvSpPr>
        <p:spPr>
          <a:xfrm>
            <a:off x="8275320" y="2458561"/>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「Private」を選ぶ（重要）</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Public だと誰でも見られます。必ず Private</a:t>
            </a:r>
            <a:endParaRPr lang="en-US" sz="1400" dirty="0"/>
          </a:p>
        </p:txBody>
      </p:sp>
      <p:sp>
        <p:nvSpPr>
          <p:cNvPr id="46" name="Shape 44"/>
          <p:cNvSpPr/>
          <p:nvPr/>
        </p:nvSpPr>
        <p:spPr>
          <a:xfrm>
            <a:off x="7818120" y="3125264"/>
            <a:ext cx="329184" cy="329184"/>
          </a:xfrm>
          <a:prstGeom prst="ellipse">
            <a:avLst/>
          </a:prstGeom>
          <a:solidFill>
            <a:srgbClr val="E5484D"/>
          </a:solidFill>
          <a:ln/>
        </p:spPr>
      </p:sp>
      <p:sp>
        <p:nvSpPr>
          <p:cNvPr id="47" name="Text 45"/>
          <p:cNvSpPr/>
          <p:nvPr/>
        </p:nvSpPr>
        <p:spPr>
          <a:xfrm>
            <a:off x="7818120" y="312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48" name="Text 46"/>
          <p:cNvSpPr/>
          <p:nvPr/>
        </p:nvSpPr>
        <p:spPr>
          <a:xfrm>
            <a:off x="8275320" y="3106976"/>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「Add README」を On にする</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チェックボックスの場合はチェックを入れる。中身が空だと Claude が作業できません</a:t>
            </a:r>
            <a:endParaRPr lang="en-US" sz="1400" dirty="0"/>
          </a:p>
        </p:txBody>
      </p:sp>
      <p:sp>
        <p:nvSpPr>
          <p:cNvPr id="49" name="Shape 47"/>
          <p:cNvSpPr/>
          <p:nvPr/>
        </p:nvSpPr>
        <p:spPr>
          <a:xfrm>
            <a:off x="7818120" y="3983625"/>
            <a:ext cx="329184" cy="329184"/>
          </a:xfrm>
          <a:prstGeom prst="ellipse">
            <a:avLst/>
          </a:prstGeom>
          <a:solidFill>
            <a:srgbClr val="E5484D"/>
          </a:solidFill>
          <a:ln/>
        </p:spPr>
      </p:sp>
      <p:sp>
        <p:nvSpPr>
          <p:cNvPr id="50" name="Text 48"/>
          <p:cNvSpPr/>
          <p:nvPr/>
        </p:nvSpPr>
        <p:spPr>
          <a:xfrm>
            <a:off x="7818120" y="3983625"/>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51" name="Text 49"/>
          <p:cNvSpPr/>
          <p:nvPr/>
        </p:nvSpPr>
        <p:spPr>
          <a:xfrm>
            <a:off x="8275320" y="3965337"/>
            <a:ext cx="3364992" cy="384048"/>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緑の「Create repository」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第1部　STEP 2</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リポジトリができたことを確かめる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この画面になれば成功です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12</a:t>
            </a:r>
            <a:endParaRPr lang="en-US" sz="900" dirty="0"/>
          </a:p>
        </p:txBody>
      </p:sp>
      <p:sp>
        <p:nvSpPr>
          <p:cNvPr id="8" name="Shape 6"/>
          <p:cNvSpPr/>
          <p:nvPr/>
        </p:nvSpPr>
        <p:spPr>
          <a:xfrm>
            <a:off x="548640" y="1554480"/>
            <a:ext cx="6949440" cy="3931920"/>
          </a:xfrm>
          <a:prstGeom prst="roundRect">
            <a:avLst>
              <a:gd name="adj" fmla="val 1860"/>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https://github.com/（あなたのユーザー名）/teisha-tool</a:t>
            </a:r>
            <a:endParaRPr lang="en-US" sz="950" dirty="0"/>
          </a:p>
        </p:txBody>
      </p:sp>
      <p:sp>
        <p:nvSpPr>
          <p:cNvPr id="15" name="Text 13"/>
          <p:cNvSpPr/>
          <p:nvPr/>
        </p:nvSpPr>
        <p:spPr>
          <a:xfrm>
            <a:off x="548640" y="552297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057400"/>
            <a:ext cx="4114800" cy="329184"/>
          </a:xfrm>
          <a:prstGeom prst="rect">
            <a:avLst/>
          </a:prstGeom>
          <a:noFill/>
          <a:ln/>
        </p:spPr>
        <p:txBody>
          <a:bodyPr wrap="square" lIns="0" tIns="0" rIns="0" bIns="0" rtlCol="0" anchor="t"/>
          <a:lstStyle/>
          <a:p>
            <a:pPr indent="0" marL="0">
              <a:buNone/>
            </a:pPr>
            <a:r>
              <a:rPr lang="en-US" sz="1300" b="1" dirty="0">
                <a:solidFill>
                  <a:srgbClr val="0969DA"/>
                </a:solidFill>
                <a:latin typeface="Yu Gothic" pitchFamily="34" charset="0"/>
                <a:ea typeface="Yu Gothic" pitchFamily="34" charset="-122"/>
                <a:cs typeface="Yu Gothic" pitchFamily="34" charset="-120"/>
              </a:rPr>
              <a:t>（ユーザー名） / teisha-tool</a:t>
            </a:r>
            <a:endParaRPr lang="en-US" sz="1300" dirty="0"/>
          </a:p>
        </p:txBody>
      </p:sp>
      <p:sp>
        <p:nvSpPr>
          <p:cNvPr id="17" name="Shape 15"/>
          <p:cNvSpPr/>
          <p:nvPr/>
        </p:nvSpPr>
        <p:spPr>
          <a:xfrm>
            <a:off x="4937760" y="2084832"/>
            <a:ext cx="731520" cy="274320"/>
          </a:xfrm>
          <a:prstGeom prst="roundRect">
            <a:avLst>
              <a:gd name="adj" fmla="val 50000"/>
            </a:avLst>
          </a:prstGeom>
          <a:solidFill>
            <a:srgbClr val="FFFFFF"/>
          </a:solidFill>
          <a:ln w="9525">
            <a:solidFill>
              <a:srgbClr val="C9CED6"/>
            </a:solidFill>
            <a:prstDash val="solid"/>
          </a:ln>
        </p:spPr>
      </p:sp>
      <p:sp>
        <p:nvSpPr>
          <p:cNvPr id="18" name="Text 16"/>
          <p:cNvSpPr/>
          <p:nvPr/>
        </p:nvSpPr>
        <p:spPr>
          <a:xfrm>
            <a:off x="4992624" y="2084832"/>
            <a:ext cx="621792" cy="274320"/>
          </a:xfrm>
          <a:prstGeom prst="rect">
            <a:avLst/>
          </a:prstGeom>
          <a:noFill/>
          <a:ln/>
        </p:spPr>
        <p:txBody>
          <a:bodyPr wrap="square" lIns="0" tIns="0" rIns="0" bIns="0" rtlCol="0" anchor="ctr"/>
          <a:lstStyle/>
          <a:p>
            <a:pPr algn="ctr" indent="0" marL="0">
              <a:buNone/>
            </a:pPr>
            <a:r>
              <a:rPr lang="en-US" sz="900" dirty="0">
                <a:solidFill>
                  <a:srgbClr val="24292F"/>
                </a:solidFill>
                <a:latin typeface="Yu Gothic" pitchFamily="34" charset="0"/>
                <a:ea typeface="Yu Gothic" pitchFamily="34" charset="-122"/>
                <a:cs typeface="Yu Gothic" pitchFamily="34" charset="-120"/>
              </a:rPr>
              <a:t>Private</a:t>
            </a:r>
            <a:endParaRPr lang="en-US" sz="900" dirty="0"/>
          </a:p>
        </p:txBody>
      </p:sp>
      <p:sp>
        <p:nvSpPr>
          <p:cNvPr id="19" name="Shape 17"/>
          <p:cNvSpPr/>
          <p:nvPr/>
        </p:nvSpPr>
        <p:spPr>
          <a:xfrm>
            <a:off x="4892040" y="2039112"/>
            <a:ext cx="822960" cy="365760"/>
          </a:xfrm>
          <a:prstGeom prst="roundRect">
            <a:avLst>
              <a:gd name="adj" fmla="val 15000"/>
            </a:avLst>
          </a:prstGeom>
          <a:ln w="31750">
            <a:solidFill>
              <a:srgbClr val="E5484D"/>
            </a:solidFill>
            <a:prstDash val="solid"/>
          </a:ln>
        </p:spPr>
      </p:sp>
      <p:sp>
        <p:nvSpPr>
          <p:cNvPr id="20" name="Shape 18"/>
          <p:cNvSpPr/>
          <p:nvPr/>
        </p:nvSpPr>
        <p:spPr>
          <a:xfrm>
            <a:off x="4736592" y="1883664"/>
            <a:ext cx="310896" cy="310896"/>
          </a:xfrm>
          <a:prstGeom prst="ellipse">
            <a:avLst/>
          </a:prstGeom>
          <a:solidFill>
            <a:srgbClr val="E5484D"/>
          </a:solidFill>
          <a:ln w="12700">
            <a:solidFill>
              <a:srgbClr val="FFFFFF"/>
            </a:solidFill>
            <a:prstDash val="solid"/>
          </a:ln>
        </p:spPr>
      </p:sp>
      <p:sp>
        <p:nvSpPr>
          <p:cNvPr id="21" name="Text 19"/>
          <p:cNvSpPr/>
          <p:nvPr/>
        </p:nvSpPr>
        <p:spPr>
          <a:xfrm>
            <a:off x="4736592" y="1883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2" name="Text 20"/>
          <p:cNvSpPr/>
          <p:nvPr/>
        </p:nvSpPr>
        <p:spPr>
          <a:xfrm>
            <a:off x="731520" y="2514600"/>
            <a:ext cx="1188720" cy="274320"/>
          </a:xfrm>
          <a:prstGeom prst="rect">
            <a:avLst/>
          </a:prstGeom>
          <a:noFill/>
          <a:ln/>
        </p:spPr>
        <p:txBody>
          <a:bodyPr wrap="square" lIns="0" tIns="0" rIns="0" bIns="0" rtlCol="0" anchor="t"/>
          <a:lstStyle/>
          <a:p>
            <a:pPr indent="0" marL="0">
              <a:buNone/>
            </a:pPr>
            <a:r>
              <a:rPr lang="en-US" sz="1000" dirty="0">
                <a:solidFill>
                  <a:srgbClr val="24292F"/>
                </a:solidFill>
                <a:latin typeface="Yu Gothic" pitchFamily="34" charset="0"/>
                <a:ea typeface="Yu Gothic" pitchFamily="34" charset="-122"/>
                <a:cs typeface="Yu Gothic" pitchFamily="34" charset="-120"/>
              </a:rPr>
              <a:t>Code</a:t>
            </a:r>
            <a:endParaRPr lang="en-US" sz="1000" dirty="0"/>
          </a:p>
        </p:txBody>
      </p:sp>
      <p:sp>
        <p:nvSpPr>
          <p:cNvPr id="23" name="Text 21"/>
          <p:cNvSpPr/>
          <p:nvPr/>
        </p:nvSpPr>
        <p:spPr>
          <a:xfrm>
            <a:off x="1965960" y="2514600"/>
            <a:ext cx="1188720" cy="274320"/>
          </a:xfrm>
          <a:prstGeom prst="rect">
            <a:avLst/>
          </a:prstGeom>
          <a:noFill/>
          <a:ln/>
        </p:spPr>
        <p:txBody>
          <a:bodyPr wrap="square" lIns="0" tIns="0" rIns="0" bIns="0" rtlCol="0" anchor="t"/>
          <a:lstStyle/>
          <a:p>
            <a:pPr indent="0" marL="0">
              <a:buNone/>
            </a:pPr>
            <a:r>
              <a:rPr lang="en-US" sz="1000" dirty="0">
                <a:solidFill>
                  <a:srgbClr val="24292F"/>
                </a:solidFill>
                <a:latin typeface="Yu Gothic" pitchFamily="34" charset="0"/>
                <a:ea typeface="Yu Gothic" pitchFamily="34" charset="-122"/>
                <a:cs typeface="Yu Gothic" pitchFamily="34" charset="-120"/>
              </a:rPr>
              <a:t>Issues</a:t>
            </a:r>
            <a:endParaRPr lang="en-US" sz="1000" dirty="0"/>
          </a:p>
        </p:txBody>
      </p:sp>
      <p:sp>
        <p:nvSpPr>
          <p:cNvPr id="24" name="Text 22"/>
          <p:cNvSpPr/>
          <p:nvPr/>
        </p:nvSpPr>
        <p:spPr>
          <a:xfrm>
            <a:off x="3200400" y="2514600"/>
            <a:ext cx="1188720" cy="274320"/>
          </a:xfrm>
          <a:prstGeom prst="rect">
            <a:avLst/>
          </a:prstGeom>
          <a:noFill/>
          <a:ln/>
        </p:spPr>
        <p:txBody>
          <a:bodyPr wrap="square" lIns="0" tIns="0" rIns="0" bIns="0" rtlCol="0" anchor="t"/>
          <a:lstStyle/>
          <a:p>
            <a:pPr indent="0" marL="0">
              <a:buNone/>
            </a:pPr>
            <a:r>
              <a:rPr lang="en-US" sz="1000" dirty="0">
                <a:solidFill>
                  <a:srgbClr val="24292F"/>
                </a:solidFill>
                <a:latin typeface="Yu Gothic" pitchFamily="34" charset="0"/>
                <a:ea typeface="Yu Gothic" pitchFamily="34" charset="-122"/>
                <a:cs typeface="Yu Gothic" pitchFamily="34" charset="-120"/>
              </a:rPr>
              <a:t>Pull requests</a:t>
            </a:r>
            <a:endParaRPr lang="en-US" sz="1000" dirty="0"/>
          </a:p>
        </p:txBody>
      </p:sp>
      <p:sp>
        <p:nvSpPr>
          <p:cNvPr id="25" name="Text 23"/>
          <p:cNvSpPr/>
          <p:nvPr/>
        </p:nvSpPr>
        <p:spPr>
          <a:xfrm>
            <a:off x="4434840" y="2514600"/>
            <a:ext cx="1188720" cy="274320"/>
          </a:xfrm>
          <a:prstGeom prst="rect">
            <a:avLst/>
          </a:prstGeom>
          <a:noFill/>
          <a:ln/>
        </p:spPr>
        <p:txBody>
          <a:bodyPr wrap="square" lIns="0" tIns="0" rIns="0" bIns="0" rtlCol="0" anchor="t"/>
          <a:lstStyle/>
          <a:p>
            <a:pPr indent="0" marL="0">
              <a:buNone/>
            </a:pPr>
            <a:r>
              <a:rPr lang="en-US" sz="1000" dirty="0">
                <a:solidFill>
                  <a:srgbClr val="24292F"/>
                </a:solidFill>
                <a:latin typeface="Yu Gothic" pitchFamily="34" charset="0"/>
                <a:ea typeface="Yu Gothic" pitchFamily="34" charset="-122"/>
                <a:cs typeface="Yu Gothic" pitchFamily="34" charset="-120"/>
              </a:rPr>
              <a:t>Actions</a:t>
            </a:r>
            <a:endParaRPr lang="en-US" sz="1000" dirty="0"/>
          </a:p>
        </p:txBody>
      </p:sp>
      <p:sp>
        <p:nvSpPr>
          <p:cNvPr id="26" name="Text 24"/>
          <p:cNvSpPr/>
          <p:nvPr/>
        </p:nvSpPr>
        <p:spPr>
          <a:xfrm>
            <a:off x="5669280" y="2514600"/>
            <a:ext cx="1188720" cy="274320"/>
          </a:xfrm>
          <a:prstGeom prst="rect">
            <a:avLst/>
          </a:prstGeom>
          <a:noFill/>
          <a:ln/>
        </p:spPr>
        <p:txBody>
          <a:bodyPr wrap="square" lIns="0" tIns="0" rIns="0" bIns="0" rtlCol="0" anchor="t"/>
          <a:lstStyle/>
          <a:p>
            <a:pPr indent="0" marL="0">
              <a:buNone/>
            </a:pPr>
            <a:r>
              <a:rPr lang="en-US" sz="1000" dirty="0">
                <a:solidFill>
                  <a:srgbClr val="24292F"/>
                </a:solidFill>
                <a:latin typeface="Yu Gothic" pitchFamily="34" charset="0"/>
                <a:ea typeface="Yu Gothic" pitchFamily="34" charset="-122"/>
                <a:cs typeface="Yu Gothic" pitchFamily="34" charset="-120"/>
              </a:rPr>
              <a:t>Settings</a:t>
            </a:r>
            <a:endParaRPr lang="en-US" sz="1000" dirty="0"/>
          </a:p>
        </p:txBody>
      </p:sp>
      <p:sp>
        <p:nvSpPr>
          <p:cNvPr id="27" name="Shape 25"/>
          <p:cNvSpPr/>
          <p:nvPr/>
        </p:nvSpPr>
        <p:spPr>
          <a:xfrm>
            <a:off x="6217920" y="2971800"/>
            <a:ext cx="1097280" cy="310896"/>
          </a:xfrm>
          <a:prstGeom prst="roundRect">
            <a:avLst>
              <a:gd name="adj" fmla="val 17647"/>
            </a:avLst>
          </a:prstGeom>
          <a:solidFill>
            <a:srgbClr val="1F883D"/>
          </a:solidFill>
          <a:ln w="9525">
            <a:solidFill>
              <a:srgbClr val="1F883D"/>
            </a:solidFill>
            <a:prstDash val="solid"/>
          </a:ln>
        </p:spPr>
      </p:sp>
      <p:sp>
        <p:nvSpPr>
          <p:cNvPr id="28" name="Text 26"/>
          <p:cNvSpPr/>
          <p:nvPr/>
        </p:nvSpPr>
        <p:spPr>
          <a:xfrm>
            <a:off x="6272784" y="2971800"/>
            <a:ext cx="98755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&lt;&gt; Code ▾</a:t>
            </a:r>
            <a:endParaRPr lang="en-US" sz="1000" dirty="0"/>
          </a:p>
        </p:txBody>
      </p:sp>
      <p:sp>
        <p:nvSpPr>
          <p:cNvPr id="29" name="Shape 27"/>
          <p:cNvSpPr/>
          <p:nvPr/>
        </p:nvSpPr>
        <p:spPr>
          <a:xfrm>
            <a:off x="731520" y="3429000"/>
            <a:ext cx="6583680" cy="384048"/>
          </a:xfrm>
          <a:prstGeom prst="rect">
            <a:avLst/>
          </a:prstGeom>
          <a:solidFill>
            <a:srgbClr val="F6F8FA"/>
          </a:solidFill>
          <a:ln w="6350">
            <a:solidFill>
              <a:srgbClr val="D0D7DE"/>
            </a:solidFill>
            <a:prstDash val="solid"/>
          </a:ln>
        </p:spPr>
      </p:sp>
      <p:sp>
        <p:nvSpPr>
          <p:cNvPr id="30" name="Text 28"/>
          <p:cNvSpPr/>
          <p:nvPr/>
        </p:nvSpPr>
        <p:spPr>
          <a:xfrm>
            <a:off x="868680" y="3429000"/>
            <a:ext cx="2743200" cy="384048"/>
          </a:xfrm>
          <a:prstGeom prst="rect">
            <a:avLst/>
          </a:prstGeom>
          <a:noFill/>
          <a:ln/>
        </p:spPr>
        <p:txBody>
          <a:bodyPr wrap="square" lIns="0" tIns="0" rIns="0" bIns="0" rtlCol="0" anchor="ctr"/>
          <a:lstStyle/>
          <a:p>
            <a:pPr indent="0" marL="0">
              <a:buNone/>
            </a:pPr>
            <a:r>
              <a:rPr lang="en-US" sz="1050" dirty="0">
                <a:solidFill>
                  <a:srgbClr val="24292F"/>
                </a:solidFill>
                <a:latin typeface="Yu Gothic" pitchFamily="34" charset="0"/>
                <a:ea typeface="Yu Gothic" pitchFamily="34" charset="-122"/>
                <a:cs typeface="Yu Gothic" pitchFamily="34" charset="-120"/>
              </a:rPr>
              <a:t>📄  README.md</a:t>
            </a:r>
            <a:endParaRPr lang="en-US" sz="1050" dirty="0"/>
          </a:p>
        </p:txBody>
      </p:sp>
      <p:sp>
        <p:nvSpPr>
          <p:cNvPr id="31" name="Shape 29"/>
          <p:cNvSpPr/>
          <p:nvPr/>
        </p:nvSpPr>
        <p:spPr>
          <a:xfrm>
            <a:off x="731520" y="3429000"/>
            <a:ext cx="1920240" cy="384048"/>
          </a:xfrm>
          <a:prstGeom prst="roundRect">
            <a:avLst>
              <a:gd name="adj" fmla="val 14286"/>
            </a:avLst>
          </a:prstGeom>
          <a:ln w="31750">
            <a:solidFill>
              <a:srgbClr val="E5484D"/>
            </a:solidFill>
            <a:prstDash val="solid"/>
          </a:ln>
        </p:spPr>
      </p:sp>
      <p:sp>
        <p:nvSpPr>
          <p:cNvPr id="32" name="Shape 30"/>
          <p:cNvSpPr/>
          <p:nvPr/>
        </p:nvSpPr>
        <p:spPr>
          <a:xfrm>
            <a:off x="576072" y="3273552"/>
            <a:ext cx="310896" cy="310896"/>
          </a:xfrm>
          <a:prstGeom prst="ellipse">
            <a:avLst/>
          </a:prstGeom>
          <a:solidFill>
            <a:srgbClr val="E5484D"/>
          </a:solidFill>
          <a:ln w="12700">
            <a:solidFill>
              <a:srgbClr val="FFFFFF"/>
            </a:solidFill>
            <a:prstDash val="solid"/>
          </a:ln>
        </p:spPr>
      </p:sp>
      <p:sp>
        <p:nvSpPr>
          <p:cNvPr id="33" name="Text 31"/>
          <p:cNvSpPr/>
          <p:nvPr/>
        </p:nvSpPr>
        <p:spPr>
          <a:xfrm>
            <a:off x="576072" y="32735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34" name="Text 32"/>
          <p:cNvSpPr/>
          <p:nvPr/>
        </p:nvSpPr>
        <p:spPr>
          <a:xfrm>
            <a:off x="868680" y="4069080"/>
            <a:ext cx="3657600" cy="411480"/>
          </a:xfrm>
          <a:prstGeom prst="rect">
            <a:avLst/>
          </a:prstGeom>
          <a:noFill/>
          <a:ln/>
        </p:spPr>
        <p:txBody>
          <a:bodyPr wrap="square" lIns="0" tIns="0" rIns="0" bIns="0" rtlCol="0" anchor="t"/>
          <a:lstStyle/>
          <a:p>
            <a:pPr indent="0" marL="0">
              <a:buNone/>
            </a:pPr>
            <a:r>
              <a:rPr lang="en-US" sz="1800" b="1" dirty="0">
                <a:solidFill>
                  <a:srgbClr val="24292F"/>
                </a:solidFill>
                <a:latin typeface="Yu Gothic" pitchFamily="34" charset="0"/>
                <a:ea typeface="Yu Gothic" pitchFamily="34" charset="-122"/>
                <a:cs typeface="Yu Gothic" pitchFamily="34" charset="-120"/>
              </a:rPr>
              <a:t>teisha-tool</a:t>
            </a:r>
            <a:endParaRPr lang="en-US" sz="1800" dirty="0"/>
          </a:p>
        </p:txBody>
      </p:sp>
      <p:sp>
        <p:nvSpPr>
          <p:cNvPr id="35" name="Shape 33"/>
          <p:cNvSpPr/>
          <p:nvPr/>
        </p:nvSpPr>
        <p:spPr>
          <a:xfrm>
            <a:off x="7818120" y="1618488"/>
            <a:ext cx="329184" cy="329184"/>
          </a:xfrm>
          <a:prstGeom prst="ellipse">
            <a:avLst/>
          </a:prstGeom>
          <a:solidFill>
            <a:srgbClr val="E5484D"/>
          </a:solidFill>
          <a:ln/>
        </p:spPr>
      </p:sp>
      <p:sp>
        <p:nvSpPr>
          <p:cNvPr id="36" name="Text 34"/>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7" name="Text 35"/>
          <p:cNvSpPr/>
          <p:nvPr/>
        </p:nvSpPr>
        <p:spPr>
          <a:xfrm>
            <a:off x="8275320" y="160020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名前の横に「Private」</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Public と出ていたら Settings から変更（講師に声をかけてください）</a:t>
            </a:r>
            <a:endParaRPr lang="en-US" sz="1400" dirty="0"/>
          </a:p>
        </p:txBody>
      </p:sp>
      <p:sp>
        <p:nvSpPr>
          <p:cNvPr id="38" name="Shape 36"/>
          <p:cNvSpPr/>
          <p:nvPr/>
        </p:nvSpPr>
        <p:spPr>
          <a:xfrm>
            <a:off x="7818120" y="2476849"/>
            <a:ext cx="329184" cy="329184"/>
          </a:xfrm>
          <a:prstGeom prst="ellipse">
            <a:avLst/>
          </a:prstGeom>
          <a:solidFill>
            <a:srgbClr val="E5484D"/>
          </a:solidFill>
          <a:ln/>
        </p:spPr>
      </p:sp>
      <p:sp>
        <p:nvSpPr>
          <p:cNvPr id="39" name="Text 37"/>
          <p:cNvSpPr/>
          <p:nvPr/>
        </p:nvSpPr>
        <p:spPr>
          <a:xfrm>
            <a:off x="7818120" y="247684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40" name="Text 38"/>
          <p:cNvSpPr/>
          <p:nvPr/>
        </p:nvSpPr>
        <p:spPr>
          <a:xfrm>
            <a:off x="8275320" y="2458561"/>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README.md が1つある</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Add README を On にしたので、ファイルが1つできています</a:t>
            </a:r>
            <a:endParaRPr lang="en-US" sz="1400" dirty="0"/>
          </a:p>
        </p:txBody>
      </p:sp>
      <p:sp>
        <p:nvSpPr>
          <p:cNvPr id="41" name="Shape 39"/>
          <p:cNvSpPr/>
          <p:nvPr/>
        </p:nvSpPr>
        <p:spPr>
          <a:xfrm>
            <a:off x="548640" y="5806440"/>
            <a:ext cx="11091672" cy="457200"/>
          </a:xfrm>
          <a:prstGeom prst="roundRect">
            <a:avLst>
              <a:gd name="adj" fmla="val 12000"/>
            </a:avLst>
          </a:prstGeom>
          <a:solidFill>
            <a:srgbClr val="EAF4EE"/>
          </a:solidFill>
          <a:ln/>
        </p:spPr>
      </p:sp>
      <p:sp>
        <p:nvSpPr>
          <p:cNvPr id="42" name="Shape 40"/>
          <p:cNvSpPr/>
          <p:nvPr/>
        </p:nvSpPr>
        <p:spPr>
          <a:xfrm>
            <a:off x="548640" y="5806440"/>
            <a:ext cx="73152" cy="457200"/>
          </a:xfrm>
          <a:prstGeom prst="rect">
            <a:avLst/>
          </a:prstGeom>
          <a:solidFill>
            <a:srgbClr val="2F7D5B"/>
          </a:solidFill>
          <a:ln/>
        </p:spPr>
      </p:sp>
      <p:sp>
        <p:nvSpPr>
          <p:cNvPr id="43" name="Text 41"/>
          <p:cNvSpPr/>
          <p:nvPr/>
        </p:nvSpPr>
        <p:spPr>
          <a:xfrm>
            <a:off x="777240" y="5806440"/>
            <a:ext cx="10725912" cy="457200"/>
          </a:xfrm>
          <a:prstGeom prst="rect">
            <a:avLst/>
          </a:prstGeom>
          <a:noFill/>
          <a:ln/>
        </p:spPr>
        <p:txBody>
          <a:bodyPr wrap="square" lIns="0" tIns="0" rIns="0" bIns="0" rtlCol="0" anchor="ctr"/>
          <a:lstStyle/>
          <a:p>
            <a:pPr indent="0" marL="0">
              <a:lnSpc>
                <a:spcPct val="110000"/>
              </a:lnSpc>
              <a:buNone/>
            </a:pPr>
            <a:r>
              <a:rPr lang="en-US" sz="1200" b="1" dirty="0">
                <a:solidFill>
                  <a:srgbClr val="2F7D5B"/>
                </a:solidFill>
                <a:latin typeface="Yu Gothic" pitchFamily="34" charset="0"/>
                <a:ea typeface="Yu Gothic" pitchFamily="34" charset="-122"/>
                <a:cs typeface="Yu Gothic" pitchFamily="34" charset="-120"/>
              </a:rPr>
              <a:t>✓ 確認ポイント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このページのURLは、あとで何度も開きます。Chrome のブックマークに登録しておきましょう</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第1部　STEP 3</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Claude のアカウントを作る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Claude の画面は、日本語表示のこともあります（英語／日本語を併記しています）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13</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https://claude.ai</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240280"/>
            <a:ext cx="6583680" cy="548640"/>
          </a:xfrm>
          <a:prstGeom prst="rect">
            <a:avLst/>
          </a:prstGeom>
          <a:noFill/>
          <a:ln/>
        </p:spPr>
        <p:txBody>
          <a:bodyPr wrap="square" lIns="0" tIns="0" rIns="0" bIns="0" rtlCol="0" anchor="t"/>
          <a:lstStyle/>
          <a:p>
            <a:pPr algn="ctr" indent="0" marL="0">
              <a:buNone/>
            </a:pPr>
            <a:r>
              <a:rPr lang="en-US" sz="2600" b="1" dirty="0">
                <a:solidFill>
                  <a:srgbClr val="C15F3C"/>
                </a:solidFill>
                <a:latin typeface="Yu Gothic" pitchFamily="34" charset="0"/>
                <a:ea typeface="Yu Gothic" pitchFamily="34" charset="-122"/>
                <a:cs typeface="Yu Gothic" pitchFamily="34" charset="-120"/>
              </a:rPr>
              <a:t>Claude</a:t>
            </a:r>
            <a:endParaRPr lang="en-US" sz="2600" dirty="0"/>
          </a:p>
        </p:txBody>
      </p:sp>
      <p:sp>
        <p:nvSpPr>
          <p:cNvPr id="17" name="Shape 15"/>
          <p:cNvSpPr/>
          <p:nvPr/>
        </p:nvSpPr>
        <p:spPr>
          <a:xfrm>
            <a:off x="2286000" y="3154680"/>
            <a:ext cx="3474720" cy="384048"/>
          </a:xfrm>
          <a:prstGeom prst="roundRect">
            <a:avLst>
              <a:gd name="adj" fmla="val 14286"/>
            </a:avLst>
          </a:prstGeom>
          <a:solidFill>
            <a:srgbClr val="FFFFFF"/>
          </a:solidFill>
          <a:ln w="9525">
            <a:solidFill>
              <a:srgbClr val="C9CED6"/>
            </a:solidFill>
            <a:prstDash val="solid"/>
          </a:ln>
        </p:spPr>
      </p:sp>
      <p:sp>
        <p:nvSpPr>
          <p:cNvPr id="18" name="Text 16"/>
          <p:cNvSpPr/>
          <p:nvPr/>
        </p:nvSpPr>
        <p:spPr>
          <a:xfrm>
            <a:off x="2340864" y="3154680"/>
            <a:ext cx="3364992" cy="384048"/>
          </a:xfrm>
          <a:prstGeom prst="rect">
            <a:avLst/>
          </a:prstGeom>
          <a:noFill/>
          <a:ln/>
        </p:spPr>
        <p:txBody>
          <a:bodyPr wrap="square" lIns="0" tIns="0" rIns="0" bIns="0" rtlCol="0" anchor="ctr"/>
          <a:lstStyle/>
          <a:p>
            <a:pPr algn="ctr" indent="0" marL="0">
              <a:buNone/>
            </a:pPr>
            <a:r>
              <a:rPr lang="en-US" sz="1050" dirty="0">
                <a:solidFill>
                  <a:srgbClr val="24292F"/>
                </a:solidFill>
                <a:latin typeface="Yu Gothic" pitchFamily="34" charset="0"/>
                <a:ea typeface="Yu Gothic" pitchFamily="34" charset="-122"/>
                <a:cs typeface="Yu Gothic" pitchFamily="34" charset="-120"/>
              </a:rPr>
              <a:t>G  Continue with Google（Googleで続ける）</a:t>
            </a:r>
            <a:endParaRPr lang="en-US" sz="1050" dirty="0"/>
          </a:p>
        </p:txBody>
      </p:sp>
      <p:sp>
        <p:nvSpPr>
          <p:cNvPr id="19" name="Text 17"/>
          <p:cNvSpPr/>
          <p:nvPr/>
        </p:nvSpPr>
        <p:spPr>
          <a:xfrm>
            <a:off x="2286000" y="3657600"/>
            <a:ext cx="3474720" cy="228600"/>
          </a:xfrm>
          <a:prstGeom prst="rect">
            <a:avLst/>
          </a:prstGeom>
          <a:noFill/>
          <a:ln/>
        </p:spPr>
        <p:txBody>
          <a:bodyPr wrap="square" lIns="0" tIns="0" rIns="0" bIns="0" rtlCol="0" anchor="t"/>
          <a:lstStyle/>
          <a:p>
            <a:pPr algn="ctr" indent="0" marL="0">
              <a:buNone/>
            </a:pPr>
            <a:r>
              <a:rPr lang="en-US" sz="900" dirty="0">
                <a:solidFill>
                  <a:srgbClr val="8C8C8C"/>
                </a:solidFill>
                <a:latin typeface="Yu Gothic" pitchFamily="34" charset="0"/>
                <a:ea typeface="Yu Gothic" pitchFamily="34" charset="-122"/>
                <a:cs typeface="Yu Gothic" pitchFamily="34" charset="-120"/>
              </a:rPr>
              <a:t>または</a:t>
            </a:r>
            <a:endParaRPr lang="en-US" sz="900" dirty="0"/>
          </a:p>
        </p:txBody>
      </p:sp>
      <p:sp>
        <p:nvSpPr>
          <p:cNvPr id="20" name="Shape 18"/>
          <p:cNvSpPr/>
          <p:nvPr/>
        </p:nvSpPr>
        <p:spPr>
          <a:xfrm>
            <a:off x="2286000" y="3977640"/>
            <a:ext cx="3474720" cy="384048"/>
          </a:xfrm>
          <a:prstGeom prst="roundRect">
            <a:avLst>
              <a:gd name="adj" fmla="val 14286"/>
            </a:avLst>
          </a:prstGeom>
          <a:solidFill>
            <a:srgbClr val="FFFFFF"/>
          </a:solidFill>
          <a:ln w="9525">
            <a:solidFill>
              <a:srgbClr val="C9CED6"/>
            </a:solidFill>
            <a:prstDash val="solid"/>
          </a:ln>
        </p:spPr>
      </p:sp>
      <p:sp>
        <p:nvSpPr>
          <p:cNvPr id="21" name="Text 19"/>
          <p:cNvSpPr/>
          <p:nvPr/>
        </p:nvSpPr>
        <p:spPr>
          <a:xfrm>
            <a:off x="2340864" y="3977640"/>
            <a:ext cx="3364992" cy="384048"/>
          </a:xfrm>
          <a:prstGeom prst="rect">
            <a:avLst/>
          </a:prstGeom>
          <a:noFill/>
          <a:ln/>
        </p:spPr>
        <p:txBody>
          <a:bodyPr wrap="square" lIns="0" tIns="0" rIns="0" bIns="0" rtlCol="0" anchor="ctr"/>
          <a:lstStyle/>
          <a:p>
            <a:pPr algn="l" indent="0" marL="0">
              <a:buNone/>
            </a:pPr>
            <a:r>
              <a:rPr lang="en-US" sz="1050" dirty="0">
                <a:solidFill>
                  <a:srgbClr val="8C8C8C"/>
                </a:solidFill>
                <a:latin typeface="Yu Gothic" pitchFamily="34" charset="0"/>
                <a:ea typeface="Yu Gothic" pitchFamily="34" charset="-122"/>
                <a:cs typeface="Yu Gothic" pitchFamily="34" charset="-120"/>
              </a:rPr>
              <a:t>メールアドレスを入力</a:t>
            </a:r>
            <a:endParaRPr lang="en-US" sz="1050" dirty="0"/>
          </a:p>
        </p:txBody>
      </p:sp>
      <p:sp>
        <p:nvSpPr>
          <p:cNvPr id="22" name="Shape 20"/>
          <p:cNvSpPr/>
          <p:nvPr/>
        </p:nvSpPr>
        <p:spPr>
          <a:xfrm>
            <a:off x="2286000" y="4480560"/>
            <a:ext cx="3474720" cy="384048"/>
          </a:xfrm>
          <a:prstGeom prst="roundRect">
            <a:avLst>
              <a:gd name="adj" fmla="val 14286"/>
            </a:avLst>
          </a:prstGeom>
          <a:solidFill>
            <a:srgbClr val="1F1F1F"/>
          </a:solidFill>
          <a:ln w="9525">
            <a:solidFill>
              <a:srgbClr val="1F1F1F"/>
            </a:solidFill>
            <a:prstDash val="solid"/>
          </a:ln>
        </p:spPr>
      </p:sp>
      <p:sp>
        <p:nvSpPr>
          <p:cNvPr id="23" name="Text 21"/>
          <p:cNvSpPr/>
          <p:nvPr/>
        </p:nvSpPr>
        <p:spPr>
          <a:xfrm>
            <a:off x="2340864" y="4480560"/>
            <a:ext cx="3364992" cy="384048"/>
          </a:xfrm>
          <a:prstGeom prst="rect">
            <a:avLst/>
          </a:prstGeom>
          <a:noFill/>
          <a:ln/>
        </p:spPr>
        <p:txBody>
          <a:bodyPr wrap="square" lIns="0" tIns="0" rIns="0" bIns="0" rtlCol="0" anchor="ctr"/>
          <a:lstStyle/>
          <a:p>
            <a:pPr algn="ctr" indent="0" marL="0">
              <a:buNone/>
            </a:pPr>
            <a:r>
              <a:rPr lang="en-US" sz="1050" dirty="0">
                <a:solidFill>
                  <a:srgbClr val="FFFFFF"/>
                </a:solidFill>
                <a:latin typeface="Yu Gothic" pitchFamily="34" charset="0"/>
                <a:ea typeface="Yu Gothic" pitchFamily="34" charset="-122"/>
                <a:cs typeface="Yu Gothic" pitchFamily="34" charset="-120"/>
              </a:rPr>
              <a:t>Continue with email（メールで続ける）</a:t>
            </a:r>
            <a:endParaRPr lang="en-US" sz="1050" dirty="0"/>
          </a:p>
        </p:txBody>
      </p:sp>
      <p:sp>
        <p:nvSpPr>
          <p:cNvPr id="24" name="Shape 22"/>
          <p:cNvSpPr/>
          <p:nvPr/>
        </p:nvSpPr>
        <p:spPr>
          <a:xfrm>
            <a:off x="2240280" y="3108960"/>
            <a:ext cx="3566160" cy="475488"/>
          </a:xfrm>
          <a:prstGeom prst="roundRect">
            <a:avLst>
              <a:gd name="adj" fmla="val 11538"/>
            </a:avLst>
          </a:prstGeom>
          <a:ln w="31750">
            <a:solidFill>
              <a:srgbClr val="E5484D"/>
            </a:solidFill>
            <a:prstDash val="solid"/>
          </a:ln>
        </p:spPr>
      </p:sp>
      <p:sp>
        <p:nvSpPr>
          <p:cNvPr id="25" name="Shape 23"/>
          <p:cNvSpPr/>
          <p:nvPr/>
        </p:nvSpPr>
        <p:spPr>
          <a:xfrm>
            <a:off x="2084832" y="2953512"/>
            <a:ext cx="310896" cy="310896"/>
          </a:xfrm>
          <a:prstGeom prst="ellipse">
            <a:avLst/>
          </a:prstGeom>
          <a:solidFill>
            <a:srgbClr val="E5484D"/>
          </a:solidFill>
          <a:ln w="12700">
            <a:solidFill>
              <a:srgbClr val="FFFFFF"/>
            </a:solidFill>
            <a:prstDash val="solid"/>
          </a:ln>
        </p:spPr>
      </p:sp>
      <p:sp>
        <p:nvSpPr>
          <p:cNvPr id="26" name="Text 24"/>
          <p:cNvSpPr/>
          <p:nvPr/>
        </p:nvSpPr>
        <p:spPr>
          <a:xfrm>
            <a:off x="2084832" y="29535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7" name="Shape 25"/>
          <p:cNvSpPr/>
          <p:nvPr/>
        </p:nvSpPr>
        <p:spPr>
          <a:xfrm>
            <a:off x="2240280" y="3931920"/>
            <a:ext cx="3566160" cy="978408"/>
          </a:xfrm>
          <a:prstGeom prst="roundRect">
            <a:avLst>
              <a:gd name="adj" fmla="val 5607"/>
            </a:avLst>
          </a:prstGeom>
          <a:ln w="31750">
            <a:solidFill>
              <a:srgbClr val="E5484D"/>
            </a:solidFill>
            <a:prstDash val="solid"/>
          </a:ln>
        </p:spPr>
      </p:sp>
      <p:sp>
        <p:nvSpPr>
          <p:cNvPr id="28" name="Shape 26"/>
          <p:cNvSpPr/>
          <p:nvPr/>
        </p:nvSpPr>
        <p:spPr>
          <a:xfrm>
            <a:off x="2084832" y="3776472"/>
            <a:ext cx="310896" cy="310896"/>
          </a:xfrm>
          <a:prstGeom prst="ellipse">
            <a:avLst/>
          </a:prstGeom>
          <a:solidFill>
            <a:srgbClr val="E5484D"/>
          </a:solidFill>
          <a:ln w="12700">
            <a:solidFill>
              <a:srgbClr val="FFFFFF"/>
            </a:solidFill>
            <a:prstDash val="solid"/>
          </a:ln>
        </p:spPr>
      </p:sp>
      <p:sp>
        <p:nvSpPr>
          <p:cNvPr id="29" name="Text 27"/>
          <p:cNvSpPr/>
          <p:nvPr/>
        </p:nvSpPr>
        <p:spPr>
          <a:xfrm>
            <a:off x="2084832" y="3776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30" name="Shape 28"/>
          <p:cNvSpPr/>
          <p:nvPr/>
        </p:nvSpPr>
        <p:spPr>
          <a:xfrm>
            <a:off x="7818120" y="1618488"/>
            <a:ext cx="329184" cy="329184"/>
          </a:xfrm>
          <a:prstGeom prst="ellipse">
            <a:avLst/>
          </a:prstGeom>
          <a:solidFill>
            <a:srgbClr val="E5484D"/>
          </a:solidFill>
          <a:ln/>
        </p:spPr>
      </p:sp>
      <p:sp>
        <p:nvSpPr>
          <p:cNvPr id="31" name="Text 29"/>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2" name="Text 30"/>
          <p:cNvSpPr/>
          <p:nvPr/>
        </p:nvSpPr>
        <p:spPr>
          <a:xfrm>
            <a:off x="8275320" y="160020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claude.ai を開く</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Google アカウントで続けるか（①）、メールアドレスで続けるか（②）を選ぶ</a:t>
            </a:r>
            <a:endParaRPr lang="en-US" sz="1400" dirty="0"/>
          </a:p>
        </p:txBody>
      </p:sp>
      <p:sp>
        <p:nvSpPr>
          <p:cNvPr id="33" name="Shape 31"/>
          <p:cNvSpPr/>
          <p:nvPr/>
        </p:nvSpPr>
        <p:spPr>
          <a:xfrm>
            <a:off x="7818120" y="2476849"/>
            <a:ext cx="329184" cy="329184"/>
          </a:xfrm>
          <a:prstGeom prst="ellipse">
            <a:avLst/>
          </a:prstGeom>
          <a:solidFill>
            <a:srgbClr val="E5484D"/>
          </a:solidFill>
          <a:ln/>
        </p:spPr>
      </p:sp>
      <p:sp>
        <p:nvSpPr>
          <p:cNvPr id="34" name="Text 32"/>
          <p:cNvSpPr/>
          <p:nvPr/>
        </p:nvSpPr>
        <p:spPr>
          <a:xfrm>
            <a:off x="7818120" y="247684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35" name="Text 33"/>
          <p:cNvSpPr/>
          <p:nvPr/>
        </p:nvSpPr>
        <p:spPr>
          <a:xfrm>
            <a:off x="8275320" y="2458561"/>
            <a:ext cx="3364992" cy="967645"/>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メールの場合：届いたリンク／コードで確認</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受信メールのボタンを押すか、6桁ほどのコードを入力</a:t>
            </a:r>
            <a:endParaRPr lang="en-US" sz="1400" dirty="0"/>
          </a:p>
        </p:txBody>
      </p:sp>
      <p:sp>
        <p:nvSpPr>
          <p:cNvPr id="36" name="Shape 34"/>
          <p:cNvSpPr/>
          <p:nvPr/>
        </p:nvSpPr>
        <p:spPr>
          <a:xfrm>
            <a:off x="7818120" y="3590798"/>
            <a:ext cx="329184" cy="329184"/>
          </a:xfrm>
          <a:prstGeom prst="ellipse">
            <a:avLst/>
          </a:prstGeom>
          <a:solidFill>
            <a:srgbClr val="B08D47"/>
          </a:solidFill>
          <a:ln/>
        </p:spPr>
      </p:sp>
      <p:sp>
        <p:nvSpPr>
          <p:cNvPr id="37" name="Text 35"/>
          <p:cNvSpPr/>
          <p:nvPr/>
        </p:nvSpPr>
        <p:spPr>
          <a:xfrm>
            <a:off x="7818120" y="359079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38" name="Text 36"/>
          <p:cNvSpPr/>
          <p:nvPr/>
        </p:nvSpPr>
        <p:spPr>
          <a:xfrm>
            <a:off x="8275320" y="357251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名前などを入力して完了</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利用規約は、自分で内容を読んでから同意してください</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第1部　STEP 4</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Claude Code が使えるプランにする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Claude Code（AIにプログラムを書いてもらう機能）は有料プランで使えます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14</a:t>
            </a:r>
            <a:endParaRPr lang="en-US" sz="900" dirty="0"/>
          </a:p>
        </p:txBody>
      </p:sp>
      <p:sp>
        <p:nvSpPr>
          <p:cNvPr id="8" name="Shape 6"/>
          <p:cNvSpPr/>
          <p:nvPr/>
        </p:nvSpPr>
        <p:spPr>
          <a:xfrm>
            <a:off x="548640" y="1645920"/>
            <a:ext cx="5440680" cy="2926080"/>
          </a:xfrm>
          <a:prstGeom prst="roundRect">
            <a:avLst>
              <a:gd name="adj" fmla="val 3125"/>
            </a:avLst>
          </a:prstGeom>
          <a:solidFill>
            <a:srgbClr val="FFFFFF"/>
          </a:solidFill>
          <a:ln w="25400">
            <a:solidFill>
              <a:srgbClr val="B08D47"/>
            </a:solidFill>
            <a:prstDash val="solid"/>
          </a:ln>
        </p:spPr>
      </p:sp>
      <p:sp>
        <p:nvSpPr>
          <p:cNvPr id="9" name="Text 7"/>
          <p:cNvSpPr/>
          <p:nvPr/>
        </p:nvSpPr>
        <p:spPr>
          <a:xfrm>
            <a:off x="822960" y="1874520"/>
            <a:ext cx="4892040" cy="320040"/>
          </a:xfrm>
          <a:prstGeom prst="rect">
            <a:avLst/>
          </a:prstGeom>
          <a:noFill/>
          <a:ln/>
        </p:spPr>
        <p:txBody>
          <a:bodyPr wrap="square" lIns="0" tIns="0" rIns="0" bIns="0" rtlCol="0" anchor="t"/>
          <a:lstStyle/>
          <a:p>
            <a:pPr indent="0" marL="0">
              <a:buNone/>
            </a:pPr>
            <a:r>
              <a:rPr lang="en-US" sz="1300" b="1" dirty="0">
                <a:solidFill>
                  <a:srgbClr val="B08D47"/>
                </a:solidFill>
                <a:latin typeface="Yu Gothic" pitchFamily="34" charset="0"/>
                <a:ea typeface="Yu Gothic" pitchFamily="34" charset="-122"/>
                <a:cs typeface="Yu Gothic" pitchFamily="34" charset="-120"/>
              </a:rPr>
              <a:t>個人で始める</a:t>
            </a:r>
            <a:endParaRPr lang="en-US" sz="1300" dirty="0"/>
          </a:p>
        </p:txBody>
      </p:sp>
      <p:sp>
        <p:nvSpPr>
          <p:cNvPr id="10" name="Text 8"/>
          <p:cNvSpPr/>
          <p:nvPr/>
        </p:nvSpPr>
        <p:spPr>
          <a:xfrm>
            <a:off x="822960" y="2240280"/>
            <a:ext cx="4892040" cy="502920"/>
          </a:xfrm>
          <a:prstGeom prst="rect">
            <a:avLst/>
          </a:prstGeom>
          <a:noFill/>
          <a:ln/>
        </p:spPr>
        <p:txBody>
          <a:bodyPr wrap="square" lIns="0" tIns="0" rIns="0" bIns="0" rtlCol="0" anchor="t"/>
          <a:lstStyle/>
          <a:p>
            <a:pPr indent="0" marL="0">
              <a:buNone/>
            </a:pPr>
            <a:r>
              <a:rPr lang="en-US" sz="2200" b="1" dirty="0">
                <a:solidFill>
                  <a:srgbClr val="1F2A28"/>
                </a:solidFill>
                <a:latin typeface="Yu Gothic" pitchFamily="34" charset="0"/>
                <a:ea typeface="Yu Gothic" pitchFamily="34" charset="-122"/>
                <a:cs typeface="Yu Gothic" pitchFamily="34" charset="-120"/>
              </a:rPr>
              <a:t>Pro（または Max）</a:t>
            </a:r>
            <a:endParaRPr lang="en-US" sz="2200" dirty="0"/>
          </a:p>
        </p:txBody>
      </p:sp>
      <p:sp>
        <p:nvSpPr>
          <p:cNvPr id="11" name="Text 9"/>
          <p:cNvSpPr/>
          <p:nvPr/>
        </p:nvSpPr>
        <p:spPr>
          <a:xfrm>
            <a:off x="822960" y="2880360"/>
            <a:ext cx="4892040" cy="1554480"/>
          </a:xfrm>
          <a:prstGeom prst="rect">
            <a:avLst/>
          </a:prstGeom>
          <a:noFill/>
          <a:ln/>
        </p:spPr>
        <p:txBody>
          <a:bodyPr wrap="square" lIns="0" tIns="0" rIns="0" bIns="0" rtlCol="0" anchor="t"/>
          <a:lstStyle/>
          <a:p>
            <a:pPr indent="0" marL="0">
              <a:lnSpc>
                <a:spcPct val="135000"/>
              </a:lnSpc>
              <a:buNone/>
            </a:pPr>
            <a:r>
              <a:rPr lang="en-US" sz="1300" dirty="0">
                <a:solidFill>
                  <a:srgbClr val="3E3E3B"/>
                </a:solidFill>
                <a:latin typeface="Yu Gothic" pitchFamily="34" charset="0"/>
                <a:ea typeface="Yu Gothic" pitchFamily="34" charset="-122"/>
                <a:cs typeface="Yu Gothic" pitchFamily="34" charset="-120"/>
              </a:rPr>
              <a:t>claude.ai の画面で「Upgrade（アップグレード）」を押し、Pro を選んで支払い手続き。</a:t>
            </a:r>
            <a:endParaRPr lang="en-US" sz="1300" dirty="0"/>
          </a:p>
          <a:p>
            <a:pPr indent="0" marL="0">
              <a:lnSpc>
                <a:spcPct val="135000"/>
              </a:lnSpc>
              <a:buNone/>
            </a:pPr>
            <a:r>
              <a:rPr lang="en-US" sz="1300" dirty="0">
                <a:solidFill>
                  <a:srgbClr val="3E3E3B"/>
                </a:solidFill>
                <a:latin typeface="Yu Gothic" pitchFamily="34" charset="0"/>
                <a:ea typeface="Yu Gothic" pitchFamily="34" charset="-122"/>
                <a:cs typeface="Yu Gothic" pitchFamily="34" charset="-120"/>
              </a:rPr>
              <a:t>会社の経費ルールに従ってください。</a:t>
            </a:r>
            <a:endParaRPr lang="en-US" sz="1300" dirty="0"/>
          </a:p>
        </p:txBody>
      </p:sp>
      <p:sp>
        <p:nvSpPr>
          <p:cNvPr id="12" name="Shape 10"/>
          <p:cNvSpPr/>
          <p:nvPr/>
        </p:nvSpPr>
        <p:spPr>
          <a:xfrm>
            <a:off x="6172200" y="1645920"/>
            <a:ext cx="5440680" cy="2926080"/>
          </a:xfrm>
          <a:prstGeom prst="roundRect">
            <a:avLst>
              <a:gd name="adj" fmla="val 3125"/>
            </a:avLst>
          </a:prstGeom>
          <a:solidFill>
            <a:srgbClr val="FFFFFF"/>
          </a:solidFill>
          <a:ln w="25400">
            <a:solidFill>
              <a:srgbClr val="3C5A4F"/>
            </a:solidFill>
            <a:prstDash val="solid"/>
          </a:ln>
        </p:spPr>
      </p:sp>
      <p:sp>
        <p:nvSpPr>
          <p:cNvPr id="13" name="Text 11"/>
          <p:cNvSpPr/>
          <p:nvPr/>
        </p:nvSpPr>
        <p:spPr>
          <a:xfrm>
            <a:off x="6446520" y="1874520"/>
            <a:ext cx="4892040" cy="320040"/>
          </a:xfrm>
          <a:prstGeom prst="rect">
            <a:avLst/>
          </a:prstGeom>
          <a:noFill/>
          <a:ln/>
        </p:spPr>
        <p:txBody>
          <a:bodyPr wrap="square" lIns="0" tIns="0" rIns="0" bIns="0" rtlCol="0" anchor="t"/>
          <a:lstStyle/>
          <a:p>
            <a:pPr indent="0" marL="0">
              <a:buNone/>
            </a:pPr>
            <a:r>
              <a:rPr lang="en-US" sz="1300" b="1" dirty="0">
                <a:solidFill>
                  <a:srgbClr val="3C5A4F"/>
                </a:solidFill>
                <a:latin typeface="Yu Gothic" pitchFamily="34" charset="0"/>
                <a:ea typeface="Yu Gothic" pitchFamily="34" charset="-122"/>
                <a:cs typeface="Yu Gothic" pitchFamily="34" charset="-120"/>
              </a:rPr>
              <a:t>会社で契約している</a:t>
            </a:r>
            <a:endParaRPr lang="en-US" sz="1300" dirty="0"/>
          </a:p>
        </p:txBody>
      </p:sp>
      <p:sp>
        <p:nvSpPr>
          <p:cNvPr id="14" name="Text 12"/>
          <p:cNvSpPr/>
          <p:nvPr/>
        </p:nvSpPr>
        <p:spPr>
          <a:xfrm>
            <a:off x="6446520" y="2240280"/>
            <a:ext cx="4892040" cy="502920"/>
          </a:xfrm>
          <a:prstGeom prst="rect">
            <a:avLst/>
          </a:prstGeom>
          <a:noFill/>
          <a:ln/>
        </p:spPr>
        <p:txBody>
          <a:bodyPr wrap="square" lIns="0" tIns="0" rIns="0" bIns="0" rtlCol="0" anchor="t"/>
          <a:lstStyle/>
          <a:p>
            <a:pPr indent="0" marL="0">
              <a:buNone/>
            </a:pPr>
            <a:r>
              <a:rPr lang="en-US" sz="2200" b="1" dirty="0">
                <a:solidFill>
                  <a:srgbClr val="1F2A28"/>
                </a:solidFill>
                <a:latin typeface="Yu Gothic" pitchFamily="34" charset="0"/>
                <a:ea typeface="Yu Gothic" pitchFamily="34" charset="-122"/>
                <a:cs typeface="Yu Gothic" pitchFamily="34" charset="-120"/>
              </a:rPr>
              <a:t>Team / Enterprise</a:t>
            </a:r>
            <a:endParaRPr lang="en-US" sz="2200" dirty="0"/>
          </a:p>
        </p:txBody>
      </p:sp>
      <p:sp>
        <p:nvSpPr>
          <p:cNvPr id="15" name="Text 13"/>
          <p:cNvSpPr/>
          <p:nvPr/>
        </p:nvSpPr>
        <p:spPr>
          <a:xfrm>
            <a:off x="6446520" y="2880360"/>
            <a:ext cx="4892040" cy="1554480"/>
          </a:xfrm>
          <a:prstGeom prst="rect">
            <a:avLst/>
          </a:prstGeom>
          <a:noFill/>
          <a:ln/>
        </p:spPr>
        <p:txBody>
          <a:bodyPr wrap="square" lIns="0" tIns="0" rIns="0" bIns="0" rtlCol="0" anchor="t"/>
          <a:lstStyle/>
          <a:p>
            <a:pPr indent="0" marL="0">
              <a:lnSpc>
                <a:spcPct val="135000"/>
              </a:lnSpc>
              <a:buNone/>
            </a:pPr>
            <a:r>
              <a:rPr lang="en-US" sz="1300" dirty="0">
                <a:solidFill>
                  <a:srgbClr val="3E3E3B"/>
                </a:solidFill>
                <a:latin typeface="Yu Gothic" pitchFamily="34" charset="0"/>
                <a:ea typeface="Yu Gothic" pitchFamily="34" charset="-122"/>
                <a:cs typeface="Yu Gothic" pitchFamily="34" charset="-120"/>
              </a:rPr>
              <a:t>管理者に「Claude Code を使えるか」を確認。</a:t>
            </a:r>
            <a:endParaRPr lang="en-US" sz="1300" dirty="0"/>
          </a:p>
          <a:p>
            <a:pPr indent="0" marL="0">
              <a:lnSpc>
                <a:spcPct val="135000"/>
              </a:lnSpc>
              <a:buNone/>
            </a:pPr>
            <a:r>
              <a:rPr lang="en-US" sz="1300" dirty="0">
                <a:solidFill>
                  <a:srgbClr val="3E3E3B"/>
                </a:solidFill>
                <a:latin typeface="Yu Gothic" pitchFamily="34" charset="0"/>
                <a:ea typeface="Yu Gothic" pitchFamily="34" charset="-122"/>
                <a:cs typeface="Yu Gothic" pitchFamily="34" charset="-120"/>
              </a:rPr>
              <a:t>GitHub の連携を管理者が有効にする必要があります（→ STEP 7 の注意）。</a:t>
            </a:r>
            <a:endParaRPr lang="en-US" sz="1300" dirty="0"/>
          </a:p>
        </p:txBody>
      </p:sp>
      <p:sp>
        <p:nvSpPr>
          <p:cNvPr id="16" name="Shape 14"/>
          <p:cNvSpPr/>
          <p:nvPr/>
        </p:nvSpPr>
        <p:spPr>
          <a:xfrm>
            <a:off x="548640" y="4800600"/>
            <a:ext cx="11091672" cy="548640"/>
          </a:xfrm>
          <a:prstGeom prst="roundRect">
            <a:avLst>
              <a:gd name="adj" fmla="val 10000"/>
            </a:avLst>
          </a:prstGeom>
          <a:solidFill>
            <a:srgbClr val="EAF4EE"/>
          </a:solidFill>
          <a:ln/>
        </p:spPr>
      </p:sp>
      <p:sp>
        <p:nvSpPr>
          <p:cNvPr id="17" name="Shape 15"/>
          <p:cNvSpPr/>
          <p:nvPr/>
        </p:nvSpPr>
        <p:spPr>
          <a:xfrm>
            <a:off x="548640" y="4800600"/>
            <a:ext cx="73152" cy="548640"/>
          </a:xfrm>
          <a:prstGeom prst="rect">
            <a:avLst/>
          </a:prstGeom>
          <a:solidFill>
            <a:srgbClr val="2F7D5B"/>
          </a:solidFill>
          <a:ln/>
        </p:spPr>
      </p:sp>
      <p:sp>
        <p:nvSpPr>
          <p:cNvPr id="18" name="Text 16"/>
          <p:cNvSpPr/>
          <p:nvPr/>
        </p:nvSpPr>
        <p:spPr>
          <a:xfrm>
            <a:off x="777240" y="4800600"/>
            <a:ext cx="10725912" cy="548640"/>
          </a:xfrm>
          <a:prstGeom prst="rect">
            <a:avLst/>
          </a:prstGeom>
          <a:noFill/>
          <a:ln/>
        </p:spPr>
        <p:txBody>
          <a:bodyPr wrap="square" lIns="0" tIns="0" rIns="0" bIns="0" rtlCol="0" anchor="ctr"/>
          <a:lstStyle/>
          <a:p>
            <a:pPr indent="0" marL="0">
              <a:lnSpc>
                <a:spcPct val="110000"/>
              </a:lnSpc>
              <a:buNone/>
            </a:pPr>
            <a:r>
              <a:rPr lang="en-US" sz="1250" b="1" dirty="0">
                <a:solidFill>
                  <a:srgbClr val="2F7D5B"/>
                </a:solidFill>
                <a:latin typeface="Yu Gothic" pitchFamily="34" charset="0"/>
                <a:ea typeface="Yu Gothic" pitchFamily="34" charset="-122"/>
                <a:cs typeface="Yu Gothic" pitchFamily="34" charset="-120"/>
              </a:rPr>
              <a:t>✓ 確認ポイント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左下（または右上）のアカウント名の近くに「Pro」などのプラン名が出ていれば準備完了です</a:t>
            </a:r>
            <a:endParaRPr lang="en-US" sz="1250" dirty="0"/>
          </a:p>
        </p:txBody>
      </p:sp>
      <p:sp>
        <p:nvSpPr>
          <p:cNvPr id="19" name="Shape 17"/>
          <p:cNvSpPr/>
          <p:nvPr/>
        </p:nvSpPr>
        <p:spPr>
          <a:xfrm>
            <a:off x="548640" y="5486400"/>
            <a:ext cx="11091672" cy="548640"/>
          </a:xfrm>
          <a:prstGeom prst="roundRect">
            <a:avLst>
              <a:gd name="adj" fmla="val 10000"/>
            </a:avLst>
          </a:prstGeom>
          <a:solidFill>
            <a:srgbClr val="FBEFEC"/>
          </a:solidFill>
          <a:ln/>
        </p:spPr>
      </p:sp>
      <p:sp>
        <p:nvSpPr>
          <p:cNvPr id="20" name="Shape 18"/>
          <p:cNvSpPr/>
          <p:nvPr/>
        </p:nvSpPr>
        <p:spPr>
          <a:xfrm>
            <a:off x="548640" y="5486400"/>
            <a:ext cx="73152" cy="548640"/>
          </a:xfrm>
          <a:prstGeom prst="rect">
            <a:avLst/>
          </a:prstGeom>
          <a:solidFill>
            <a:srgbClr val="9A4A3A"/>
          </a:solidFill>
          <a:ln/>
        </p:spPr>
      </p:sp>
      <p:sp>
        <p:nvSpPr>
          <p:cNvPr id="21" name="Text 19"/>
          <p:cNvSpPr/>
          <p:nvPr/>
        </p:nvSpPr>
        <p:spPr>
          <a:xfrm>
            <a:off x="777240" y="5486400"/>
            <a:ext cx="10725912" cy="548640"/>
          </a:xfrm>
          <a:prstGeom prst="rect">
            <a:avLst/>
          </a:prstGeom>
          <a:noFill/>
          <a:ln/>
        </p:spPr>
        <p:txBody>
          <a:bodyPr wrap="square" lIns="0" tIns="0" rIns="0" bIns="0" rtlCol="0" anchor="ctr"/>
          <a:lstStyle/>
          <a:p>
            <a:pPr indent="0" marL="0">
              <a:lnSpc>
                <a:spcPct val="110000"/>
              </a:lnSpc>
              <a:buNone/>
            </a:pPr>
            <a:r>
              <a:rPr lang="en-US" sz="1250" b="1" dirty="0">
                <a:solidFill>
                  <a:srgbClr val="9A4A3A"/>
                </a:solidFill>
                <a:latin typeface="Yu Gothic" pitchFamily="34" charset="0"/>
                <a:ea typeface="Yu Gothic" pitchFamily="34" charset="-122"/>
                <a:cs typeface="Yu Gothic" pitchFamily="34" charset="-120"/>
              </a:rPr>
              <a:t>⚠ 注意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無料プランでは Claude Code が使えません。プランや料金は変わることがあるので、申込時に画面で確認してください</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E2B"/>
        </a:solidFill>
      </p:bgPr>
    </p:bg>
    <p:spTree>
      <p:nvGrpSpPr>
        <p:cNvPr id="1" name=""/>
        <p:cNvGrpSpPr/>
        <p:nvPr/>
      </p:nvGrpSpPr>
      <p:grpSpPr>
        <a:xfrm>
          <a:off x="0" y="0"/>
          <a:ext cx="0" cy="0"/>
          <a:chOff x="0" y="0"/>
          <a:chExt cx="0" cy="0"/>
        </a:xfrm>
      </p:grpSpPr>
      <p:sp>
        <p:nvSpPr>
          <p:cNvPr id="2" name="Text 0"/>
          <p:cNvSpPr/>
          <p:nvPr/>
        </p:nvSpPr>
        <p:spPr>
          <a:xfrm>
            <a:off x="914400" y="2194560"/>
            <a:ext cx="5486400" cy="457200"/>
          </a:xfrm>
          <a:prstGeom prst="rect">
            <a:avLst/>
          </a:prstGeom>
          <a:noFill/>
          <a:ln/>
        </p:spPr>
        <p:txBody>
          <a:bodyPr wrap="square" lIns="0" tIns="0" rIns="0" bIns="0" rtlCol="0" anchor="t"/>
          <a:lstStyle/>
          <a:p>
            <a:pPr indent="0" marL="0">
              <a:buNone/>
            </a:pPr>
            <a:r>
              <a:rPr lang="en-US" sz="1800" b="1" dirty="0">
                <a:solidFill>
                  <a:srgbClr val="CBB07A"/>
                </a:solidFill>
                <a:latin typeface="Yu Gothic" pitchFamily="34" charset="0"/>
                <a:ea typeface="Yu Gothic" pitchFamily="34" charset="-122"/>
                <a:cs typeface="Yu Gothic" pitchFamily="34" charset="-120"/>
              </a:rPr>
              <a:t>第2部</a:t>
            </a:r>
            <a:endParaRPr lang="en-US" sz="1800" dirty="0"/>
          </a:p>
        </p:txBody>
      </p:sp>
      <p:sp>
        <p:nvSpPr>
          <p:cNvPr id="3" name="Text 1"/>
          <p:cNvSpPr/>
          <p:nvPr/>
        </p:nvSpPr>
        <p:spPr>
          <a:xfrm>
            <a:off x="914400" y="2697480"/>
            <a:ext cx="10058400" cy="822960"/>
          </a:xfrm>
          <a:prstGeom prst="rect">
            <a:avLst/>
          </a:prstGeom>
          <a:noFill/>
          <a:ln/>
        </p:spPr>
        <p:txBody>
          <a:bodyPr wrap="square" lIns="0" tIns="0" rIns="0" bIns="0" rtlCol="0" anchor="t"/>
          <a:lstStyle/>
          <a:p>
            <a:pPr indent="0" marL="0">
              <a:buNone/>
            </a:pPr>
            <a:r>
              <a:rPr lang="en-US" sz="3600" b="1" dirty="0">
                <a:solidFill>
                  <a:srgbClr val="FFFFFF"/>
                </a:solidFill>
                <a:latin typeface="Yu Gothic" pitchFamily="34" charset="0"/>
                <a:ea typeface="Yu Gothic" pitchFamily="34" charset="-122"/>
                <a:cs typeface="Yu Gothic" pitchFamily="34" charset="-120"/>
              </a:rPr>
              <a:t>つなぐ ─ Claude と GitHub の連携</a:t>
            </a:r>
            <a:endParaRPr lang="en-US" sz="3600" dirty="0"/>
          </a:p>
        </p:txBody>
      </p:sp>
      <p:sp>
        <p:nvSpPr>
          <p:cNvPr id="4" name="Shape 2"/>
          <p:cNvSpPr/>
          <p:nvPr/>
        </p:nvSpPr>
        <p:spPr>
          <a:xfrm>
            <a:off x="914400" y="3657600"/>
            <a:ext cx="1097280" cy="0"/>
          </a:xfrm>
          <a:prstGeom prst="line">
            <a:avLst/>
          </a:prstGeom>
          <a:noFill/>
          <a:ln w="25400">
            <a:solidFill>
              <a:srgbClr val="B08D47"/>
            </a:solidFill>
            <a:prstDash val="solid"/>
          </a:ln>
        </p:spPr>
      </p:sp>
      <p:sp>
        <p:nvSpPr>
          <p:cNvPr id="5" name="Text 3"/>
          <p:cNvSpPr/>
          <p:nvPr/>
        </p:nvSpPr>
        <p:spPr>
          <a:xfrm>
            <a:off x="914400" y="3886200"/>
            <a:ext cx="10058400" cy="822960"/>
          </a:xfrm>
          <a:prstGeom prst="rect">
            <a:avLst/>
          </a:prstGeom>
          <a:noFill/>
          <a:ln/>
        </p:spPr>
        <p:txBody>
          <a:bodyPr wrap="square" lIns="0" tIns="0" rIns="0" bIns="0" rtlCol="0" anchor="t"/>
          <a:lstStyle/>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5〜7　Claude Code の画面で GitHub と連携する</a:t>
            </a:r>
            <a:endParaRPr lang="en-US" sz="1500" dirty="0"/>
          </a:p>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8　つながったかを、Claude 側と GitHub 側の両方で確かめる</a:t>
            </a:r>
            <a:endParaRPr lang="en-US" sz="1500" dirty="0"/>
          </a:p>
        </p:txBody>
      </p:sp>
      <p:sp>
        <p:nvSpPr>
          <p:cNvPr id="6" name="Text 4"/>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8C877B"/>
                </a:solidFill>
                <a:latin typeface="Yu Gothic" pitchFamily="34" charset="0"/>
                <a:ea typeface="Yu Gothic" pitchFamily="34" charset="-122"/>
                <a:cs typeface="Yu 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第2部　STEP 5</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Claude Code を開き、GitHub でログインする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Claude にログインした状態で、新しいタブで開きます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16</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https://claude.ai/code</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331720"/>
            <a:ext cx="6583680" cy="457200"/>
          </a:xfrm>
          <a:prstGeom prst="rect">
            <a:avLst/>
          </a:prstGeom>
          <a:noFill/>
          <a:ln/>
        </p:spPr>
        <p:txBody>
          <a:bodyPr wrap="square" lIns="0" tIns="0" rIns="0" bIns="0" rtlCol="0" anchor="t"/>
          <a:lstStyle/>
          <a:p>
            <a:pPr algn="ctr" indent="0" marL="0">
              <a:buNone/>
            </a:pPr>
            <a:r>
              <a:rPr lang="en-US" sz="2200" b="1" dirty="0">
                <a:solidFill>
                  <a:srgbClr val="1F1F1F"/>
                </a:solidFill>
                <a:latin typeface="Yu Gothic" pitchFamily="34" charset="0"/>
                <a:ea typeface="Yu Gothic" pitchFamily="34" charset="-122"/>
                <a:cs typeface="Yu Gothic" pitchFamily="34" charset="-120"/>
              </a:rPr>
              <a:t>Claude Code</a:t>
            </a:r>
            <a:endParaRPr lang="en-US" sz="2200" dirty="0"/>
          </a:p>
        </p:txBody>
      </p:sp>
      <p:sp>
        <p:nvSpPr>
          <p:cNvPr id="17" name="Text 15"/>
          <p:cNvSpPr/>
          <p:nvPr/>
        </p:nvSpPr>
        <p:spPr>
          <a:xfrm>
            <a:off x="731520" y="2926080"/>
            <a:ext cx="6583680" cy="274320"/>
          </a:xfrm>
          <a:prstGeom prst="rect">
            <a:avLst/>
          </a:prstGeom>
          <a:noFill/>
          <a:ln/>
        </p:spPr>
        <p:txBody>
          <a:bodyPr wrap="square" lIns="0" tIns="0" rIns="0" bIns="0" rtlCol="0" anchor="t"/>
          <a:lstStyle/>
          <a:p>
            <a:pPr algn="ctr" indent="0" marL="0">
              <a:buNone/>
            </a:pPr>
            <a:r>
              <a:rPr lang="en-US" sz="1100" dirty="0">
                <a:solidFill>
                  <a:srgbClr val="6B6B6B"/>
                </a:solidFill>
                <a:latin typeface="Yu Gothic" pitchFamily="34" charset="0"/>
                <a:ea typeface="Yu Gothic" pitchFamily="34" charset="-122"/>
                <a:cs typeface="Yu Gothic" pitchFamily="34" charset="-120"/>
              </a:rPr>
              <a:t>Connect your GitHub account to get started</a:t>
            </a:r>
            <a:endParaRPr lang="en-US" sz="1100" dirty="0"/>
          </a:p>
        </p:txBody>
      </p:sp>
      <p:sp>
        <p:nvSpPr>
          <p:cNvPr id="18" name="Shape 16"/>
          <p:cNvSpPr/>
          <p:nvPr/>
        </p:nvSpPr>
        <p:spPr>
          <a:xfrm>
            <a:off x="2468880" y="3520440"/>
            <a:ext cx="3108960" cy="420624"/>
          </a:xfrm>
          <a:prstGeom prst="roundRect">
            <a:avLst>
              <a:gd name="adj" fmla="val 13043"/>
            </a:avLst>
          </a:prstGeom>
          <a:solidFill>
            <a:srgbClr val="1F1F1F"/>
          </a:solidFill>
          <a:ln w="9525">
            <a:solidFill>
              <a:srgbClr val="1F1F1F"/>
            </a:solidFill>
            <a:prstDash val="solid"/>
          </a:ln>
        </p:spPr>
      </p:sp>
      <p:sp>
        <p:nvSpPr>
          <p:cNvPr id="19" name="Text 17"/>
          <p:cNvSpPr/>
          <p:nvPr/>
        </p:nvSpPr>
        <p:spPr>
          <a:xfrm>
            <a:off x="2523744" y="3520440"/>
            <a:ext cx="2999232"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  Sign in with GitHub</a:t>
            </a:r>
            <a:endParaRPr lang="en-US" sz="1150" dirty="0"/>
          </a:p>
        </p:txBody>
      </p:sp>
      <p:sp>
        <p:nvSpPr>
          <p:cNvPr id="20" name="Shape 18"/>
          <p:cNvSpPr/>
          <p:nvPr/>
        </p:nvSpPr>
        <p:spPr>
          <a:xfrm>
            <a:off x="2423160" y="3474720"/>
            <a:ext cx="3200400" cy="512064"/>
          </a:xfrm>
          <a:prstGeom prst="roundRect">
            <a:avLst>
              <a:gd name="adj" fmla="val 10714"/>
            </a:avLst>
          </a:prstGeom>
          <a:ln w="31750">
            <a:solidFill>
              <a:srgbClr val="E5484D"/>
            </a:solidFill>
            <a:prstDash val="solid"/>
          </a:ln>
        </p:spPr>
      </p:sp>
      <p:sp>
        <p:nvSpPr>
          <p:cNvPr id="21" name="Shape 19"/>
          <p:cNvSpPr/>
          <p:nvPr/>
        </p:nvSpPr>
        <p:spPr>
          <a:xfrm>
            <a:off x="2267712" y="3319272"/>
            <a:ext cx="310896" cy="310896"/>
          </a:xfrm>
          <a:prstGeom prst="ellipse">
            <a:avLst/>
          </a:prstGeom>
          <a:solidFill>
            <a:srgbClr val="E5484D"/>
          </a:solidFill>
          <a:ln w="12700">
            <a:solidFill>
              <a:srgbClr val="FFFFFF"/>
            </a:solidFill>
            <a:prstDash val="solid"/>
          </a:ln>
        </p:spPr>
      </p:sp>
      <p:sp>
        <p:nvSpPr>
          <p:cNvPr id="22" name="Text 20"/>
          <p:cNvSpPr/>
          <p:nvPr/>
        </p:nvSpPr>
        <p:spPr>
          <a:xfrm>
            <a:off x="2267712" y="3319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23" name="Shape 21"/>
          <p:cNvSpPr/>
          <p:nvPr/>
        </p:nvSpPr>
        <p:spPr>
          <a:xfrm>
            <a:off x="7818120" y="1618488"/>
            <a:ext cx="329184" cy="329184"/>
          </a:xfrm>
          <a:prstGeom prst="ellipse">
            <a:avLst/>
          </a:prstGeom>
          <a:solidFill>
            <a:srgbClr val="E5484D"/>
          </a:solidFill>
          <a:ln/>
        </p:spPr>
      </p:sp>
      <p:sp>
        <p:nvSpPr>
          <p:cNvPr id="24" name="Text 22"/>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25" name="Text 23"/>
          <p:cNvSpPr/>
          <p:nvPr/>
        </p:nvSpPr>
        <p:spPr>
          <a:xfrm>
            <a:off x="8275320" y="160020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アドレス欄に claude.ai/code と入力</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Claude にログインしていない場合は、先にログイン</a:t>
            </a:r>
            <a:endParaRPr lang="en-US" sz="1400" dirty="0"/>
          </a:p>
        </p:txBody>
      </p:sp>
      <p:sp>
        <p:nvSpPr>
          <p:cNvPr id="26" name="Shape 24"/>
          <p:cNvSpPr/>
          <p:nvPr/>
        </p:nvSpPr>
        <p:spPr>
          <a:xfrm>
            <a:off x="7818120" y="2476849"/>
            <a:ext cx="329184" cy="329184"/>
          </a:xfrm>
          <a:prstGeom prst="ellipse">
            <a:avLst/>
          </a:prstGeom>
          <a:solidFill>
            <a:srgbClr val="E5484D"/>
          </a:solidFill>
          <a:ln/>
        </p:spPr>
      </p:sp>
      <p:sp>
        <p:nvSpPr>
          <p:cNvPr id="27" name="Text 25"/>
          <p:cNvSpPr/>
          <p:nvPr/>
        </p:nvSpPr>
        <p:spPr>
          <a:xfrm>
            <a:off x="7818120" y="247684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28" name="Text 26"/>
          <p:cNvSpPr/>
          <p:nvPr/>
        </p:nvSpPr>
        <p:spPr>
          <a:xfrm>
            <a:off x="8275320" y="2458561"/>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「Sign in with GitHub」を押す</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「GitHub に接続」「Connect GitHub」と表示されることもあります</a:t>
            </a:r>
            <a:endParaRPr lang="en-US" sz="1400" dirty="0"/>
          </a:p>
        </p:txBody>
      </p:sp>
      <p:sp>
        <p:nvSpPr>
          <p:cNvPr id="29" name="Shape 27"/>
          <p:cNvSpPr/>
          <p:nvPr/>
        </p:nvSpPr>
        <p:spPr>
          <a:xfrm>
            <a:off x="7818120" y="3335211"/>
            <a:ext cx="329184" cy="329184"/>
          </a:xfrm>
          <a:prstGeom prst="ellipse">
            <a:avLst/>
          </a:prstGeom>
          <a:solidFill>
            <a:srgbClr val="E5484D"/>
          </a:solidFill>
          <a:ln/>
        </p:spPr>
      </p:sp>
      <p:sp>
        <p:nvSpPr>
          <p:cNvPr id="30" name="Text 28"/>
          <p:cNvSpPr/>
          <p:nvPr/>
        </p:nvSpPr>
        <p:spPr>
          <a:xfrm>
            <a:off x="7818120" y="3335211"/>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31" name="Text 29"/>
          <p:cNvSpPr/>
          <p:nvPr/>
        </p:nvSpPr>
        <p:spPr>
          <a:xfrm>
            <a:off x="8275320" y="3316923"/>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GitHub のログイン画面が出たら</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STEP 1 で作ったユーザー名とパスワードを、自分で入力</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第2部　STEP 6</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GitHub で「Claude に許可する」を押す</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GitHub の確認画面に切り替わります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17</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https://github.com/login/oauth/authorize?…</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Shape 14"/>
          <p:cNvSpPr/>
          <p:nvPr/>
        </p:nvSpPr>
        <p:spPr>
          <a:xfrm>
            <a:off x="2103120" y="2240280"/>
            <a:ext cx="3840480" cy="3291840"/>
          </a:xfrm>
          <a:prstGeom prst="roundRect">
            <a:avLst>
              <a:gd name="adj" fmla="val 1667"/>
            </a:avLst>
          </a:prstGeom>
          <a:solidFill>
            <a:srgbClr val="FFFFFF"/>
          </a:solidFill>
          <a:ln w="9525">
            <a:solidFill>
              <a:srgbClr val="D0D7DE"/>
            </a:solidFill>
            <a:prstDash val="solid"/>
          </a:ln>
        </p:spPr>
      </p:sp>
      <p:sp>
        <p:nvSpPr>
          <p:cNvPr id="17" name="Text 15"/>
          <p:cNvSpPr/>
          <p:nvPr/>
        </p:nvSpPr>
        <p:spPr>
          <a:xfrm>
            <a:off x="2103120" y="2423160"/>
            <a:ext cx="3840480" cy="365760"/>
          </a:xfrm>
          <a:prstGeom prst="rect">
            <a:avLst/>
          </a:prstGeom>
          <a:noFill/>
          <a:ln/>
        </p:spPr>
        <p:txBody>
          <a:bodyPr wrap="square" lIns="0" tIns="0" rIns="0" bIns="0" rtlCol="0" anchor="t"/>
          <a:lstStyle/>
          <a:p>
            <a:pPr algn="ctr" indent="0" marL="0">
              <a:buNone/>
            </a:pPr>
            <a:r>
              <a:rPr lang="en-US" sz="1500" b="1" dirty="0">
                <a:solidFill>
                  <a:srgbClr val="24292F"/>
                </a:solidFill>
                <a:latin typeface="Yu Gothic" pitchFamily="34" charset="0"/>
                <a:ea typeface="Yu Gothic" pitchFamily="34" charset="-122"/>
                <a:cs typeface="Yu Gothic" pitchFamily="34" charset="-120"/>
              </a:rPr>
              <a:t>Authorize Claude</a:t>
            </a:r>
            <a:endParaRPr lang="en-US" sz="1500" dirty="0"/>
          </a:p>
        </p:txBody>
      </p:sp>
      <p:sp>
        <p:nvSpPr>
          <p:cNvPr id="18" name="Text 16"/>
          <p:cNvSpPr/>
          <p:nvPr/>
        </p:nvSpPr>
        <p:spPr>
          <a:xfrm>
            <a:off x="2286000" y="2880360"/>
            <a:ext cx="3474720" cy="457200"/>
          </a:xfrm>
          <a:prstGeom prst="rect">
            <a:avLst/>
          </a:prstGeom>
          <a:noFill/>
          <a:ln/>
        </p:spPr>
        <p:txBody>
          <a:bodyPr wrap="square" lIns="0" tIns="0" rIns="0" bIns="0" rtlCol="0" anchor="t"/>
          <a:lstStyle/>
          <a:p>
            <a:pPr algn="ctr" indent="0" marL="0">
              <a:buNone/>
            </a:pPr>
            <a:r>
              <a:rPr lang="en-US" sz="950" dirty="0">
                <a:solidFill>
                  <a:srgbClr val="57606A"/>
                </a:solidFill>
                <a:latin typeface="Yu Gothic" pitchFamily="34" charset="0"/>
                <a:ea typeface="Yu Gothic" pitchFamily="34" charset="-122"/>
                <a:cs typeface="Yu Gothic" pitchFamily="34" charset="-120"/>
              </a:rPr>
              <a:t>Claude by Anthropic wants to access your account</a:t>
            </a:r>
            <a:endParaRPr lang="en-US" sz="950" dirty="0"/>
          </a:p>
        </p:txBody>
      </p:sp>
      <p:sp>
        <p:nvSpPr>
          <p:cNvPr id="19" name="Text 17"/>
          <p:cNvSpPr/>
          <p:nvPr/>
        </p:nvSpPr>
        <p:spPr>
          <a:xfrm>
            <a:off x="2377440" y="3429000"/>
            <a:ext cx="3291840" cy="274320"/>
          </a:xfrm>
          <a:prstGeom prst="rect">
            <a:avLst/>
          </a:prstGeom>
          <a:noFill/>
          <a:ln/>
        </p:spPr>
        <p:txBody>
          <a:bodyPr wrap="square" lIns="0" tIns="0" rIns="0" bIns="0" rtlCol="0" anchor="t"/>
          <a:lstStyle/>
          <a:p>
            <a:pPr indent="0" marL="0">
              <a:buNone/>
            </a:pPr>
            <a:r>
              <a:rPr lang="en-US" sz="950" dirty="0">
                <a:solidFill>
                  <a:srgbClr val="24292F"/>
                </a:solidFill>
                <a:latin typeface="Yu Gothic" pitchFamily="34" charset="0"/>
                <a:ea typeface="Yu Gothic" pitchFamily="34" charset="-122"/>
                <a:cs typeface="Yu Gothic" pitchFamily="34" charset="-120"/>
              </a:rPr>
              <a:t>✓ Verify your GitHub identity</a:t>
            </a:r>
            <a:endParaRPr lang="en-US" sz="950" dirty="0"/>
          </a:p>
        </p:txBody>
      </p:sp>
      <p:sp>
        <p:nvSpPr>
          <p:cNvPr id="20" name="Text 18"/>
          <p:cNvSpPr/>
          <p:nvPr/>
        </p:nvSpPr>
        <p:spPr>
          <a:xfrm>
            <a:off x="2377440" y="3721608"/>
            <a:ext cx="3291840" cy="274320"/>
          </a:xfrm>
          <a:prstGeom prst="rect">
            <a:avLst/>
          </a:prstGeom>
          <a:noFill/>
          <a:ln/>
        </p:spPr>
        <p:txBody>
          <a:bodyPr wrap="square" lIns="0" tIns="0" rIns="0" bIns="0" rtlCol="0" anchor="t"/>
          <a:lstStyle/>
          <a:p>
            <a:pPr indent="0" marL="0">
              <a:buNone/>
            </a:pPr>
            <a:r>
              <a:rPr lang="en-US" sz="950" dirty="0">
                <a:solidFill>
                  <a:srgbClr val="24292F"/>
                </a:solidFill>
                <a:latin typeface="Yu Gothic" pitchFamily="34" charset="0"/>
                <a:ea typeface="Yu Gothic" pitchFamily="34" charset="-122"/>
                <a:cs typeface="Yu Gothic" pitchFamily="34" charset="-120"/>
              </a:rPr>
              <a:t>✓ Know which resources you can access</a:t>
            </a:r>
            <a:endParaRPr lang="en-US" sz="950" dirty="0"/>
          </a:p>
        </p:txBody>
      </p:sp>
      <p:sp>
        <p:nvSpPr>
          <p:cNvPr id="21" name="Text 19"/>
          <p:cNvSpPr/>
          <p:nvPr/>
        </p:nvSpPr>
        <p:spPr>
          <a:xfrm>
            <a:off x="2377440" y="4014216"/>
            <a:ext cx="3291840" cy="274320"/>
          </a:xfrm>
          <a:prstGeom prst="rect">
            <a:avLst/>
          </a:prstGeom>
          <a:noFill/>
          <a:ln/>
        </p:spPr>
        <p:txBody>
          <a:bodyPr wrap="square" lIns="0" tIns="0" rIns="0" bIns="0" rtlCol="0" anchor="t"/>
          <a:lstStyle/>
          <a:p>
            <a:pPr indent="0" marL="0">
              <a:buNone/>
            </a:pPr>
            <a:r>
              <a:rPr lang="en-US" sz="950" dirty="0">
                <a:solidFill>
                  <a:srgbClr val="24292F"/>
                </a:solidFill>
                <a:latin typeface="Yu Gothic" pitchFamily="34" charset="0"/>
                <a:ea typeface="Yu Gothic" pitchFamily="34" charset="-122"/>
                <a:cs typeface="Yu Gothic" pitchFamily="34" charset="-120"/>
              </a:rPr>
              <a:t>✓ Act on your behalf</a:t>
            </a:r>
            <a:endParaRPr lang="en-US" sz="950" dirty="0"/>
          </a:p>
        </p:txBody>
      </p:sp>
      <p:sp>
        <p:nvSpPr>
          <p:cNvPr id="22" name="Shape 20"/>
          <p:cNvSpPr/>
          <p:nvPr/>
        </p:nvSpPr>
        <p:spPr>
          <a:xfrm>
            <a:off x="2377440" y="4572000"/>
            <a:ext cx="3291840" cy="384048"/>
          </a:xfrm>
          <a:prstGeom prst="roundRect">
            <a:avLst>
              <a:gd name="adj" fmla="val 14286"/>
            </a:avLst>
          </a:prstGeom>
          <a:solidFill>
            <a:srgbClr val="1F883D"/>
          </a:solidFill>
          <a:ln w="9525">
            <a:solidFill>
              <a:srgbClr val="1F883D"/>
            </a:solidFill>
            <a:prstDash val="solid"/>
          </a:ln>
        </p:spPr>
      </p:sp>
      <p:sp>
        <p:nvSpPr>
          <p:cNvPr id="23" name="Text 21"/>
          <p:cNvSpPr/>
          <p:nvPr/>
        </p:nvSpPr>
        <p:spPr>
          <a:xfrm>
            <a:off x="2432304" y="4572000"/>
            <a:ext cx="318211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Authorize Claude</a:t>
            </a:r>
            <a:endParaRPr lang="en-US" sz="1100" dirty="0"/>
          </a:p>
        </p:txBody>
      </p:sp>
      <p:sp>
        <p:nvSpPr>
          <p:cNvPr id="24" name="Shape 22"/>
          <p:cNvSpPr/>
          <p:nvPr/>
        </p:nvSpPr>
        <p:spPr>
          <a:xfrm>
            <a:off x="2331720" y="4526280"/>
            <a:ext cx="3383280" cy="475488"/>
          </a:xfrm>
          <a:prstGeom prst="roundRect">
            <a:avLst>
              <a:gd name="adj" fmla="val 11538"/>
            </a:avLst>
          </a:prstGeom>
          <a:ln w="31750">
            <a:solidFill>
              <a:srgbClr val="E5484D"/>
            </a:solidFill>
            <a:prstDash val="solid"/>
          </a:ln>
        </p:spPr>
      </p:sp>
      <p:sp>
        <p:nvSpPr>
          <p:cNvPr id="25" name="Shape 23"/>
          <p:cNvSpPr/>
          <p:nvPr/>
        </p:nvSpPr>
        <p:spPr>
          <a:xfrm>
            <a:off x="2176272" y="4370832"/>
            <a:ext cx="310896" cy="310896"/>
          </a:xfrm>
          <a:prstGeom prst="ellipse">
            <a:avLst/>
          </a:prstGeom>
          <a:solidFill>
            <a:srgbClr val="E5484D"/>
          </a:solidFill>
          <a:ln w="12700">
            <a:solidFill>
              <a:srgbClr val="FFFFFF"/>
            </a:solidFill>
            <a:prstDash val="solid"/>
          </a:ln>
        </p:spPr>
      </p:sp>
      <p:sp>
        <p:nvSpPr>
          <p:cNvPr id="26" name="Text 24"/>
          <p:cNvSpPr/>
          <p:nvPr/>
        </p:nvSpPr>
        <p:spPr>
          <a:xfrm>
            <a:off x="2176272" y="4370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7" name="Shape 25"/>
          <p:cNvSpPr/>
          <p:nvPr/>
        </p:nvSpPr>
        <p:spPr>
          <a:xfrm>
            <a:off x="7818120" y="1618488"/>
            <a:ext cx="329184" cy="329184"/>
          </a:xfrm>
          <a:prstGeom prst="ellipse">
            <a:avLst/>
          </a:prstGeom>
          <a:solidFill>
            <a:srgbClr val="E5484D"/>
          </a:solidFill>
          <a:ln/>
        </p:spPr>
      </p:sp>
      <p:sp>
        <p:nvSpPr>
          <p:cNvPr id="28" name="Text 26"/>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29" name="Text 27"/>
          <p:cNvSpPr/>
          <p:nvPr/>
        </p:nvSpPr>
        <p:spPr>
          <a:xfrm>
            <a:off x="8275320" y="160020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緑の「Authorize Claude」を押す</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「Authorize anthropics」など、表記が少し違うことがあります</a:t>
            </a:r>
            <a:endParaRPr lang="en-US" sz="1400" dirty="0"/>
          </a:p>
        </p:txBody>
      </p:sp>
      <p:sp>
        <p:nvSpPr>
          <p:cNvPr id="30" name="Shape 28"/>
          <p:cNvSpPr/>
          <p:nvPr/>
        </p:nvSpPr>
        <p:spPr>
          <a:xfrm>
            <a:off x="7818120" y="2476849"/>
            <a:ext cx="329184" cy="329184"/>
          </a:xfrm>
          <a:prstGeom prst="ellipse">
            <a:avLst/>
          </a:prstGeom>
          <a:solidFill>
            <a:srgbClr val="B08D47"/>
          </a:solidFill>
          <a:ln/>
        </p:spPr>
      </p:sp>
      <p:sp>
        <p:nvSpPr>
          <p:cNvPr id="31" name="Text 29"/>
          <p:cNvSpPr/>
          <p:nvPr/>
        </p:nvSpPr>
        <p:spPr>
          <a:xfrm>
            <a:off x="7818120" y="247684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32" name="Text 30"/>
          <p:cNvSpPr/>
          <p:nvPr/>
        </p:nvSpPr>
        <p:spPr>
          <a:xfrm>
            <a:off x="8275320" y="2458561"/>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自動で Claude の画面に戻る</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戻らない場合は、claude.ai/code を開き直す</a:t>
            </a:r>
            <a:endParaRPr lang="en-US" sz="1400" dirty="0"/>
          </a:p>
        </p:txBody>
      </p:sp>
      <p:sp>
        <p:nvSpPr>
          <p:cNvPr id="33" name="Shape 31"/>
          <p:cNvSpPr/>
          <p:nvPr/>
        </p:nvSpPr>
        <p:spPr>
          <a:xfrm>
            <a:off x="7818120" y="3886200"/>
            <a:ext cx="3822192" cy="1234440"/>
          </a:xfrm>
          <a:prstGeom prst="roundRect">
            <a:avLst>
              <a:gd name="adj" fmla="val 4444"/>
            </a:avLst>
          </a:prstGeom>
          <a:solidFill>
            <a:srgbClr val="F5F2EA"/>
          </a:solidFill>
          <a:ln/>
        </p:spPr>
      </p:sp>
      <p:sp>
        <p:nvSpPr>
          <p:cNvPr id="34" name="Shape 32"/>
          <p:cNvSpPr/>
          <p:nvPr/>
        </p:nvSpPr>
        <p:spPr>
          <a:xfrm>
            <a:off x="7818120" y="3886200"/>
            <a:ext cx="73152" cy="1234440"/>
          </a:xfrm>
          <a:prstGeom prst="rect">
            <a:avLst/>
          </a:prstGeom>
          <a:solidFill>
            <a:srgbClr val="B08D47"/>
          </a:solidFill>
          <a:ln/>
        </p:spPr>
      </p:sp>
      <p:sp>
        <p:nvSpPr>
          <p:cNvPr id="35" name="Text 33"/>
          <p:cNvSpPr/>
          <p:nvPr/>
        </p:nvSpPr>
        <p:spPr>
          <a:xfrm>
            <a:off x="8046720" y="3886200"/>
            <a:ext cx="3456432" cy="123444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ここは「あなたが GitHub の持ち主であることを Claude に伝える」手続きです。リポジトリの中身はまだ見せていません</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第2部　STEP 7</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Claude にリポジトリを使う許可を出す（GitHub App）</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Private リポジトリを使うには、この設定が必要です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18</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https://github.com/apps/claude/installations/new</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057400"/>
            <a:ext cx="4572000" cy="365760"/>
          </a:xfrm>
          <a:prstGeom prst="rect">
            <a:avLst/>
          </a:prstGeom>
          <a:noFill/>
          <a:ln/>
        </p:spPr>
        <p:txBody>
          <a:bodyPr wrap="square" lIns="0" tIns="0" rIns="0" bIns="0" rtlCol="0" anchor="t"/>
          <a:lstStyle/>
          <a:p>
            <a:pPr indent="0" marL="0">
              <a:buNone/>
            </a:pPr>
            <a:r>
              <a:rPr lang="en-US" sz="1500" b="1" dirty="0">
                <a:solidFill>
                  <a:srgbClr val="24292F"/>
                </a:solidFill>
                <a:latin typeface="Yu Gothic" pitchFamily="34" charset="0"/>
                <a:ea typeface="Yu Gothic" pitchFamily="34" charset="-122"/>
                <a:cs typeface="Yu Gothic" pitchFamily="34" charset="-120"/>
              </a:rPr>
              <a:t>Install Claude</a:t>
            </a:r>
            <a:endParaRPr lang="en-US" sz="1500" dirty="0"/>
          </a:p>
        </p:txBody>
      </p:sp>
      <p:sp>
        <p:nvSpPr>
          <p:cNvPr id="17" name="Text 15"/>
          <p:cNvSpPr/>
          <p:nvPr/>
        </p:nvSpPr>
        <p:spPr>
          <a:xfrm>
            <a:off x="731520" y="2468880"/>
            <a:ext cx="5486400" cy="274320"/>
          </a:xfrm>
          <a:prstGeom prst="rect">
            <a:avLst/>
          </a:prstGeom>
          <a:noFill/>
          <a:ln/>
        </p:spPr>
        <p:txBody>
          <a:bodyPr wrap="square" lIns="0" tIns="0" rIns="0" bIns="0" rtlCol="0" anchor="t"/>
          <a:lstStyle/>
          <a:p>
            <a:pPr indent="0" marL="0">
              <a:buNone/>
            </a:pPr>
            <a:r>
              <a:rPr lang="en-US" sz="1000" dirty="0">
                <a:solidFill>
                  <a:srgbClr val="57606A"/>
                </a:solidFill>
                <a:latin typeface="Yu Gothic" pitchFamily="34" charset="0"/>
                <a:ea typeface="Yu Gothic" pitchFamily="34" charset="-122"/>
                <a:cs typeface="Yu Gothic" pitchFamily="34" charset="-120"/>
              </a:rPr>
              <a:t>Install on your personal account（ユーザー名）</a:t>
            </a:r>
            <a:endParaRPr lang="en-US" sz="1000" dirty="0"/>
          </a:p>
        </p:txBody>
      </p:sp>
      <p:sp>
        <p:nvSpPr>
          <p:cNvPr id="18" name="Text 16"/>
          <p:cNvSpPr/>
          <p:nvPr/>
        </p:nvSpPr>
        <p:spPr>
          <a:xfrm>
            <a:off x="822960" y="2926080"/>
            <a:ext cx="3657600" cy="274320"/>
          </a:xfrm>
          <a:prstGeom prst="rect">
            <a:avLst/>
          </a:prstGeom>
          <a:noFill/>
          <a:ln/>
        </p:spPr>
        <p:txBody>
          <a:bodyPr wrap="square" lIns="0" tIns="0" rIns="0" bIns="0" rtlCol="0" anchor="t"/>
          <a:lstStyle/>
          <a:p>
            <a:pPr indent="0" marL="0">
              <a:buNone/>
            </a:pPr>
            <a:r>
              <a:rPr lang="en-US" sz="1100" dirty="0">
                <a:solidFill>
                  <a:srgbClr val="24292F"/>
                </a:solidFill>
                <a:latin typeface="Yu Gothic" pitchFamily="34" charset="0"/>
                <a:ea typeface="Yu Gothic" pitchFamily="34" charset="-122"/>
                <a:cs typeface="Yu Gothic" pitchFamily="34" charset="-120"/>
              </a:rPr>
              <a:t>◯  All repositories</a:t>
            </a:r>
            <a:endParaRPr lang="en-US" sz="1100" dirty="0"/>
          </a:p>
        </p:txBody>
      </p:sp>
      <p:sp>
        <p:nvSpPr>
          <p:cNvPr id="19" name="Text 17"/>
          <p:cNvSpPr/>
          <p:nvPr/>
        </p:nvSpPr>
        <p:spPr>
          <a:xfrm>
            <a:off x="822960" y="3291840"/>
            <a:ext cx="3657600" cy="274320"/>
          </a:xfrm>
          <a:prstGeom prst="rect">
            <a:avLst/>
          </a:prstGeom>
          <a:noFill/>
          <a:ln/>
        </p:spPr>
        <p:txBody>
          <a:bodyPr wrap="square" lIns="0" tIns="0" rIns="0" bIns="0" rtlCol="0" anchor="t"/>
          <a:lstStyle/>
          <a:p>
            <a:pPr indent="0" marL="0">
              <a:buNone/>
            </a:pPr>
            <a:r>
              <a:rPr lang="en-US" sz="1100" b="1" dirty="0">
                <a:solidFill>
                  <a:srgbClr val="24292F"/>
                </a:solidFill>
                <a:latin typeface="Yu Gothic" pitchFamily="34" charset="0"/>
                <a:ea typeface="Yu Gothic" pitchFamily="34" charset="-122"/>
                <a:cs typeface="Yu Gothic" pitchFamily="34" charset="-120"/>
              </a:rPr>
              <a:t>◉  Only select repositories</a:t>
            </a:r>
            <a:endParaRPr lang="en-US" sz="1100" dirty="0"/>
          </a:p>
        </p:txBody>
      </p:sp>
      <p:sp>
        <p:nvSpPr>
          <p:cNvPr id="20" name="Shape 18"/>
          <p:cNvSpPr/>
          <p:nvPr/>
        </p:nvSpPr>
        <p:spPr>
          <a:xfrm>
            <a:off x="731520" y="3246120"/>
            <a:ext cx="2834640" cy="365760"/>
          </a:xfrm>
          <a:prstGeom prst="roundRect">
            <a:avLst>
              <a:gd name="adj" fmla="val 15000"/>
            </a:avLst>
          </a:prstGeom>
          <a:ln w="31750">
            <a:solidFill>
              <a:srgbClr val="E5484D"/>
            </a:solidFill>
            <a:prstDash val="solid"/>
          </a:ln>
        </p:spPr>
      </p:sp>
      <p:sp>
        <p:nvSpPr>
          <p:cNvPr id="21" name="Shape 19"/>
          <p:cNvSpPr/>
          <p:nvPr/>
        </p:nvSpPr>
        <p:spPr>
          <a:xfrm>
            <a:off x="3593592" y="3273552"/>
            <a:ext cx="310896" cy="310896"/>
          </a:xfrm>
          <a:prstGeom prst="ellipse">
            <a:avLst/>
          </a:prstGeom>
          <a:solidFill>
            <a:srgbClr val="E5484D"/>
          </a:solidFill>
          <a:ln w="12700">
            <a:solidFill>
              <a:srgbClr val="FFFFFF"/>
            </a:solidFill>
            <a:prstDash val="solid"/>
          </a:ln>
        </p:spPr>
      </p:sp>
      <p:sp>
        <p:nvSpPr>
          <p:cNvPr id="22" name="Text 20"/>
          <p:cNvSpPr/>
          <p:nvPr/>
        </p:nvSpPr>
        <p:spPr>
          <a:xfrm>
            <a:off x="3593592" y="32735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3" name="Shape 21"/>
          <p:cNvSpPr/>
          <p:nvPr/>
        </p:nvSpPr>
        <p:spPr>
          <a:xfrm>
            <a:off x="1097280" y="3749040"/>
            <a:ext cx="2926080" cy="329184"/>
          </a:xfrm>
          <a:prstGeom prst="roundRect">
            <a:avLst>
              <a:gd name="adj" fmla="val 16667"/>
            </a:avLst>
          </a:prstGeom>
          <a:solidFill>
            <a:srgbClr val="FFFFFF"/>
          </a:solidFill>
          <a:ln w="9525">
            <a:solidFill>
              <a:srgbClr val="C9CED6"/>
            </a:solidFill>
            <a:prstDash val="solid"/>
          </a:ln>
        </p:spPr>
      </p:sp>
      <p:sp>
        <p:nvSpPr>
          <p:cNvPr id="24" name="Text 22"/>
          <p:cNvSpPr/>
          <p:nvPr/>
        </p:nvSpPr>
        <p:spPr>
          <a:xfrm>
            <a:off x="1152144" y="3749040"/>
            <a:ext cx="2816352" cy="329184"/>
          </a:xfrm>
          <a:prstGeom prst="rect">
            <a:avLst/>
          </a:prstGeom>
          <a:noFill/>
          <a:ln/>
        </p:spPr>
        <p:txBody>
          <a:bodyPr wrap="square" lIns="0" tIns="0" rIns="0" bIns="0" rtlCol="0" anchor="ctr"/>
          <a:lstStyle/>
          <a:p>
            <a:pPr algn="l" indent="0" marL="0">
              <a:buNone/>
            </a:pPr>
            <a:r>
              <a:rPr lang="en-US" sz="1050" dirty="0">
                <a:solidFill>
                  <a:srgbClr val="24292F"/>
                </a:solidFill>
                <a:latin typeface="Yu Gothic" pitchFamily="34" charset="0"/>
                <a:ea typeface="Yu Gothic" pitchFamily="34" charset="-122"/>
                <a:cs typeface="Yu Gothic" pitchFamily="34" charset="-120"/>
              </a:rPr>
              <a:t>Select repositories ▾</a:t>
            </a:r>
            <a:endParaRPr lang="en-US" sz="1050" dirty="0"/>
          </a:p>
        </p:txBody>
      </p:sp>
      <p:sp>
        <p:nvSpPr>
          <p:cNvPr id="25" name="Shape 23"/>
          <p:cNvSpPr/>
          <p:nvPr/>
        </p:nvSpPr>
        <p:spPr>
          <a:xfrm>
            <a:off x="1097280" y="4160520"/>
            <a:ext cx="2926080" cy="310896"/>
          </a:xfrm>
          <a:prstGeom prst="roundRect">
            <a:avLst>
              <a:gd name="adj" fmla="val 17647"/>
            </a:avLst>
          </a:prstGeom>
          <a:solidFill>
            <a:srgbClr val="DDF4FF"/>
          </a:solidFill>
          <a:ln w="9525">
            <a:solidFill>
              <a:srgbClr val="54AEFF"/>
            </a:solidFill>
            <a:prstDash val="solid"/>
          </a:ln>
        </p:spPr>
      </p:sp>
      <p:sp>
        <p:nvSpPr>
          <p:cNvPr id="26" name="Text 24"/>
          <p:cNvSpPr/>
          <p:nvPr/>
        </p:nvSpPr>
        <p:spPr>
          <a:xfrm>
            <a:off x="1152144" y="4160520"/>
            <a:ext cx="2816352" cy="310896"/>
          </a:xfrm>
          <a:prstGeom prst="rect">
            <a:avLst/>
          </a:prstGeom>
          <a:noFill/>
          <a:ln/>
        </p:spPr>
        <p:txBody>
          <a:bodyPr wrap="square" lIns="0" tIns="0" rIns="0" bIns="0" rtlCol="0" anchor="ctr"/>
          <a:lstStyle/>
          <a:p>
            <a:pPr algn="l" indent="0" marL="0">
              <a:buNone/>
            </a:pPr>
            <a:r>
              <a:rPr lang="en-US" sz="1050" dirty="0">
                <a:solidFill>
                  <a:srgbClr val="24292F"/>
                </a:solidFill>
                <a:latin typeface="Yu Gothic" pitchFamily="34" charset="0"/>
                <a:ea typeface="Yu Gothic" pitchFamily="34" charset="-122"/>
                <a:cs typeface="Yu Gothic" pitchFamily="34" charset="-120"/>
              </a:rPr>
              <a:t>🔒 teisha-tool  ✕</a:t>
            </a:r>
            <a:endParaRPr lang="en-US" sz="1050" dirty="0"/>
          </a:p>
        </p:txBody>
      </p:sp>
      <p:sp>
        <p:nvSpPr>
          <p:cNvPr id="27" name="Shape 25"/>
          <p:cNvSpPr/>
          <p:nvPr/>
        </p:nvSpPr>
        <p:spPr>
          <a:xfrm>
            <a:off x="1051560" y="3703320"/>
            <a:ext cx="3017520" cy="813816"/>
          </a:xfrm>
          <a:prstGeom prst="roundRect">
            <a:avLst>
              <a:gd name="adj" fmla="val 6742"/>
            </a:avLst>
          </a:prstGeom>
          <a:ln w="31750">
            <a:solidFill>
              <a:srgbClr val="E5484D"/>
            </a:solidFill>
            <a:prstDash val="solid"/>
          </a:ln>
        </p:spPr>
      </p:sp>
      <p:sp>
        <p:nvSpPr>
          <p:cNvPr id="28" name="Shape 26"/>
          <p:cNvSpPr/>
          <p:nvPr/>
        </p:nvSpPr>
        <p:spPr>
          <a:xfrm>
            <a:off x="4096512" y="3954780"/>
            <a:ext cx="310896" cy="310896"/>
          </a:xfrm>
          <a:prstGeom prst="ellipse">
            <a:avLst/>
          </a:prstGeom>
          <a:solidFill>
            <a:srgbClr val="E5484D"/>
          </a:solidFill>
          <a:ln w="12700">
            <a:solidFill>
              <a:srgbClr val="FFFFFF"/>
            </a:solidFill>
            <a:prstDash val="solid"/>
          </a:ln>
        </p:spPr>
      </p:sp>
      <p:sp>
        <p:nvSpPr>
          <p:cNvPr id="29" name="Text 27"/>
          <p:cNvSpPr/>
          <p:nvPr/>
        </p:nvSpPr>
        <p:spPr>
          <a:xfrm>
            <a:off x="4096512" y="39547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30" name="Shape 28"/>
          <p:cNvSpPr/>
          <p:nvPr/>
        </p:nvSpPr>
        <p:spPr>
          <a:xfrm>
            <a:off x="731520" y="5120640"/>
            <a:ext cx="1463040" cy="384048"/>
          </a:xfrm>
          <a:prstGeom prst="roundRect">
            <a:avLst>
              <a:gd name="adj" fmla="val 14286"/>
            </a:avLst>
          </a:prstGeom>
          <a:solidFill>
            <a:srgbClr val="1F883D"/>
          </a:solidFill>
          <a:ln w="9525">
            <a:solidFill>
              <a:srgbClr val="1F883D"/>
            </a:solidFill>
            <a:prstDash val="solid"/>
          </a:ln>
        </p:spPr>
      </p:sp>
      <p:sp>
        <p:nvSpPr>
          <p:cNvPr id="31" name="Text 29"/>
          <p:cNvSpPr/>
          <p:nvPr/>
        </p:nvSpPr>
        <p:spPr>
          <a:xfrm>
            <a:off x="786384" y="5120640"/>
            <a:ext cx="135331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Install</a:t>
            </a:r>
            <a:endParaRPr lang="en-US" sz="1100" dirty="0"/>
          </a:p>
        </p:txBody>
      </p:sp>
      <p:sp>
        <p:nvSpPr>
          <p:cNvPr id="32" name="Shape 30"/>
          <p:cNvSpPr/>
          <p:nvPr/>
        </p:nvSpPr>
        <p:spPr>
          <a:xfrm>
            <a:off x="685800" y="5074920"/>
            <a:ext cx="1554480" cy="475488"/>
          </a:xfrm>
          <a:prstGeom prst="roundRect">
            <a:avLst>
              <a:gd name="adj" fmla="val 11538"/>
            </a:avLst>
          </a:prstGeom>
          <a:ln w="31750">
            <a:solidFill>
              <a:srgbClr val="E5484D"/>
            </a:solidFill>
            <a:prstDash val="solid"/>
          </a:ln>
        </p:spPr>
      </p:sp>
      <p:sp>
        <p:nvSpPr>
          <p:cNvPr id="33" name="Shape 31"/>
          <p:cNvSpPr/>
          <p:nvPr/>
        </p:nvSpPr>
        <p:spPr>
          <a:xfrm>
            <a:off x="530352" y="4919472"/>
            <a:ext cx="310896" cy="310896"/>
          </a:xfrm>
          <a:prstGeom prst="ellipse">
            <a:avLst/>
          </a:prstGeom>
          <a:solidFill>
            <a:srgbClr val="E5484D"/>
          </a:solidFill>
          <a:ln w="12700">
            <a:solidFill>
              <a:srgbClr val="FFFFFF"/>
            </a:solidFill>
            <a:prstDash val="solid"/>
          </a:ln>
        </p:spPr>
      </p:sp>
      <p:sp>
        <p:nvSpPr>
          <p:cNvPr id="34" name="Text 32"/>
          <p:cNvSpPr/>
          <p:nvPr/>
        </p:nvSpPr>
        <p:spPr>
          <a:xfrm>
            <a:off x="530352" y="4919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35" name="Shape 33"/>
          <p:cNvSpPr/>
          <p:nvPr/>
        </p:nvSpPr>
        <p:spPr>
          <a:xfrm>
            <a:off x="7818120" y="1618488"/>
            <a:ext cx="329184" cy="329184"/>
          </a:xfrm>
          <a:prstGeom prst="ellipse">
            <a:avLst/>
          </a:prstGeom>
          <a:solidFill>
            <a:srgbClr val="E5484D"/>
          </a:solidFill>
          <a:ln/>
        </p:spPr>
      </p:sp>
      <p:sp>
        <p:nvSpPr>
          <p:cNvPr id="36" name="Text 34"/>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7" name="Text 35"/>
          <p:cNvSpPr/>
          <p:nvPr/>
        </p:nvSpPr>
        <p:spPr>
          <a:xfrm>
            <a:off x="8275320" y="1600200"/>
            <a:ext cx="3364992" cy="757698"/>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「Only select repositories」を選ぶ</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Claude に見せるリポジトリを限定します</a:t>
            </a:r>
            <a:endParaRPr lang="en-US" sz="1400" dirty="0"/>
          </a:p>
        </p:txBody>
      </p:sp>
      <p:sp>
        <p:nvSpPr>
          <p:cNvPr id="38" name="Shape 36"/>
          <p:cNvSpPr/>
          <p:nvPr/>
        </p:nvSpPr>
        <p:spPr>
          <a:xfrm>
            <a:off x="7818120" y="2522490"/>
            <a:ext cx="329184" cy="329184"/>
          </a:xfrm>
          <a:prstGeom prst="ellipse">
            <a:avLst/>
          </a:prstGeom>
          <a:solidFill>
            <a:srgbClr val="E5484D"/>
          </a:solidFill>
          <a:ln/>
        </p:spPr>
      </p:sp>
      <p:sp>
        <p:nvSpPr>
          <p:cNvPr id="39" name="Text 37"/>
          <p:cNvSpPr/>
          <p:nvPr/>
        </p:nvSpPr>
        <p:spPr>
          <a:xfrm>
            <a:off x="7818120" y="252249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40" name="Text 38"/>
          <p:cNvSpPr/>
          <p:nvPr/>
        </p:nvSpPr>
        <p:spPr>
          <a:xfrm>
            <a:off x="8275320" y="2504202"/>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一覧から「teisha-tool」を選ぶ</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名前の一部を入力すると候補が出ます</a:t>
            </a:r>
            <a:endParaRPr lang="en-US" sz="1400" dirty="0"/>
          </a:p>
        </p:txBody>
      </p:sp>
      <p:sp>
        <p:nvSpPr>
          <p:cNvPr id="41" name="Shape 39"/>
          <p:cNvSpPr/>
          <p:nvPr/>
        </p:nvSpPr>
        <p:spPr>
          <a:xfrm>
            <a:off x="7818120" y="3170904"/>
            <a:ext cx="329184" cy="329184"/>
          </a:xfrm>
          <a:prstGeom prst="ellipse">
            <a:avLst/>
          </a:prstGeom>
          <a:solidFill>
            <a:srgbClr val="E5484D"/>
          </a:solidFill>
          <a:ln/>
        </p:spPr>
      </p:sp>
      <p:sp>
        <p:nvSpPr>
          <p:cNvPr id="42" name="Text 40"/>
          <p:cNvSpPr/>
          <p:nvPr/>
        </p:nvSpPr>
        <p:spPr>
          <a:xfrm>
            <a:off x="7818120" y="31709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43" name="Text 41"/>
          <p:cNvSpPr/>
          <p:nvPr/>
        </p:nvSpPr>
        <p:spPr>
          <a:xfrm>
            <a:off x="8275320" y="3152616"/>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緑の「Install」を押す</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パスワードを聞かれたら自分で入力</a:t>
            </a:r>
            <a:endParaRPr lang="en-US" sz="1400" dirty="0"/>
          </a:p>
        </p:txBody>
      </p:sp>
      <p:sp>
        <p:nvSpPr>
          <p:cNvPr id="44" name="Shape 42"/>
          <p:cNvSpPr/>
          <p:nvPr/>
        </p:nvSpPr>
        <p:spPr>
          <a:xfrm>
            <a:off x="7818120" y="4297680"/>
            <a:ext cx="3822192" cy="868680"/>
          </a:xfrm>
          <a:prstGeom prst="roundRect">
            <a:avLst>
              <a:gd name="adj" fmla="val 6316"/>
            </a:avLst>
          </a:prstGeom>
          <a:solidFill>
            <a:srgbClr val="F5F2EA"/>
          </a:solidFill>
          <a:ln/>
        </p:spPr>
      </p:sp>
      <p:sp>
        <p:nvSpPr>
          <p:cNvPr id="45" name="Shape 43"/>
          <p:cNvSpPr/>
          <p:nvPr/>
        </p:nvSpPr>
        <p:spPr>
          <a:xfrm>
            <a:off x="7818120" y="4297680"/>
            <a:ext cx="73152" cy="868680"/>
          </a:xfrm>
          <a:prstGeom prst="rect">
            <a:avLst/>
          </a:prstGeom>
          <a:solidFill>
            <a:srgbClr val="B08D47"/>
          </a:solidFill>
          <a:ln/>
        </p:spPr>
      </p:sp>
      <p:sp>
        <p:nvSpPr>
          <p:cNvPr id="46" name="Text 44"/>
          <p:cNvSpPr/>
          <p:nvPr/>
        </p:nvSpPr>
        <p:spPr>
          <a:xfrm>
            <a:off x="8046720" y="4297680"/>
            <a:ext cx="3456432" cy="868680"/>
          </a:xfrm>
          <a:prstGeom prst="rect">
            <a:avLst/>
          </a:prstGeom>
          <a:noFill/>
          <a:ln/>
        </p:spPr>
        <p:txBody>
          <a:bodyPr wrap="square" lIns="0" tIns="0" rIns="0" bIns="0" rtlCol="0" anchor="ctr"/>
          <a:lstStyle/>
          <a:p>
            <a:pPr indent="0" marL="0">
              <a:lnSpc>
                <a:spcPct val="110000"/>
              </a:lnSpc>
              <a:buNone/>
            </a:pPr>
            <a:r>
              <a:rPr lang="en-US" sz="115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150" dirty="0">
                <a:solidFill>
                  <a:srgbClr val="1F2A28"/>
                </a:solidFill>
                <a:latin typeface="Yu Gothic" pitchFamily="34" charset="0"/>
                <a:ea typeface="Yu Gothic" pitchFamily="34" charset="-122"/>
                <a:cs typeface="Yu Gothic" pitchFamily="34" charset="-120"/>
              </a:rPr>
              <a:t>この画面が自動で出ない場合は、上のURLを直接開きます。「Skip」は押さずに設定してください</a:t>
            </a:r>
            <a:endParaRPr lang="en-US" sz="1150" dirty="0"/>
          </a:p>
        </p:txBody>
      </p:sp>
      <p:sp>
        <p:nvSpPr>
          <p:cNvPr id="47" name="Shape 45"/>
          <p:cNvSpPr/>
          <p:nvPr/>
        </p:nvSpPr>
        <p:spPr>
          <a:xfrm>
            <a:off x="7818120" y="5303520"/>
            <a:ext cx="3822192" cy="868680"/>
          </a:xfrm>
          <a:prstGeom prst="roundRect">
            <a:avLst>
              <a:gd name="adj" fmla="val 6316"/>
            </a:avLst>
          </a:prstGeom>
          <a:solidFill>
            <a:srgbClr val="FBEFEC"/>
          </a:solidFill>
          <a:ln/>
        </p:spPr>
      </p:sp>
      <p:sp>
        <p:nvSpPr>
          <p:cNvPr id="48" name="Shape 46"/>
          <p:cNvSpPr/>
          <p:nvPr/>
        </p:nvSpPr>
        <p:spPr>
          <a:xfrm>
            <a:off x="7818120" y="5303520"/>
            <a:ext cx="73152" cy="868680"/>
          </a:xfrm>
          <a:prstGeom prst="rect">
            <a:avLst/>
          </a:prstGeom>
          <a:solidFill>
            <a:srgbClr val="9A4A3A"/>
          </a:solidFill>
          <a:ln/>
        </p:spPr>
      </p:sp>
      <p:sp>
        <p:nvSpPr>
          <p:cNvPr id="49" name="Text 47"/>
          <p:cNvSpPr/>
          <p:nvPr/>
        </p:nvSpPr>
        <p:spPr>
          <a:xfrm>
            <a:off x="8046720" y="5303520"/>
            <a:ext cx="3456432" cy="868680"/>
          </a:xfrm>
          <a:prstGeom prst="rect">
            <a:avLst/>
          </a:prstGeom>
          <a:noFill/>
          <a:ln/>
        </p:spPr>
        <p:txBody>
          <a:bodyPr wrap="square" lIns="0" tIns="0" rIns="0" bIns="0" rtlCol="0" anchor="ctr"/>
          <a:lstStyle/>
          <a:p>
            <a:pPr indent="0" marL="0">
              <a:lnSpc>
                <a:spcPct val="110000"/>
              </a:lnSpc>
              <a:buNone/>
            </a:pPr>
            <a:r>
              <a:rPr lang="en-US" sz="1150" b="1" dirty="0">
                <a:solidFill>
                  <a:srgbClr val="9A4A3A"/>
                </a:solidFill>
                <a:latin typeface="Yu Gothic" pitchFamily="34" charset="0"/>
                <a:ea typeface="Yu Gothic" pitchFamily="34" charset="-122"/>
                <a:cs typeface="Yu Gothic" pitchFamily="34" charset="-120"/>
              </a:rPr>
              <a:t>⚠　</a:t>
            </a:r>
            <a:pPr indent="0" marL="0">
              <a:lnSpc>
                <a:spcPct val="110000"/>
              </a:lnSpc>
              <a:buNone/>
            </a:pPr>
            <a:r>
              <a:rPr lang="en-US" sz="1150" dirty="0">
                <a:solidFill>
                  <a:srgbClr val="1F2A28"/>
                </a:solidFill>
                <a:latin typeface="Yu Gothic" pitchFamily="34" charset="0"/>
                <a:ea typeface="Yu Gothic" pitchFamily="34" charset="-122"/>
                <a:cs typeface="Yu Gothic" pitchFamily="34" charset="-120"/>
              </a:rPr>
              <a:t>会社の Team / Enterprise プランでは、管理者が「GitHub コネクタ」を有効にしていないと先に進めません</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第2部　STEP 7</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（表示されたら）クラウド環境を作る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Claude がプログラムを書くための「作業部屋」です。表示されなければ飛ばしてOK</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19</a:t>
            </a:r>
            <a:endParaRPr lang="en-US" sz="900" dirty="0"/>
          </a:p>
        </p:txBody>
      </p:sp>
      <p:sp>
        <p:nvSpPr>
          <p:cNvPr id="8" name="Shape 6"/>
          <p:cNvSpPr/>
          <p:nvPr/>
        </p:nvSpPr>
        <p:spPr>
          <a:xfrm>
            <a:off x="548640" y="1554480"/>
            <a:ext cx="6949440" cy="4206240"/>
          </a:xfrm>
          <a:prstGeom prst="roundRect">
            <a:avLst>
              <a:gd name="adj" fmla="val 1739"/>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https://claude.ai/code</a:t>
            </a:r>
            <a:endParaRPr lang="en-US" sz="950" dirty="0"/>
          </a:p>
        </p:txBody>
      </p:sp>
      <p:sp>
        <p:nvSpPr>
          <p:cNvPr id="15" name="Text 13"/>
          <p:cNvSpPr/>
          <p:nvPr/>
        </p:nvSpPr>
        <p:spPr>
          <a:xfrm>
            <a:off x="548640" y="579729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148840"/>
            <a:ext cx="6583680" cy="365760"/>
          </a:xfrm>
          <a:prstGeom prst="rect">
            <a:avLst/>
          </a:prstGeom>
          <a:noFill/>
          <a:ln/>
        </p:spPr>
        <p:txBody>
          <a:bodyPr wrap="square" lIns="0" tIns="0" rIns="0" bIns="0" rtlCol="0" anchor="t"/>
          <a:lstStyle/>
          <a:p>
            <a:pPr algn="ctr" indent="0" marL="0">
              <a:buNone/>
            </a:pPr>
            <a:r>
              <a:rPr lang="en-US" sz="1400" b="1" dirty="0">
                <a:solidFill>
                  <a:srgbClr val="1F1F1F"/>
                </a:solidFill>
                <a:latin typeface="Yu Gothic" pitchFamily="34" charset="0"/>
                <a:ea typeface="Yu Gothic" pitchFamily="34" charset="-122"/>
                <a:cs typeface="Yu Gothic" pitchFamily="34" charset="-120"/>
              </a:rPr>
              <a:t>Create your first cloud environment</a:t>
            </a:r>
            <a:endParaRPr lang="en-US" sz="1400" dirty="0"/>
          </a:p>
        </p:txBody>
      </p:sp>
      <p:sp>
        <p:nvSpPr>
          <p:cNvPr id="17" name="Text 15"/>
          <p:cNvSpPr/>
          <p:nvPr/>
        </p:nvSpPr>
        <p:spPr>
          <a:xfrm>
            <a:off x="2194560" y="2743200"/>
            <a:ext cx="2743200" cy="228600"/>
          </a:xfrm>
          <a:prstGeom prst="rect">
            <a:avLst/>
          </a:prstGeom>
          <a:noFill/>
          <a:ln/>
        </p:spPr>
        <p:txBody>
          <a:bodyPr wrap="square" lIns="0" tIns="0" rIns="0" bIns="0" rtlCol="0" anchor="t"/>
          <a:lstStyle/>
          <a:p>
            <a:pPr indent="0" marL="0">
              <a:buNone/>
            </a:pPr>
            <a:r>
              <a:rPr lang="en-US" sz="950" dirty="0">
                <a:solidFill>
                  <a:srgbClr val="6B6B6B"/>
                </a:solidFill>
                <a:latin typeface="Yu Gothic" pitchFamily="34" charset="0"/>
                <a:ea typeface="Yu Gothic" pitchFamily="34" charset="-122"/>
                <a:cs typeface="Yu Gothic" pitchFamily="34" charset="-120"/>
              </a:rPr>
              <a:t>Name</a:t>
            </a:r>
            <a:endParaRPr lang="en-US" sz="950" dirty="0"/>
          </a:p>
        </p:txBody>
      </p:sp>
      <p:sp>
        <p:nvSpPr>
          <p:cNvPr id="18" name="Shape 16"/>
          <p:cNvSpPr/>
          <p:nvPr/>
        </p:nvSpPr>
        <p:spPr>
          <a:xfrm>
            <a:off x="2194560" y="2971800"/>
            <a:ext cx="3657600" cy="347472"/>
          </a:xfrm>
          <a:prstGeom prst="roundRect">
            <a:avLst>
              <a:gd name="adj" fmla="val 15789"/>
            </a:avLst>
          </a:prstGeom>
          <a:solidFill>
            <a:srgbClr val="FFFFFF"/>
          </a:solidFill>
          <a:ln w="9525">
            <a:solidFill>
              <a:srgbClr val="C9CED6"/>
            </a:solidFill>
            <a:prstDash val="solid"/>
          </a:ln>
        </p:spPr>
      </p:sp>
      <p:sp>
        <p:nvSpPr>
          <p:cNvPr id="19" name="Text 17"/>
          <p:cNvSpPr/>
          <p:nvPr/>
        </p:nvSpPr>
        <p:spPr>
          <a:xfrm>
            <a:off x="2249424" y="2971800"/>
            <a:ext cx="3547872" cy="347472"/>
          </a:xfrm>
          <a:prstGeom prst="rect">
            <a:avLst/>
          </a:prstGeom>
          <a:noFill/>
          <a:ln/>
        </p:spPr>
        <p:txBody>
          <a:bodyPr wrap="square" lIns="0" tIns="0" rIns="0" bIns="0" rtlCol="0" anchor="ctr"/>
          <a:lstStyle/>
          <a:p>
            <a:pPr algn="l" indent="0" marL="0">
              <a:buNone/>
            </a:pPr>
            <a:r>
              <a:rPr lang="en-US" sz="1050" dirty="0">
                <a:solidFill>
                  <a:srgbClr val="24292F"/>
                </a:solidFill>
                <a:latin typeface="Yu Gothic" pitchFamily="34" charset="0"/>
                <a:ea typeface="Yu Gothic" pitchFamily="34" charset="-122"/>
                <a:cs typeface="Yu Gothic" pitchFamily="34" charset="-120"/>
              </a:rPr>
              <a:t>Default</a:t>
            </a:r>
            <a:endParaRPr lang="en-US" sz="1050" dirty="0"/>
          </a:p>
        </p:txBody>
      </p:sp>
      <p:sp>
        <p:nvSpPr>
          <p:cNvPr id="20" name="Text 18"/>
          <p:cNvSpPr/>
          <p:nvPr/>
        </p:nvSpPr>
        <p:spPr>
          <a:xfrm>
            <a:off x="2194560" y="3520440"/>
            <a:ext cx="2743200" cy="228600"/>
          </a:xfrm>
          <a:prstGeom prst="rect">
            <a:avLst/>
          </a:prstGeom>
          <a:noFill/>
          <a:ln/>
        </p:spPr>
        <p:txBody>
          <a:bodyPr wrap="square" lIns="0" tIns="0" rIns="0" bIns="0" rtlCol="0" anchor="t"/>
          <a:lstStyle/>
          <a:p>
            <a:pPr indent="0" marL="0">
              <a:buNone/>
            </a:pPr>
            <a:r>
              <a:rPr lang="en-US" sz="950" dirty="0">
                <a:solidFill>
                  <a:srgbClr val="6B6B6B"/>
                </a:solidFill>
                <a:latin typeface="Yu Gothic" pitchFamily="34" charset="0"/>
                <a:ea typeface="Yu Gothic" pitchFamily="34" charset="-122"/>
                <a:cs typeface="Yu Gothic" pitchFamily="34" charset="-120"/>
              </a:rPr>
              <a:t>Network access</a:t>
            </a:r>
            <a:endParaRPr lang="en-US" sz="950" dirty="0"/>
          </a:p>
        </p:txBody>
      </p:sp>
      <p:sp>
        <p:nvSpPr>
          <p:cNvPr id="21" name="Shape 19"/>
          <p:cNvSpPr/>
          <p:nvPr/>
        </p:nvSpPr>
        <p:spPr>
          <a:xfrm>
            <a:off x="2194560" y="3749040"/>
            <a:ext cx="3657600" cy="347472"/>
          </a:xfrm>
          <a:prstGeom prst="roundRect">
            <a:avLst>
              <a:gd name="adj" fmla="val 15789"/>
            </a:avLst>
          </a:prstGeom>
          <a:solidFill>
            <a:srgbClr val="FFFFFF"/>
          </a:solidFill>
          <a:ln w="9525">
            <a:solidFill>
              <a:srgbClr val="C9CED6"/>
            </a:solidFill>
            <a:prstDash val="solid"/>
          </a:ln>
        </p:spPr>
      </p:sp>
      <p:sp>
        <p:nvSpPr>
          <p:cNvPr id="22" name="Text 20"/>
          <p:cNvSpPr/>
          <p:nvPr/>
        </p:nvSpPr>
        <p:spPr>
          <a:xfrm>
            <a:off x="2249424" y="3749040"/>
            <a:ext cx="3547872" cy="347472"/>
          </a:xfrm>
          <a:prstGeom prst="rect">
            <a:avLst/>
          </a:prstGeom>
          <a:noFill/>
          <a:ln/>
        </p:spPr>
        <p:txBody>
          <a:bodyPr wrap="square" lIns="0" tIns="0" rIns="0" bIns="0" rtlCol="0" anchor="ctr"/>
          <a:lstStyle/>
          <a:p>
            <a:pPr algn="l" indent="0" marL="0">
              <a:buNone/>
            </a:pPr>
            <a:r>
              <a:rPr lang="en-US" sz="1050" dirty="0">
                <a:solidFill>
                  <a:srgbClr val="24292F"/>
                </a:solidFill>
                <a:latin typeface="Yu Gothic" pitchFamily="34" charset="0"/>
                <a:ea typeface="Yu Gothic" pitchFamily="34" charset="-122"/>
                <a:cs typeface="Yu Gothic" pitchFamily="34" charset="-120"/>
              </a:rPr>
              <a:t>Trusted ▾</a:t>
            </a:r>
            <a:endParaRPr lang="en-US" sz="1050" dirty="0"/>
          </a:p>
        </p:txBody>
      </p:sp>
      <p:sp>
        <p:nvSpPr>
          <p:cNvPr id="23" name="Shape 21"/>
          <p:cNvSpPr/>
          <p:nvPr/>
        </p:nvSpPr>
        <p:spPr>
          <a:xfrm>
            <a:off x="2194560" y="4572000"/>
            <a:ext cx="3657600" cy="402336"/>
          </a:xfrm>
          <a:prstGeom prst="roundRect">
            <a:avLst>
              <a:gd name="adj" fmla="val 13636"/>
            </a:avLst>
          </a:prstGeom>
          <a:solidFill>
            <a:srgbClr val="1F1F1F"/>
          </a:solidFill>
          <a:ln w="9525">
            <a:solidFill>
              <a:srgbClr val="1F1F1F"/>
            </a:solidFill>
            <a:prstDash val="solid"/>
          </a:ln>
        </p:spPr>
      </p:sp>
      <p:sp>
        <p:nvSpPr>
          <p:cNvPr id="24" name="Text 22"/>
          <p:cNvSpPr/>
          <p:nvPr/>
        </p:nvSpPr>
        <p:spPr>
          <a:xfrm>
            <a:off x="2249424" y="4572000"/>
            <a:ext cx="3547872"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Create &amp; finish</a:t>
            </a:r>
            <a:endParaRPr lang="en-US" sz="1100" dirty="0"/>
          </a:p>
        </p:txBody>
      </p:sp>
      <p:sp>
        <p:nvSpPr>
          <p:cNvPr id="25" name="Shape 23"/>
          <p:cNvSpPr/>
          <p:nvPr/>
        </p:nvSpPr>
        <p:spPr>
          <a:xfrm>
            <a:off x="2148840" y="4526280"/>
            <a:ext cx="3749040" cy="493776"/>
          </a:xfrm>
          <a:prstGeom prst="roundRect">
            <a:avLst>
              <a:gd name="adj" fmla="val 11111"/>
            </a:avLst>
          </a:prstGeom>
          <a:ln w="31750">
            <a:solidFill>
              <a:srgbClr val="E5484D"/>
            </a:solidFill>
            <a:prstDash val="solid"/>
          </a:ln>
        </p:spPr>
      </p:sp>
      <p:sp>
        <p:nvSpPr>
          <p:cNvPr id="26" name="Shape 24"/>
          <p:cNvSpPr/>
          <p:nvPr/>
        </p:nvSpPr>
        <p:spPr>
          <a:xfrm>
            <a:off x="1993392" y="4370832"/>
            <a:ext cx="310896" cy="310896"/>
          </a:xfrm>
          <a:prstGeom prst="ellipse">
            <a:avLst/>
          </a:prstGeom>
          <a:solidFill>
            <a:srgbClr val="E5484D"/>
          </a:solidFill>
          <a:ln w="12700">
            <a:solidFill>
              <a:srgbClr val="FFFFFF"/>
            </a:solidFill>
            <a:prstDash val="solid"/>
          </a:ln>
        </p:spPr>
      </p:sp>
      <p:sp>
        <p:nvSpPr>
          <p:cNvPr id="27" name="Text 25"/>
          <p:cNvSpPr/>
          <p:nvPr/>
        </p:nvSpPr>
        <p:spPr>
          <a:xfrm>
            <a:off x="1993392" y="4370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8" name="Shape 26"/>
          <p:cNvSpPr/>
          <p:nvPr/>
        </p:nvSpPr>
        <p:spPr>
          <a:xfrm>
            <a:off x="7818120" y="1618488"/>
            <a:ext cx="329184" cy="329184"/>
          </a:xfrm>
          <a:prstGeom prst="ellipse">
            <a:avLst/>
          </a:prstGeom>
          <a:solidFill>
            <a:srgbClr val="E5484D"/>
          </a:solidFill>
          <a:ln/>
        </p:spPr>
      </p:sp>
      <p:sp>
        <p:nvSpPr>
          <p:cNvPr id="29" name="Text 27"/>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0" name="Text 28"/>
          <p:cNvSpPr/>
          <p:nvPr/>
        </p:nvSpPr>
        <p:spPr>
          <a:xfrm>
            <a:off x="8275320" y="1600200"/>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設定は変えずに「Create &amp; finish」</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名前・ネットワーク設定は初期値のままでOK</a:t>
            </a:r>
            <a:endParaRPr lang="en-US" sz="1400" dirty="0"/>
          </a:p>
        </p:txBody>
      </p:sp>
      <p:sp>
        <p:nvSpPr>
          <p:cNvPr id="31" name="Shape 29"/>
          <p:cNvSpPr/>
          <p:nvPr/>
        </p:nvSpPr>
        <p:spPr>
          <a:xfrm>
            <a:off x="7818120" y="2743200"/>
            <a:ext cx="3822192" cy="2194560"/>
          </a:xfrm>
          <a:prstGeom prst="roundRect">
            <a:avLst>
              <a:gd name="adj" fmla="val 3333"/>
            </a:avLst>
          </a:prstGeom>
          <a:solidFill>
            <a:srgbClr val="FBF9F4"/>
          </a:solidFill>
          <a:ln w="12700">
            <a:solidFill>
              <a:srgbClr val="E4DFD4"/>
            </a:solidFill>
            <a:prstDash val="solid"/>
          </a:ln>
        </p:spPr>
      </p:sp>
      <p:sp>
        <p:nvSpPr>
          <p:cNvPr id="32" name="Text 30"/>
          <p:cNvSpPr/>
          <p:nvPr/>
        </p:nvSpPr>
        <p:spPr>
          <a:xfrm>
            <a:off x="8019288" y="2889504"/>
            <a:ext cx="341985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表示されるかどうか</a:t>
            </a:r>
            <a:endParaRPr lang="en-US" sz="1500" dirty="0"/>
          </a:p>
        </p:txBody>
      </p:sp>
      <p:sp>
        <p:nvSpPr>
          <p:cNvPr id="33" name="Text 31"/>
          <p:cNvSpPr/>
          <p:nvPr/>
        </p:nvSpPr>
        <p:spPr>
          <a:xfrm>
            <a:off x="8019288" y="3291840"/>
            <a:ext cx="3419856" cy="1536192"/>
          </a:xfrm>
          <a:prstGeom prst="rect">
            <a:avLst/>
          </a:prstGeom>
          <a:noFill/>
          <a:ln/>
        </p:spPr>
        <p:txBody>
          <a:bodyPr wrap="square" lIns="0" tIns="0" rIns="0" bIns="0" rtlCol="0" anchor="t"/>
          <a:lstStyle/>
          <a:p>
            <a:pPr indent="0" marL="0">
              <a:lnSpc>
                <a:spcPct val="120000"/>
              </a:lnSpc>
              <a:buNone/>
            </a:pPr>
            <a:r>
              <a:rPr lang="en-US" sz="1150" dirty="0">
                <a:solidFill>
                  <a:srgbClr val="3E3E3B"/>
                </a:solidFill>
                <a:latin typeface="Yu Gothic" pitchFamily="34" charset="0"/>
                <a:ea typeface="Yu Gothic" pitchFamily="34" charset="-122"/>
                <a:cs typeface="Yu Gothic" pitchFamily="34" charset="-120"/>
              </a:rPr>
              <a:t>Pro / Max プラン：</a:t>
            </a:r>
            <a:endParaRPr lang="en-US" sz="1150" dirty="0"/>
          </a:p>
          <a:p>
            <a:pPr indent="0" marL="0">
              <a:lnSpc>
                <a:spcPct val="120000"/>
              </a:lnSpc>
              <a:buNone/>
            </a:pPr>
            <a:r>
              <a:rPr lang="en-US" sz="1150" dirty="0">
                <a:solidFill>
                  <a:srgbClr val="3E3E3B"/>
                </a:solidFill>
                <a:latin typeface="Yu Gothic" pitchFamily="34" charset="0"/>
                <a:ea typeface="Yu Gothic" pitchFamily="34" charset="-122"/>
                <a:cs typeface="Yu Gothic" pitchFamily="34" charset="-120"/>
              </a:rPr>
              <a:t>自動で「Default」が作られるので、この画面は出ないことが多い</a:t>
            </a:r>
            <a:endParaRPr lang="en-US" sz="1150" dirty="0"/>
          </a:p>
          <a:p>
            <a:pPr indent="0" marL="0">
              <a:lnSpc>
                <a:spcPct val="120000"/>
              </a:lnSpc>
              <a:buNone/>
            </a:pPr>
            <a:endParaRPr lang="en-US" sz="1150" dirty="0"/>
          </a:p>
          <a:p>
            <a:pPr indent="0" marL="0">
              <a:lnSpc>
                <a:spcPct val="120000"/>
              </a:lnSpc>
              <a:buNone/>
            </a:pPr>
            <a:r>
              <a:rPr lang="en-US" sz="1150" dirty="0">
                <a:solidFill>
                  <a:srgbClr val="3E3E3B"/>
                </a:solidFill>
                <a:latin typeface="Yu Gothic" pitchFamily="34" charset="0"/>
                <a:ea typeface="Yu Gothic" pitchFamily="34" charset="-122"/>
                <a:cs typeface="Yu Gothic" pitchFamily="34" charset="-120"/>
              </a:rPr>
              <a:t>Team / Enterprise：</a:t>
            </a:r>
            <a:endParaRPr lang="en-US" sz="1150" dirty="0"/>
          </a:p>
          <a:p>
            <a:pPr indent="0" marL="0">
              <a:lnSpc>
                <a:spcPct val="120000"/>
              </a:lnSpc>
              <a:buNone/>
            </a:pPr>
            <a:r>
              <a:rPr lang="en-US" sz="1150" dirty="0">
                <a:solidFill>
                  <a:srgbClr val="3E3E3B"/>
                </a:solidFill>
                <a:latin typeface="Yu Gothic" pitchFamily="34" charset="0"/>
                <a:ea typeface="Yu Gothic" pitchFamily="34" charset="-122"/>
                <a:cs typeface="Yu Gothic" pitchFamily="34" charset="-120"/>
              </a:rPr>
              <a:t>この画面が出たら上の手順で作成</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第2部　STEP 8</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つながったか確かめる ① Claude 側</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リポジトリを選んで、最初のお願いをしてみます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20</a:t>
            </a:r>
            <a:endParaRPr lang="en-US" sz="900" dirty="0"/>
          </a:p>
        </p:txBody>
      </p:sp>
      <p:sp>
        <p:nvSpPr>
          <p:cNvPr id="8" name="Shape 6"/>
          <p:cNvSpPr/>
          <p:nvPr/>
        </p:nvSpPr>
        <p:spPr>
          <a:xfrm>
            <a:off x="548640" y="1554480"/>
            <a:ext cx="6400800" cy="2834640"/>
          </a:xfrm>
          <a:prstGeom prst="roundRect">
            <a:avLst>
              <a:gd name="adj" fmla="val 2581"/>
            </a:avLst>
          </a:prstGeom>
          <a:solidFill>
            <a:srgbClr val="FFFFFF"/>
          </a:solidFill>
          <a:ln w="12700">
            <a:solidFill>
              <a:srgbClr val="C9CED6"/>
            </a:solidFill>
            <a:prstDash val="solid"/>
          </a:ln>
        </p:spPr>
      </p:sp>
      <p:sp>
        <p:nvSpPr>
          <p:cNvPr id="9" name="Shape 7"/>
          <p:cNvSpPr/>
          <p:nvPr/>
        </p:nvSpPr>
        <p:spPr>
          <a:xfrm>
            <a:off x="566928" y="1572768"/>
            <a:ext cx="636422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548640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21208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https://claude.ai/code</a:t>
            </a:r>
            <a:endParaRPr lang="en-US" sz="950" dirty="0"/>
          </a:p>
        </p:txBody>
      </p:sp>
      <p:sp>
        <p:nvSpPr>
          <p:cNvPr id="15" name="Text 13"/>
          <p:cNvSpPr/>
          <p:nvPr/>
        </p:nvSpPr>
        <p:spPr>
          <a:xfrm>
            <a:off x="548640" y="4425696"/>
            <a:ext cx="640080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057400"/>
            <a:ext cx="6035040" cy="365760"/>
          </a:xfrm>
          <a:prstGeom prst="rect">
            <a:avLst/>
          </a:prstGeom>
          <a:noFill/>
          <a:ln/>
        </p:spPr>
        <p:txBody>
          <a:bodyPr wrap="square" lIns="0" tIns="0" rIns="0" bIns="0" rtlCol="0" anchor="t"/>
          <a:lstStyle/>
          <a:p>
            <a:pPr algn="ctr" indent="0" marL="0">
              <a:buNone/>
            </a:pPr>
            <a:r>
              <a:rPr lang="en-US" sz="1400" b="1" dirty="0">
                <a:solidFill>
                  <a:srgbClr val="1F1F1F"/>
                </a:solidFill>
                <a:latin typeface="Yu Gothic" pitchFamily="34" charset="0"/>
                <a:ea typeface="Yu Gothic" pitchFamily="34" charset="-122"/>
                <a:cs typeface="Yu Gothic" pitchFamily="34" charset="-120"/>
              </a:rPr>
              <a:t>What should we work on?</a:t>
            </a:r>
            <a:endParaRPr lang="en-US" sz="1400" dirty="0"/>
          </a:p>
        </p:txBody>
      </p:sp>
      <p:sp>
        <p:nvSpPr>
          <p:cNvPr id="17" name="Shape 15"/>
          <p:cNvSpPr/>
          <p:nvPr/>
        </p:nvSpPr>
        <p:spPr>
          <a:xfrm>
            <a:off x="1005840" y="2560320"/>
            <a:ext cx="5486400" cy="777240"/>
          </a:xfrm>
          <a:prstGeom prst="roundRect">
            <a:avLst>
              <a:gd name="adj" fmla="val 7059"/>
            </a:avLst>
          </a:prstGeom>
          <a:solidFill>
            <a:srgbClr val="FFFFFF"/>
          </a:solidFill>
          <a:ln w="9525">
            <a:solidFill>
              <a:srgbClr val="C9CED6"/>
            </a:solidFill>
            <a:prstDash val="solid"/>
          </a:ln>
        </p:spPr>
      </p:sp>
      <p:sp>
        <p:nvSpPr>
          <p:cNvPr id="18" name="Text 16"/>
          <p:cNvSpPr/>
          <p:nvPr/>
        </p:nvSpPr>
        <p:spPr>
          <a:xfrm>
            <a:off x="1060704" y="2560320"/>
            <a:ext cx="5376672" cy="777240"/>
          </a:xfrm>
          <a:prstGeom prst="rect">
            <a:avLst/>
          </a:prstGeom>
          <a:noFill/>
          <a:ln/>
        </p:spPr>
        <p:txBody>
          <a:bodyPr wrap="square" lIns="0" tIns="0" rIns="0" bIns="0" rtlCol="0" anchor="ctr"/>
          <a:lstStyle/>
          <a:p>
            <a:pPr algn="l" indent="0" marL="0">
              <a:buNone/>
            </a:pPr>
            <a:r>
              <a:rPr lang="en-US" sz="1050" dirty="0">
                <a:solidFill>
                  <a:srgbClr val="8C8C8C"/>
                </a:solidFill>
                <a:latin typeface="Yu Gothic" pitchFamily="34" charset="0"/>
                <a:ea typeface="Yu Gothic" pitchFamily="34" charset="-122"/>
                <a:cs typeface="Yu Gothic" pitchFamily="34" charset="-120"/>
              </a:rPr>
              <a:t>ここにプロンプトを貼り付け</a:t>
            </a:r>
            <a:endParaRPr lang="en-US" sz="1050" dirty="0"/>
          </a:p>
        </p:txBody>
      </p:sp>
      <p:sp>
        <p:nvSpPr>
          <p:cNvPr id="19" name="Shape 17"/>
          <p:cNvSpPr/>
          <p:nvPr/>
        </p:nvSpPr>
        <p:spPr>
          <a:xfrm>
            <a:off x="960120" y="2514600"/>
            <a:ext cx="5577840" cy="868680"/>
          </a:xfrm>
          <a:prstGeom prst="roundRect">
            <a:avLst>
              <a:gd name="adj" fmla="val 6316"/>
            </a:avLst>
          </a:prstGeom>
          <a:ln w="31750">
            <a:solidFill>
              <a:srgbClr val="E5484D"/>
            </a:solidFill>
            <a:prstDash val="solid"/>
          </a:ln>
        </p:spPr>
      </p:sp>
      <p:sp>
        <p:nvSpPr>
          <p:cNvPr id="20" name="Shape 18"/>
          <p:cNvSpPr/>
          <p:nvPr/>
        </p:nvSpPr>
        <p:spPr>
          <a:xfrm>
            <a:off x="804672" y="2359152"/>
            <a:ext cx="310896" cy="310896"/>
          </a:xfrm>
          <a:prstGeom prst="ellipse">
            <a:avLst/>
          </a:prstGeom>
          <a:solidFill>
            <a:srgbClr val="E5484D"/>
          </a:solidFill>
          <a:ln w="12700">
            <a:solidFill>
              <a:srgbClr val="FFFFFF"/>
            </a:solidFill>
            <a:prstDash val="solid"/>
          </a:ln>
        </p:spPr>
      </p:sp>
      <p:sp>
        <p:nvSpPr>
          <p:cNvPr id="21" name="Text 19"/>
          <p:cNvSpPr/>
          <p:nvPr/>
        </p:nvSpPr>
        <p:spPr>
          <a:xfrm>
            <a:off x="804672" y="23591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22" name="Shape 20"/>
          <p:cNvSpPr/>
          <p:nvPr/>
        </p:nvSpPr>
        <p:spPr>
          <a:xfrm>
            <a:off x="1005840" y="3520440"/>
            <a:ext cx="2194560" cy="292608"/>
          </a:xfrm>
          <a:prstGeom prst="roundRect">
            <a:avLst>
              <a:gd name="adj" fmla="val 46875"/>
            </a:avLst>
          </a:prstGeom>
          <a:solidFill>
            <a:srgbClr val="FFFFFF"/>
          </a:solidFill>
          <a:ln w="9525">
            <a:solidFill>
              <a:srgbClr val="C9CED6"/>
            </a:solidFill>
            <a:prstDash val="solid"/>
          </a:ln>
        </p:spPr>
      </p:sp>
      <p:sp>
        <p:nvSpPr>
          <p:cNvPr id="23" name="Text 21"/>
          <p:cNvSpPr/>
          <p:nvPr/>
        </p:nvSpPr>
        <p:spPr>
          <a:xfrm>
            <a:off x="1060704" y="3520440"/>
            <a:ext cx="2084832" cy="292608"/>
          </a:xfrm>
          <a:prstGeom prst="rect">
            <a:avLst/>
          </a:prstGeom>
          <a:noFill/>
          <a:ln/>
        </p:spPr>
        <p:txBody>
          <a:bodyPr wrap="square" lIns="0" tIns="0" rIns="0" bIns="0" rtlCol="0" anchor="ctr"/>
          <a:lstStyle/>
          <a:p>
            <a:pPr algn="ctr" indent="0" marL="0">
              <a:buNone/>
            </a:pPr>
            <a:r>
              <a:rPr lang="en-US" sz="1000" dirty="0">
                <a:solidFill>
                  <a:srgbClr val="24292F"/>
                </a:solidFill>
                <a:latin typeface="Yu Gothic" pitchFamily="34" charset="0"/>
                <a:ea typeface="Yu Gothic" pitchFamily="34" charset="-122"/>
                <a:cs typeface="Yu Gothic" pitchFamily="34" charset="-120"/>
              </a:rPr>
              <a:t>📁 teisha-tool ▾</a:t>
            </a:r>
            <a:endParaRPr lang="en-US" sz="1000" dirty="0"/>
          </a:p>
        </p:txBody>
      </p:sp>
      <p:sp>
        <p:nvSpPr>
          <p:cNvPr id="24" name="Shape 22"/>
          <p:cNvSpPr/>
          <p:nvPr/>
        </p:nvSpPr>
        <p:spPr>
          <a:xfrm>
            <a:off x="960120" y="3474720"/>
            <a:ext cx="2286000" cy="384048"/>
          </a:xfrm>
          <a:prstGeom prst="roundRect">
            <a:avLst>
              <a:gd name="adj" fmla="val 14286"/>
            </a:avLst>
          </a:prstGeom>
          <a:ln w="31750">
            <a:solidFill>
              <a:srgbClr val="E5484D"/>
            </a:solidFill>
            <a:prstDash val="solid"/>
          </a:ln>
        </p:spPr>
      </p:sp>
      <p:sp>
        <p:nvSpPr>
          <p:cNvPr id="25" name="Shape 23"/>
          <p:cNvSpPr/>
          <p:nvPr/>
        </p:nvSpPr>
        <p:spPr>
          <a:xfrm>
            <a:off x="804672" y="3319272"/>
            <a:ext cx="310896" cy="310896"/>
          </a:xfrm>
          <a:prstGeom prst="ellipse">
            <a:avLst/>
          </a:prstGeom>
          <a:solidFill>
            <a:srgbClr val="E5484D"/>
          </a:solidFill>
          <a:ln w="12700">
            <a:solidFill>
              <a:srgbClr val="FFFFFF"/>
            </a:solidFill>
            <a:prstDash val="solid"/>
          </a:ln>
        </p:spPr>
      </p:sp>
      <p:sp>
        <p:nvSpPr>
          <p:cNvPr id="26" name="Text 24"/>
          <p:cNvSpPr/>
          <p:nvPr/>
        </p:nvSpPr>
        <p:spPr>
          <a:xfrm>
            <a:off x="804672" y="3319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7" name="Shape 25"/>
          <p:cNvSpPr/>
          <p:nvPr/>
        </p:nvSpPr>
        <p:spPr>
          <a:xfrm>
            <a:off x="3337560" y="3520440"/>
            <a:ext cx="1005840" cy="292608"/>
          </a:xfrm>
          <a:prstGeom prst="roundRect">
            <a:avLst>
              <a:gd name="adj" fmla="val 46875"/>
            </a:avLst>
          </a:prstGeom>
          <a:solidFill>
            <a:srgbClr val="FFFFFF"/>
          </a:solidFill>
          <a:ln w="9525">
            <a:solidFill>
              <a:srgbClr val="C9CED6"/>
            </a:solidFill>
            <a:prstDash val="solid"/>
          </a:ln>
        </p:spPr>
      </p:sp>
      <p:sp>
        <p:nvSpPr>
          <p:cNvPr id="28" name="Text 26"/>
          <p:cNvSpPr/>
          <p:nvPr/>
        </p:nvSpPr>
        <p:spPr>
          <a:xfrm>
            <a:off x="3392424" y="3520440"/>
            <a:ext cx="896112" cy="292608"/>
          </a:xfrm>
          <a:prstGeom prst="rect">
            <a:avLst/>
          </a:prstGeom>
          <a:noFill/>
          <a:ln/>
        </p:spPr>
        <p:txBody>
          <a:bodyPr wrap="square" lIns="0" tIns="0" rIns="0" bIns="0" rtlCol="0" anchor="ctr"/>
          <a:lstStyle/>
          <a:p>
            <a:pPr algn="ctr" indent="0" marL="0">
              <a:buNone/>
            </a:pPr>
            <a:r>
              <a:rPr lang="en-US" sz="1000" dirty="0">
                <a:solidFill>
                  <a:srgbClr val="24292F"/>
                </a:solidFill>
                <a:latin typeface="Yu Gothic" pitchFamily="34" charset="0"/>
                <a:ea typeface="Yu Gothic" pitchFamily="34" charset="-122"/>
                <a:cs typeface="Yu Gothic" pitchFamily="34" charset="-120"/>
              </a:rPr>
              <a:t>main ▾</a:t>
            </a:r>
            <a:endParaRPr lang="en-US" sz="1000" dirty="0"/>
          </a:p>
        </p:txBody>
      </p:sp>
      <p:sp>
        <p:nvSpPr>
          <p:cNvPr id="29" name="Shape 27"/>
          <p:cNvSpPr/>
          <p:nvPr/>
        </p:nvSpPr>
        <p:spPr>
          <a:xfrm>
            <a:off x="6080760" y="3520440"/>
            <a:ext cx="411480" cy="292608"/>
          </a:xfrm>
          <a:prstGeom prst="roundRect">
            <a:avLst>
              <a:gd name="adj" fmla="val 46875"/>
            </a:avLst>
          </a:prstGeom>
          <a:solidFill>
            <a:srgbClr val="C15F3C"/>
          </a:solidFill>
          <a:ln w="9525">
            <a:solidFill>
              <a:srgbClr val="C15F3C"/>
            </a:solidFill>
            <a:prstDash val="solid"/>
          </a:ln>
        </p:spPr>
      </p:sp>
      <p:sp>
        <p:nvSpPr>
          <p:cNvPr id="30" name="Text 28"/>
          <p:cNvSpPr/>
          <p:nvPr/>
        </p:nvSpPr>
        <p:spPr>
          <a:xfrm>
            <a:off x="6135624" y="3520440"/>
            <a:ext cx="30175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a:t>
            </a:r>
            <a:endParaRPr lang="en-US" sz="1000" dirty="0"/>
          </a:p>
        </p:txBody>
      </p:sp>
      <p:sp>
        <p:nvSpPr>
          <p:cNvPr id="31" name="Shape 29"/>
          <p:cNvSpPr/>
          <p:nvPr/>
        </p:nvSpPr>
        <p:spPr>
          <a:xfrm>
            <a:off x="6035040" y="3474720"/>
            <a:ext cx="502920" cy="384048"/>
          </a:xfrm>
          <a:prstGeom prst="roundRect">
            <a:avLst>
              <a:gd name="adj" fmla="val 14286"/>
            </a:avLst>
          </a:prstGeom>
          <a:ln w="31750">
            <a:solidFill>
              <a:srgbClr val="E5484D"/>
            </a:solidFill>
            <a:prstDash val="solid"/>
          </a:ln>
        </p:spPr>
      </p:sp>
      <p:sp>
        <p:nvSpPr>
          <p:cNvPr id="32" name="Shape 30"/>
          <p:cNvSpPr/>
          <p:nvPr/>
        </p:nvSpPr>
        <p:spPr>
          <a:xfrm>
            <a:off x="5879592" y="3319272"/>
            <a:ext cx="310896" cy="310896"/>
          </a:xfrm>
          <a:prstGeom prst="ellipse">
            <a:avLst/>
          </a:prstGeom>
          <a:solidFill>
            <a:srgbClr val="E5484D"/>
          </a:solidFill>
          <a:ln w="12700">
            <a:solidFill>
              <a:srgbClr val="FFFFFF"/>
            </a:solidFill>
            <a:prstDash val="solid"/>
          </a:ln>
        </p:spPr>
      </p:sp>
      <p:sp>
        <p:nvSpPr>
          <p:cNvPr id="33" name="Text 31"/>
          <p:cNvSpPr/>
          <p:nvPr/>
        </p:nvSpPr>
        <p:spPr>
          <a:xfrm>
            <a:off x="5879592" y="3319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34" name="Shape 32"/>
          <p:cNvSpPr/>
          <p:nvPr/>
        </p:nvSpPr>
        <p:spPr>
          <a:xfrm>
            <a:off x="7315200" y="1618488"/>
            <a:ext cx="329184" cy="329184"/>
          </a:xfrm>
          <a:prstGeom prst="ellipse">
            <a:avLst/>
          </a:prstGeom>
          <a:solidFill>
            <a:srgbClr val="E5484D"/>
          </a:solidFill>
          <a:ln/>
        </p:spPr>
      </p:sp>
      <p:sp>
        <p:nvSpPr>
          <p:cNvPr id="35" name="Text 33"/>
          <p:cNvSpPr/>
          <p:nvPr/>
        </p:nvSpPr>
        <p:spPr>
          <a:xfrm>
            <a:off x="731520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6" name="Text 34"/>
          <p:cNvSpPr/>
          <p:nvPr/>
        </p:nvSpPr>
        <p:spPr>
          <a:xfrm>
            <a:off x="7772400" y="1600200"/>
            <a:ext cx="3867912" cy="465598"/>
          </a:xfrm>
          <a:prstGeom prst="rect">
            <a:avLst/>
          </a:prstGeom>
          <a:noFill/>
          <a:ln/>
        </p:spPr>
        <p:txBody>
          <a:bodyPr wrap="square" lIns="0" tIns="0" rIns="0" bIns="0" rtlCol="0" anchor="t"/>
          <a:lstStyle/>
          <a:p>
            <a:pPr indent="0" marL="0">
              <a:lnSpc>
                <a:spcPct val="115000"/>
              </a:lnSpc>
              <a:buNone/>
            </a:pPr>
            <a:r>
              <a:rPr lang="en-US" sz="1300" b="1" dirty="0">
                <a:solidFill>
                  <a:srgbClr val="1F2A28"/>
                </a:solidFill>
                <a:latin typeface="Yu Gothic" pitchFamily="34" charset="0"/>
                <a:ea typeface="Yu Gothic" pitchFamily="34" charset="-122"/>
                <a:cs typeface="Yu Gothic" pitchFamily="34" charset="-120"/>
              </a:rPr>
              <a:t>入力欄の下で「teisha-tool」を選ぶ</a:t>
            </a:r>
            <a:endParaRPr lang="en-US" sz="1300" dirty="0"/>
          </a:p>
          <a:p>
            <a:pPr indent="0" marL="0">
              <a:lnSpc>
                <a:spcPct val="115000"/>
              </a:lnSpc>
              <a:buNone/>
            </a:pPr>
            <a:r>
              <a:rPr lang="en-US" sz="1050" dirty="0">
                <a:solidFill>
                  <a:srgbClr val="3E3E3B"/>
                </a:solidFill>
                <a:latin typeface="Yu Gothic" pitchFamily="34" charset="0"/>
                <a:ea typeface="Yu Gothic" pitchFamily="34" charset="-122"/>
                <a:cs typeface="Yu Gothic" pitchFamily="34" charset="-120"/>
              </a:rPr>
              <a:t>リポジトリ名の部分を押すと一覧が出ます</a:t>
            </a:r>
            <a:endParaRPr lang="en-US" sz="1300" dirty="0"/>
          </a:p>
        </p:txBody>
      </p:sp>
      <p:sp>
        <p:nvSpPr>
          <p:cNvPr id="37" name="Shape 35"/>
          <p:cNvSpPr/>
          <p:nvPr/>
        </p:nvSpPr>
        <p:spPr>
          <a:xfrm>
            <a:off x="7315200" y="2230390"/>
            <a:ext cx="329184" cy="329184"/>
          </a:xfrm>
          <a:prstGeom prst="ellipse">
            <a:avLst/>
          </a:prstGeom>
          <a:solidFill>
            <a:srgbClr val="E5484D"/>
          </a:solidFill>
          <a:ln/>
        </p:spPr>
      </p:sp>
      <p:sp>
        <p:nvSpPr>
          <p:cNvPr id="38" name="Text 36"/>
          <p:cNvSpPr/>
          <p:nvPr/>
        </p:nvSpPr>
        <p:spPr>
          <a:xfrm>
            <a:off x="7315200" y="223039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39" name="Text 37"/>
          <p:cNvSpPr/>
          <p:nvPr/>
        </p:nvSpPr>
        <p:spPr>
          <a:xfrm>
            <a:off x="7772400" y="2212102"/>
            <a:ext cx="3867912" cy="384048"/>
          </a:xfrm>
          <a:prstGeom prst="rect">
            <a:avLst/>
          </a:prstGeom>
          <a:noFill/>
          <a:ln/>
        </p:spPr>
        <p:txBody>
          <a:bodyPr wrap="square" lIns="0" tIns="0" rIns="0" bIns="0" rtlCol="0" anchor="t"/>
          <a:lstStyle/>
          <a:p>
            <a:pPr indent="0" marL="0">
              <a:lnSpc>
                <a:spcPct val="115000"/>
              </a:lnSpc>
              <a:buNone/>
            </a:pPr>
            <a:r>
              <a:rPr lang="en-US" sz="1300" b="1" dirty="0">
                <a:solidFill>
                  <a:srgbClr val="1F2A28"/>
                </a:solidFill>
                <a:latin typeface="Yu Gothic" pitchFamily="34" charset="0"/>
                <a:ea typeface="Yu Gothic" pitchFamily="34" charset="-122"/>
                <a:cs typeface="Yu Gothic" pitchFamily="34" charset="-120"/>
              </a:rPr>
              <a:t>下のプロンプトを貼り付け</a:t>
            </a:r>
            <a:endParaRPr lang="en-US" sz="1300" dirty="0"/>
          </a:p>
        </p:txBody>
      </p:sp>
      <p:sp>
        <p:nvSpPr>
          <p:cNvPr id="40" name="Shape 38"/>
          <p:cNvSpPr/>
          <p:nvPr/>
        </p:nvSpPr>
        <p:spPr>
          <a:xfrm>
            <a:off x="7315200" y="2760742"/>
            <a:ext cx="329184" cy="329184"/>
          </a:xfrm>
          <a:prstGeom prst="ellipse">
            <a:avLst/>
          </a:prstGeom>
          <a:solidFill>
            <a:srgbClr val="E5484D"/>
          </a:solidFill>
          <a:ln/>
        </p:spPr>
      </p:sp>
      <p:sp>
        <p:nvSpPr>
          <p:cNvPr id="41" name="Text 39"/>
          <p:cNvSpPr/>
          <p:nvPr/>
        </p:nvSpPr>
        <p:spPr>
          <a:xfrm>
            <a:off x="7315200" y="276074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42" name="Text 40"/>
          <p:cNvSpPr/>
          <p:nvPr/>
        </p:nvSpPr>
        <p:spPr>
          <a:xfrm>
            <a:off x="7772400" y="2742454"/>
            <a:ext cx="3867912" cy="384048"/>
          </a:xfrm>
          <a:prstGeom prst="rect">
            <a:avLst/>
          </a:prstGeom>
          <a:noFill/>
          <a:ln/>
        </p:spPr>
        <p:txBody>
          <a:bodyPr wrap="square" lIns="0" tIns="0" rIns="0" bIns="0" rtlCol="0" anchor="t"/>
          <a:lstStyle/>
          <a:p>
            <a:pPr indent="0" marL="0">
              <a:lnSpc>
                <a:spcPct val="115000"/>
              </a:lnSpc>
              <a:buNone/>
            </a:pPr>
            <a:r>
              <a:rPr lang="en-US" sz="1300" b="1" dirty="0">
                <a:solidFill>
                  <a:srgbClr val="1F2A28"/>
                </a:solidFill>
                <a:latin typeface="Yu Gothic" pitchFamily="34" charset="0"/>
                <a:ea typeface="Yu Gothic" pitchFamily="34" charset="-122"/>
                <a:cs typeface="Yu Gothic" pitchFamily="34" charset="-120"/>
              </a:rPr>
              <a:t>送信（↑）または Enter</a:t>
            </a:r>
            <a:endParaRPr lang="en-US" sz="1300" dirty="0"/>
          </a:p>
        </p:txBody>
      </p:sp>
      <p:sp>
        <p:nvSpPr>
          <p:cNvPr id="43" name="Shape 41"/>
          <p:cNvSpPr/>
          <p:nvPr/>
        </p:nvSpPr>
        <p:spPr>
          <a:xfrm>
            <a:off x="548640" y="4709160"/>
            <a:ext cx="6400800" cy="1554480"/>
          </a:xfrm>
          <a:prstGeom prst="roundRect">
            <a:avLst>
              <a:gd name="adj" fmla="val 4706"/>
            </a:avLst>
          </a:prstGeom>
          <a:solidFill>
            <a:srgbClr val="1E293B"/>
          </a:solidFill>
          <a:ln/>
        </p:spPr>
      </p:sp>
      <p:sp>
        <p:nvSpPr>
          <p:cNvPr id="44" name="Text 42"/>
          <p:cNvSpPr/>
          <p:nvPr/>
        </p:nvSpPr>
        <p:spPr>
          <a:xfrm>
            <a:off x="777240" y="4818888"/>
            <a:ext cx="5943600" cy="256032"/>
          </a:xfrm>
          <a:prstGeom prst="rect">
            <a:avLst/>
          </a:prstGeom>
          <a:noFill/>
          <a:ln/>
        </p:spPr>
        <p:txBody>
          <a:bodyPr wrap="square" lIns="0" tIns="0" rIns="0" bIns="0" rtlCol="0" anchor="t"/>
          <a:lstStyle/>
          <a:p>
            <a:pPr indent="0" marL="0">
              <a:buNone/>
            </a:pPr>
            <a:r>
              <a:rPr lang="en-US" sz="1050" b="1" dirty="0">
                <a:solidFill>
                  <a:srgbClr val="CBB07A"/>
                </a:solidFill>
                <a:latin typeface="Yu Gothic" pitchFamily="34" charset="0"/>
                <a:ea typeface="Yu Gothic" pitchFamily="34" charset="-122"/>
                <a:cs typeface="Yu Gothic" pitchFamily="34" charset="-120"/>
              </a:rPr>
              <a:t>📋 コピーして Claude の入力欄に貼り付け</a:t>
            </a:r>
            <a:endParaRPr lang="en-US" sz="1050" dirty="0"/>
          </a:p>
        </p:txBody>
      </p:sp>
      <p:sp>
        <p:nvSpPr>
          <p:cNvPr id="45" name="Text 43"/>
          <p:cNvSpPr/>
          <p:nvPr/>
        </p:nvSpPr>
        <p:spPr>
          <a:xfrm>
            <a:off x="777240" y="5148072"/>
            <a:ext cx="5943600" cy="1005840"/>
          </a:xfrm>
          <a:prstGeom prst="rect">
            <a:avLst/>
          </a:prstGeom>
          <a:noFill/>
          <a:ln/>
        </p:spPr>
        <p:txBody>
          <a:bodyPr wrap="square" lIns="0" tIns="0" rIns="0" bIns="0" rtlCol="0" anchor="t"/>
          <a:lstStyle/>
          <a:p>
            <a:pPr indent="0" marL="0">
              <a:lnSpc>
                <a:spcPct val="112000"/>
              </a:lnSpc>
              <a:buNone/>
            </a:pPr>
            <a:r>
              <a:rPr lang="en-US" sz="1150" dirty="0">
                <a:solidFill>
                  <a:srgbClr val="F1F5F9"/>
                </a:solidFill>
                <a:latin typeface="Yu Gothic" pitchFamily="34" charset="0"/>
                <a:ea typeface="Yu Gothic" pitchFamily="34" charset="-122"/>
                <a:cs typeface="Yu Gothic" pitchFamily="34" charset="-120"/>
              </a:rPr>
              <a:t>このリポジトリに入っているファイルとフォルダの一覧を表示してください。</a:t>
            </a:r>
            <a:endParaRPr lang="en-US" sz="1150" dirty="0"/>
          </a:p>
          <a:p>
            <a:pPr indent="0" marL="0">
              <a:lnSpc>
                <a:spcPct val="112000"/>
              </a:lnSpc>
              <a:buNone/>
            </a:pPr>
            <a:r>
              <a:rPr lang="en-US" sz="1150" dirty="0">
                <a:solidFill>
                  <a:srgbClr val="F1F5F9"/>
                </a:solidFill>
                <a:latin typeface="Yu Gothic" pitchFamily="34" charset="0"/>
                <a:ea typeface="Yu Gothic" pitchFamily="34" charset="-122"/>
                <a:cs typeface="Yu Gothic" pitchFamily="34" charset="-120"/>
              </a:rPr>
              <a:t>あわせて README.md の中身を教えてください。</a:t>
            </a:r>
            <a:endParaRPr lang="en-US" sz="1150" dirty="0"/>
          </a:p>
          <a:p>
            <a:pPr indent="0" marL="0">
              <a:lnSpc>
                <a:spcPct val="112000"/>
              </a:lnSpc>
              <a:buNone/>
            </a:pPr>
            <a:r>
              <a:rPr lang="en-US" sz="1150" dirty="0">
                <a:solidFill>
                  <a:srgbClr val="F1F5F9"/>
                </a:solidFill>
                <a:latin typeface="Yu Gothic" pitchFamily="34" charset="0"/>
                <a:ea typeface="Yu Gothic" pitchFamily="34" charset="-122"/>
                <a:cs typeface="Yu Gothic" pitchFamily="34" charset="-120"/>
              </a:rPr>
              <a:t>ファイルの変更はしないでください。</a:t>
            </a:r>
            <a:endParaRPr lang="en-US" sz="1150" dirty="0"/>
          </a:p>
        </p:txBody>
      </p:sp>
      <p:sp>
        <p:nvSpPr>
          <p:cNvPr id="46" name="Shape 44"/>
          <p:cNvSpPr/>
          <p:nvPr/>
        </p:nvSpPr>
        <p:spPr>
          <a:xfrm>
            <a:off x="7315200" y="3703320"/>
            <a:ext cx="4325112" cy="2560320"/>
          </a:xfrm>
          <a:prstGeom prst="roundRect">
            <a:avLst>
              <a:gd name="adj" fmla="val 2857"/>
            </a:avLst>
          </a:prstGeom>
          <a:solidFill>
            <a:srgbClr val="FBF9F4"/>
          </a:solidFill>
          <a:ln w="12700">
            <a:solidFill>
              <a:srgbClr val="2F7D5B"/>
            </a:solidFill>
            <a:prstDash val="solid"/>
          </a:ln>
        </p:spPr>
      </p:sp>
      <p:sp>
        <p:nvSpPr>
          <p:cNvPr id="47" name="Text 45"/>
          <p:cNvSpPr/>
          <p:nvPr/>
        </p:nvSpPr>
        <p:spPr>
          <a:xfrm>
            <a:off x="7516368" y="3849624"/>
            <a:ext cx="3922776" cy="365760"/>
          </a:xfrm>
          <a:prstGeom prst="rect">
            <a:avLst/>
          </a:prstGeom>
          <a:noFill/>
          <a:ln/>
        </p:spPr>
        <p:txBody>
          <a:bodyPr wrap="square" lIns="0" tIns="0" rIns="0" bIns="0" rtlCol="0" anchor="t"/>
          <a:lstStyle/>
          <a:p>
            <a:pPr indent="0" marL="0">
              <a:buNone/>
            </a:pPr>
            <a:r>
              <a:rPr lang="en-US" sz="1500" b="1" dirty="0">
                <a:solidFill>
                  <a:srgbClr val="2F7D5B"/>
                </a:solidFill>
                <a:latin typeface="Yu Gothic" pitchFamily="34" charset="0"/>
                <a:ea typeface="Yu Gothic" pitchFamily="34" charset="-122"/>
                <a:cs typeface="Yu Gothic" pitchFamily="34" charset="-120"/>
              </a:rPr>
              <a:t>こう返ってくれば成功</a:t>
            </a:r>
            <a:endParaRPr lang="en-US" sz="1500" dirty="0"/>
          </a:p>
        </p:txBody>
      </p:sp>
      <p:sp>
        <p:nvSpPr>
          <p:cNvPr id="48" name="Text 46"/>
          <p:cNvSpPr/>
          <p:nvPr/>
        </p:nvSpPr>
        <p:spPr>
          <a:xfrm>
            <a:off x="7516368" y="4251960"/>
            <a:ext cx="3922776" cy="1901952"/>
          </a:xfrm>
          <a:prstGeom prst="rect">
            <a:avLst/>
          </a:prstGeom>
          <a:noFill/>
          <a:ln/>
        </p:spPr>
        <p:txBody>
          <a:bodyPr wrap="square" lIns="0" tIns="0" rIns="0" bIns="0" rtlCol="0" anchor="t"/>
          <a:lstStyle/>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「README.md が1つあります」</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「中身は # teisha-tool だけです」</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といった返事が来る</a:t>
            </a:r>
            <a:endParaRPr lang="en-US" sz="1200" dirty="0"/>
          </a:p>
          <a:p>
            <a:pPr indent="0" marL="0">
              <a:lnSpc>
                <a:spcPct val="120000"/>
              </a:lnSpc>
              <a:buNone/>
            </a:pP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 Claude があなたのリポジトリを読めています</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第2部　STEP 8</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つながったか確かめる ② GitHub 側</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GitHub の設定画面でも、Claude が登録されているか確かめます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21</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https://github.com/settings/installations</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Shape 14"/>
          <p:cNvSpPr/>
          <p:nvPr/>
        </p:nvSpPr>
        <p:spPr>
          <a:xfrm>
            <a:off x="731520" y="2057400"/>
            <a:ext cx="1828800" cy="3520440"/>
          </a:xfrm>
          <a:prstGeom prst="rect">
            <a:avLst/>
          </a:prstGeom>
          <a:solidFill>
            <a:srgbClr val="F6F8FA"/>
          </a:solidFill>
          <a:ln/>
        </p:spPr>
      </p:sp>
      <p:sp>
        <p:nvSpPr>
          <p:cNvPr id="17" name="Text 15"/>
          <p:cNvSpPr/>
          <p:nvPr/>
        </p:nvSpPr>
        <p:spPr>
          <a:xfrm>
            <a:off x="868680" y="2130552"/>
            <a:ext cx="1645920" cy="274320"/>
          </a:xfrm>
          <a:prstGeom prst="rect">
            <a:avLst/>
          </a:prstGeom>
          <a:noFill/>
          <a:ln/>
        </p:spPr>
        <p:txBody>
          <a:bodyPr wrap="square" lIns="0" tIns="0" rIns="0" bIns="0" rtlCol="0" anchor="ctr"/>
          <a:lstStyle/>
          <a:p>
            <a:pPr indent="0" marL="0">
              <a:buNone/>
            </a:pPr>
            <a:r>
              <a:rPr lang="en-US" sz="950" dirty="0">
                <a:solidFill>
                  <a:srgbClr val="24292F"/>
                </a:solidFill>
                <a:latin typeface="Yu Gothic" pitchFamily="34" charset="0"/>
                <a:ea typeface="Yu Gothic" pitchFamily="34" charset="-122"/>
                <a:cs typeface="Yu Gothic" pitchFamily="34" charset="-120"/>
              </a:rPr>
              <a:t>Public profile</a:t>
            </a:r>
            <a:endParaRPr lang="en-US" sz="950" dirty="0"/>
          </a:p>
        </p:txBody>
      </p:sp>
      <p:sp>
        <p:nvSpPr>
          <p:cNvPr id="18" name="Text 16"/>
          <p:cNvSpPr/>
          <p:nvPr/>
        </p:nvSpPr>
        <p:spPr>
          <a:xfrm>
            <a:off x="868680" y="2459736"/>
            <a:ext cx="1645920" cy="274320"/>
          </a:xfrm>
          <a:prstGeom prst="rect">
            <a:avLst/>
          </a:prstGeom>
          <a:noFill/>
          <a:ln/>
        </p:spPr>
        <p:txBody>
          <a:bodyPr wrap="square" lIns="0" tIns="0" rIns="0" bIns="0" rtlCol="0" anchor="ctr"/>
          <a:lstStyle/>
          <a:p>
            <a:pPr indent="0" marL="0">
              <a:buNone/>
            </a:pPr>
            <a:r>
              <a:rPr lang="en-US" sz="950" dirty="0">
                <a:solidFill>
                  <a:srgbClr val="24292F"/>
                </a:solidFill>
                <a:latin typeface="Yu Gothic" pitchFamily="34" charset="0"/>
                <a:ea typeface="Yu Gothic" pitchFamily="34" charset="-122"/>
                <a:cs typeface="Yu Gothic" pitchFamily="34" charset="-120"/>
              </a:rPr>
              <a:t>Account</a:t>
            </a:r>
            <a:endParaRPr lang="en-US" sz="950" dirty="0"/>
          </a:p>
        </p:txBody>
      </p:sp>
      <p:sp>
        <p:nvSpPr>
          <p:cNvPr id="19" name="Text 17"/>
          <p:cNvSpPr/>
          <p:nvPr/>
        </p:nvSpPr>
        <p:spPr>
          <a:xfrm>
            <a:off x="868680" y="2788920"/>
            <a:ext cx="1645920" cy="274320"/>
          </a:xfrm>
          <a:prstGeom prst="rect">
            <a:avLst/>
          </a:prstGeom>
          <a:noFill/>
          <a:ln/>
        </p:spPr>
        <p:txBody>
          <a:bodyPr wrap="square" lIns="0" tIns="0" rIns="0" bIns="0" rtlCol="0" anchor="ctr"/>
          <a:lstStyle/>
          <a:p>
            <a:pPr indent="0" marL="0">
              <a:buNone/>
            </a:pPr>
            <a:r>
              <a:rPr lang="en-US" sz="950" dirty="0">
                <a:solidFill>
                  <a:srgbClr val="24292F"/>
                </a:solidFill>
                <a:latin typeface="Yu Gothic" pitchFamily="34" charset="0"/>
                <a:ea typeface="Yu Gothic" pitchFamily="34" charset="-122"/>
                <a:cs typeface="Yu Gothic" pitchFamily="34" charset="-120"/>
              </a:rPr>
              <a:t>Appearance</a:t>
            </a:r>
            <a:endParaRPr lang="en-US" sz="950" dirty="0"/>
          </a:p>
        </p:txBody>
      </p:sp>
      <p:sp>
        <p:nvSpPr>
          <p:cNvPr id="20" name="Text 18"/>
          <p:cNvSpPr/>
          <p:nvPr/>
        </p:nvSpPr>
        <p:spPr>
          <a:xfrm>
            <a:off x="868680" y="3118104"/>
            <a:ext cx="1645920" cy="274320"/>
          </a:xfrm>
          <a:prstGeom prst="rect">
            <a:avLst/>
          </a:prstGeom>
          <a:noFill/>
          <a:ln/>
        </p:spPr>
        <p:txBody>
          <a:bodyPr wrap="square" lIns="0" tIns="0" rIns="0" bIns="0" rtlCol="0" anchor="ctr"/>
          <a:lstStyle/>
          <a:p>
            <a:pPr indent="0" marL="0">
              <a:buNone/>
            </a:pPr>
            <a:r>
              <a:rPr lang="en-US" sz="950" dirty="0">
                <a:solidFill>
                  <a:srgbClr val="24292F"/>
                </a:solidFill>
                <a:latin typeface="Yu Gothic" pitchFamily="34" charset="0"/>
                <a:ea typeface="Yu Gothic" pitchFamily="34" charset="-122"/>
                <a:cs typeface="Yu Gothic" pitchFamily="34" charset="-120"/>
              </a:rPr>
              <a:t>Notifications</a:t>
            </a:r>
            <a:endParaRPr lang="en-US" sz="950" dirty="0"/>
          </a:p>
        </p:txBody>
      </p:sp>
      <p:sp>
        <p:nvSpPr>
          <p:cNvPr id="21" name="Text 19"/>
          <p:cNvSpPr/>
          <p:nvPr/>
        </p:nvSpPr>
        <p:spPr>
          <a:xfrm>
            <a:off x="868680" y="3447288"/>
            <a:ext cx="1645920" cy="274320"/>
          </a:xfrm>
          <a:prstGeom prst="rect">
            <a:avLst/>
          </a:prstGeom>
          <a:noFill/>
          <a:ln/>
        </p:spPr>
        <p:txBody>
          <a:bodyPr wrap="square" lIns="0" tIns="0" rIns="0" bIns="0" rtlCol="0" anchor="ctr"/>
          <a:lstStyle/>
          <a:p>
            <a:pPr indent="0" marL="0">
              <a:buNone/>
            </a:pPr>
            <a:r>
              <a:rPr lang="en-US" sz="950" dirty="0">
                <a:solidFill>
                  <a:srgbClr val="24292F"/>
                </a:solidFill>
                <a:latin typeface="Yu Gothic" pitchFamily="34" charset="0"/>
                <a:ea typeface="Yu Gothic" pitchFamily="34" charset="-122"/>
                <a:cs typeface="Yu Gothic" pitchFamily="34" charset="-120"/>
              </a:rPr>
              <a:t>Billing</a:t>
            </a:r>
            <a:endParaRPr lang="en-US" sz="950" dirty="0"/>
          </a:p>
        </p:txBody>
      </p:sp>
      <p:sp>
        <p:nvSpPr>
          <p:cNvPr id="22" name="Text 20"/>
          <p:cNvSpPr/>
          <p:nvPr/>
        </p:nvSpPr>
        <p:spPr>
          <a:xfrm>
            <a:off x="868680" y="3776472"/>
            <a:ext cx="1645920" cy="274320"/>
          </a:xfrm>
          <a:prstGeom prst="rect">
            <a:avLst/>
          </a:prstGeom>
          <a:noFill/>
          <a:ln/>
        </p:spPr>
        <p:txBody>
          <a:bodyPr wrap="square" lIns="0" tIns="0" rIns="0" bIns="0" rtlCol="0" anchor="ctr"/>
          <a:lstStyle/>
          <a:p>
            <a:pPr indent="0" marL="0">
              <a:buNone/>
            </a:pPr>
            <a:r>
              <a:rPr lang="en-US" sz="950" dirty="0">
                <a:solidFill>
                  <a:srgbClr val="24292F"/>
                </a:solidFill>
                <a:latin typeface="Yu Gothic" pitchFamily="34" charset="0"/>
                <a:ea typeface="Yu Gothic" pitchFamily="34" charset="-122"/>
                <a:cs typeface="Yu Gothic" pitchFamily="34" charset="-120"/>
              </a:rPr>
              <a:t>Emails</a:t>
            </a:r>
            <a:endParaRPr lang="en-US" sz="950" dirty="0"/>
          </a:p>
        </p:txBody>
      </p:sp>
      <p:sp>
        <p:nvSpPr>
          <p:cNvPr id="23" name="Text 21"/>
          <p:cNvSpPr/>
          <p:nvPr/>
        </p:nvSpPr>
        <p:spPr>
          <a:xfrm>
            <a:off x="868680" y="4105656"/>
            <a:ext cx="1645920" cy="274320"/>
          </a:xfrm>
          <a:prstGeom prst="rect">
            <a:avLst/>
          </a:prstGeom>
          <a:noFill/>
          <a:ln/>
        </p:spPr>
        <p:txBody>
          <a:bodyPr wrap="square" lIns="0" tIns="0" rIns="0" bIns="0" rtlCol="0" anchor="ctr"/>
          <a:lstStyle/>
          <a:p>
            <a:pPr indent="0" marL="0">
              <a:buNone/>
            </a:pPr>
            <a:r>
              <a:rPr lang="en-US" sz="950" dirty="0">
                <a:solidFill>
                  <a:srgbClr val="24292F"/>
                </a:solidFill>
                <a:latin typeface="Yu Gothic" pitchFamily="34" charset="0"/>
                <a:ea typeface="Yu Gothic" pitchFamily="34" charset="-122"/>
                <a:cs typeface="Yu Gothic" pitchFamily="34" charset="-120"/>
              </a:rPr>
              <a:t>Password</a:t>
            </a:r>
            <a:endParaRPr lang="en-US" sz="950" dirty="0"/>
          </a:p>
        </p:txBody>
      </p:sp>
      <p:sp>
        <p:nvSpPr>
          <p:cNvPr id="24" name="Text 22"/>
          <p:cNvSpPr/>
          <p:nvPr/>
        </p:nvSpPr>
        <p:spPr>
          <a:xfrm>
            <a:off x="868680" y="4434840"/>
            <a:ext cx="1645920" cy="274320"/>
          </a:xfrm>
          <a:prstGeom prst="rect">
            <a:avLst/>
          </a:prstGeom>
          <a:noFill/>
          <a:ln/>
        </p:spPr>
        <p:txBody>
          <a:bodyPr wrap="square" lIns="0" tIns="0" rIns="0" bIns="0" rtlCol="0" anchor="ctr"/>
          <a:lstStyle/>
          <a:p>
            <a:pPr indent="0" marL="0">
              <a:buNone/>
            </a:pPr>
            <a:r>
              <a:rPr lang="en-US" sz="950" dirty="0">
                <a:solidFill>
                  <a:srgbClr val="24292F"/>
                </a:solidFill>
                <a:latin typeface="Yu Gothic" pitchFamily="34" charset="0"/>
                <a:ea typeface="Yu Gothic" pitchFamily="34" charset="-122"/>
                <a:cs typeface="Yu Gothic" pitchFamily="34" charset="-120"/>
              </a:rPr>
              <a:t>SSH keys</a:t>
            </a:r>
            <a:endParaRPr lang="en-US" sz="950" dirty="0"/>
          </a:p>
        </p:txBody>
      </p:sp>
      <p:sp>
        <p:nvSpPr>
          <p:cNvPr id="25" name="Text 23"/>
          <p:cNvSpPr/>
          <p:nvPr/>
        </p:nvSpPr>
        <p:spPr>
          <a:xfrm>
            <a:off x="868680" y="4764024"/>
            <a:ext cx="1645920" cy="274320"/>
          </a:xfrm>
          <a:prstGeom prst="rect">
            <a:avLst/>
          </a:prstGeom>
          <a:noFill/>
          <a:ln/>
        </p:spPr>
        <p:txBody>
          <a:bodyPr wrap="square" lIns="0" tIns="0" rIns="0" bIns="0" rtlCol="0" anchor="ctr"/>
          <a:lstStyle/>
          <a:p>
            <a:pPr indent="0" marL="0">
              <a:buNone/>
            </a:pPr>
            <a:r>
              <a:rPr lang="en-US" sz="950" b="1" dirty="0">
                <a:solidFill>
                  <a:srgbClr val="24292F"/>
                </a:solidFill>
                <a:latin typeface="Yu Gothic" pitchFamily="34" charset="0"/>
                <a:ea typeface="Yu Gothic" pitchFamily="34" charset="-122"/>
                <a:cs typeface="Yu Gothic" pitchFamily="34" charset="-120"/>
              </a:rPr>
              <a:t>Applications</a:t>
            </a:r>
            <a:endParaRPr lang="en-US" sz="950" dirty="0"/>
          </a:p>
        </p:txBody>
      </p:sp>
      <p:sp>
        <p:nvSpPr>
          <p:cNvPr id="26" name="Shape 24"/>
          <p:cNvSpPr/>
          <p:nvPr/>
        </p:nvSpPr>
        <p:spPr>
          <a:xfrm>
            <a:off x="777240" y="4718304"/>
            <a:ext cx="1554480" cy="365760"/>
          </a:xfrm>
          <a:prstGeom prst="roundRect">
            <a:avLst>
              <a:gd name="adj" fmla="val 15000"/>
            </a:avLst>
          </a:prstGeom>
          <a:ln w="31750">
            <a:solidFill>
              <a:srgbClr val="E5484D"/>
            </a:solidFill>
            <a:prstDash val="solid"/>
          </a:ln>
        </p:spPr>
      </p:sp>
      <p:sp>
        <p:nvSpPr>
          <p:cNvPr id="27" name="Shape 25"/>
          <p:cNvSpPr/>
          <p:nvPr/>
        </p:nvSpPr>
        <p:spPr>
          <a:xfrm>
            <a:off x="2359152" y="4745736"/>
            <a:ext cx="310896" cy="310896"/>
          </a:xfrm>
          <a:prstGeom prst="ellipse">
            <a:avLst/>
          </a:prstGeom>
          <a:solidFill>
            <a:srgbClr val="E5484D"/>
          </a:solidFill>
          <a:ln w="12700">
            <a:solidFill>
              <a:srgbClr val="FFFFFF"/>
            </a:solidFill>
            <a:prstDash val="solid"/>
          </a:ln>
        </p:spPr>
      </p:sp>
      <p:sp>
        <p:nvSpPr>
          <p:cNvPr id="28" name="Text 26"/>
          <p:cNvSpPr/>
          <p:nvPr/>
        </p:nvSpPr>
        <p:spPr>
          <a:xfrm>
            <a:off x="2359152" y="47457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29" name="Text 27"/>
          <p:cNvSpPr/>
          <p:nvPr/>
        </p:nvSpPr>
        <p:spPr>
          <a:xfrm>
            <a:off x="2834640" y="2103120"/>
            <a:ext cx="1508760" cy="384048"/>
          </a:xfrm>
          <a:prstGeom prst="rect">
            <a:avLst/>
          </a:prstGeom>
          <a:noFill/>
          <a:ln/>
        </p:spPr>
        <p:txBody>
          <a:bodyPr wrap="square" lIns="0" tIns="0" rIns="0" bIns="0" rtlCol="0" anchor="ctr"/>
          <a:lstStyle/>
          <a:p>
            <a:pPr indent="0" marL="0">
              <a:buNone/>
            </a:pPr>
            <a:r>
              <a:rPr lang="en-US" sz="900" b="1" dirty="0">
                <a:solidFill>
                  <a:srgbClr val="24292F"/>
                </a:solidFill>
                <a:latin typeface="Yu Gothic" pitchFamily="34" charset="0"/>
                <a:ea typeface="Yu Gothic" pitchFamily="34" charset="-122"/>
                <a:cs typeface="Yu Gothic" pitchFamily="34" charset="-120"/>
              </a:rPr>
              <a:t>Installed GitHub Apps</a:t>
            </a:r>
            <a:endParaRPr lang="en-US" sz="900" dirty="0"/>
          </a:p>
        </p:txBody>
      </p:sp>
      <p:sp>
        <p:nvSpPr>
          <p:cNvPr id="30" name="Text 28"/>
          <p:cNvSpPr/>
          <p:nvPr/>
        </p:nvSpPr>
        <p:spPr>
          <a:xfrm>
            <a:off x="4389120" y="2103120"/>
            <a:ext cx="1508760" cy="384048"/>
          </a:xfrm>
          <a:prstGeom prst="rect">
            <a:avLst/>
          </a:prstGeom>
          <a:noFill/>
          <a:ln/>
        </p:spPr>
        <p:txBody>
          <a:bodyPr wrap="square" lIns="0" tIns="0" rIns="0" bIns="0" rtlCol="0" anchor="ctr"/>
          <a:lstStyle/>
          <a:p>
            <a:pPr indent="0" marL="0">
              <a:buNone/>
            </a:pPr>
            <a:r>
              <a:rPr lang="en-US" sz="900" dirty="0">
                <a:solidFill>
                  <a:srgbClr val="24292F"/>
                </a:solidFill>
                <a:latin typeface="Yu Gothic" pitchFamily="34" charset="0"/>
                <a:ea typeface="Yu Gothic" pitchFamily="34" charset="-122"/>
                <a:cs typeface="Yu Gothic" pitchFamily="34" charset="-120"/>
              </a:rPr>
              <a:t>Authorized GitHub Apps</a:t>
            </a:r>
            <a:endParaRPr lang="en-US" sz="900" dirty="0"/>
          </a:p>
        </p:txBody>
      </p:sp>
      <p:sp>
        <p:nvSpPr>
          <p:cNvPr id="31" name="Text 29"/>
          <p:cNvSpPr/>
          <p:nvPr/>
        </p:nvSpPr>
        <p:spPr>
          <a:xfrm>
            <a:off x="5943600" y="2103120"/>
            <a:ext cx="1508760" cy="384048"/>
          </a:xfrm>
          <a:prstGeom prst="rect">
            <a:avLst/>
          </a:prstGeom>
          <a:noFill/>
          <a:ln/>
        </p:spPr>
        <p:txBody>
          <a:bodyPr wrap="square" lIns="0" tIns="0" rIns="0" bIns="0" rtlCol="0" anchor="ctr"/>
          <a:lstStyle/>
          <a:p>
            <a:pPr indent="0" marL="0">
              <a:buNone/>
            </a:pPr>
            <a:r>
              <a:rPr lang="en-US" sz="900" dirty="0">
                <a:solidFill>
                  <a:srgbClr val="24292F"/>
                </a:solidFill>
                <a:latin typeface="Yu Gothic" pitchFamily="34" charset="0"/>
                <a:ea typeface="Yu Gothic" pitchFamily="34" charset="-122"/>
                <a:cs typeface="Yu Gothic" pitchFamily="34" charset="-120"/>
              </a:rPr>
              <a:t>Authorized OAuth Apps</a:t>
            </a:r>
            <a:endParaRPr lang="en-US" sz="900" dirty="0"/>
          </a:p>
        </p:txBody>
      </p:sp>
      <p:sp>
        <p:nvSpPr>
          <p:cNvPr id="32" name="Shape 30"/>
          <p:cNvSpPr/>
          <p:nvPr/>
        </p:nvSpPr>
        <p:spPr>
          <a:xfrm>
            <a:off x="2788920" y="2103120"/>
            <a:ext cx="1508760" cy="384048"/>
          </a:xfrm>
          <a:prstGeom prst="roundRect">
            <a:avLst>
              <a:gd name="adj" fmla="val 14286"/>
            </a:avLst>
          </a:prstGeom>
          <a:ln w="31750">
            <a:solidFill>
              <a:srgbClr val="E5484D"/>
            </a:solidFill>
            <a:prstDash val="solid"/>
          </a:ln>
        </p:spPr>
      </p:sp>
      <p:sp>
        <p:nvSpPr>
          <p:cNvPr id="33" name="Shape 31"/>
          <p:cNvSpPr/>
          <p:nvPr/>
        </p:nvSpPr>
        <p:spPr>
          <a:xfrm>
            <a:off x="2633472" y="1947672"/>
            <a:ext cx="310896" cy="310896"/>
          </a:xfrm>
          <a:prstGeom prst="ellipse">
            <a:avLst/>
          </a:prstGeom>
          <a:solidFill>
            <a:srgbClr val="E5484D"/>
          </a:solidFill>
          <a:ln w="12700">
            <a:solidFill>
              <a:srgbClr val="FFFFFF"/>
            </a:solidFill>
            <a:prstDash val="solid"/>
          </a:ln>
        </p:spPr>
      </p:sp>
      <p:sp>
        <p:nvSpPr>
          <p:cNvPr id="34" name="Text 32"/>
          <p:cNvSpPr/>
          <p:nvPr/>
        </p:nvSpPr>
        <p:spPr>
          <a:xfrm>
            <a:off x="2633472" y="1947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35" name="Shape 33"/>
          <p:cNvSpPr/>
          <p:nvPr/>
        </p:nvSpPr>
        <p:spPr>
          <a:xfrm>
            <a:off x="2834640" y="2743200"/>
            <a:ext cx="4480560" cy="548640"/>
          </a:xfrm>
          <a:prstGeom prst="rect">
            <a:avLst/>
          </a:prstGeom>
          <a:solidFill>
            <a:srgbClr val="FFFFFF"/>
          </a:solidFill>
          <a:ln w="9525">
            <a:solidFill>
              <a:srgbClr val="D0D7DE"/>
            </a:solidFill>
            <a:prstDash val="solid"/>
          </a:ln>
        </p:spPr>
      </p:sp>
      <p:sp>
        <p:nvSpPr>
          <p:cNvPr id="36" name="Text 34"/>
          <p:cNvSpPr/>
          <p:nvPr/>
        </p:nvSpPr>
        <p:spPr>
          <a:xfrm>
            <a:off x="2971800" y="2743200"/>
            <a:ext cx="1828800" cy="548640"/>
          </a:xfrm>
          <a:prstGeom prst="rect">
            <a:avLst/>
          </a:prstGeom>
          <a:noFill/>
          <a:ln/>
        </p:spPr>
        <p:txBody>
          <a:bodyPr wrap="square" lIns="0" tIns="0" rIns="0" bIns="0" rtlCol="0" anchor="ctr"/>
          <a:lstStyle/>
          <a:p>
            <a:pPr indent="0" marL="0">
              <a:buNone/>
            </a:pPr>
            <a:r>
              <a:rPr lang="en-US" sz="1100" b="1" dirty="0">
                <a:solidFill>
                  <a:srgbClr val="24292F"/>
                </a:solidFill>
                <a:latin typeface="Yu Gothic" pitchFamily="34" charset="0"/>
                <a:ea typeface="Yu Gothic" pitchFamily="34" charset="-122"/>
                <a:cs typeface="Yu Gothic" pitchFamily="34" charset="-120"/>
              </a:rPr>
              <a:t>Claude</a:t>
            </a:r>
            <a:endParaRPr lang="en-US" sz="1100" dirty="0"/>
          </a:p>
        </p:txBody>
      </p:sp>
      <p:sp>
        <p:nvSpPr>
          <p:cNvPr id="37" name="Shape 35"/>
          <p:cNvSpPr/>
          <p:nvPr/>
        </p:nvSpPr>
        <p:spPr>
          <a:xfrm>
            <a:off x="6309360" y="2862072"/>
            <a:ext cx="868680" cy="310896"/>
          </a:xfrm>
          <a:prstGeom prst="roundRect">
            <a:avLst>
              <a:gd name="adj" fmla="val 17647"/>
            </a:avLst>
          </a:prstGeom>
          <a:solidFill>
            <a:srgbClr val="FFFFFF"/>
          </a:solidFill>
          <a:ln w="9525">
            <a:solidFill>
              <a:srgbClr val="C9CED6"/>
            </a:solidFill>
            <a:prstDash val="solid"/>
          </a:ln>
        </p:spPr>
      </p:sp>
      <p:sp>
        <p:nvSpPr>
          <p:cNvPr id="38" name="Text 36"/>
          <p:cNvSpPr/>
          <p:nvPr/>
        </p:nvSpPr>
        <p:spPr>
          <a:xfrm>
            <a:off x="6364224" y="2862072"/>
            <a:ext cx="758952" cy="310896"/>
          </a:xfrm>
          <a:prstGeom prst="rect">
            <a:avLst/>
          </a:prstGeom>
          <a:noFill/>
          <a:ln/>
        </p:spPr>
        <p:txBody>
          <a:bodyPr wrap="square" lIns="0" tIns="0" rIns="0" bIns="0" rtlCol="0" anchor="ctr"/>
          <a:lstStyle/>
          <a:p>
            <a:pPr algn="ctr" indent="0" marL="0">
              <a:buNone/>
            </a:pPr>
            <a:r>
              <a:rPr lang="en-US" sz="950" dirty="0">
                <a:solidFill>
                  <a:srgbClr val="24292F"/>
                </a:solidFill>
                <a:latin typeface="Yu Gothic" pitchFamily="34" charset="0"/>
                <a:ea typeface="Yu Gothic" pitchFamily="34" charset="-122"/>
                <a:cs typeface="Yu Gothic" pitchFamily="34" charset="-120"/>
              </a:rPr>
              <a:t>Configure</a:t>
            </a:r>
            <a:endParaRPr lang="en-US" sz="950" dirty="0"/>
          </a:p>
        </p:txBody>
      </p:sp>
      <p:sp>
        <p:nvSpPr>
          <p:cNvPr id="39" name="Shape 37"/>
          <p:cNvSpPr/>
          <p:nvPr/>
        </p:nvSpPr>
        <p:spPr>
          <a:xfrm>
            <a:off x="6263640" y="2816352"/>
            <a:ext cx="960120" cy="402336"/>
          </a:xfrm>
          <a:prstGeom prst="roundRect">
            <a:avLst>
              <a:gd name="adj" fmla="val 13636"/>
            </a:avLst>
          </a:prstGeom>
          <a:ln w="31750">
            <a:solidFill>
              <a:srgbClr val="E5484D"/>
            </a:solidFill>
            <a:prstDash val="solid"/>
          </a:ln>
        </p:spPr>
      </p:sp>
      <p:sp>
        <p:nvSpPr>
          <p:cNvPr id="40" name="Shape 38"/>
          <p:cNvSpPr/>
          <p:nvPr/>
        </p:nvSpPr>
        <p:spPr>
          <a:xfrm>
            <a:off x="6108192" y="2660904"/>
            <a:ext cx="310896" cy="310896"/>
          </a:xfrm>
          <a:prstGeom prst="ellipse">
            <a:avLst/>
          </a:prstGeom>
          <a:solidFill>
            <a:srgbClr val="E5484D"/>
          </a:solidFill>
          <a:ln w="12700">
            <a:solidFill>
              <a:srgbClr val="FFFFFF"/>
            </a:solidFill>
            <a:prstDash val="solid"/>
          </a:ln>
        </p:spPr>
      </p:sp>
      <p:sp>
        <p:nvSpPr>
          <p:cNvPr id="41" name="Text 39"/>
          <p:cNvSpPr/>
          <p:nvPr/>
        </p:nvSpPr>
        <p:spPr>
          <a:xfrm>
            <a:off x="6108192" y="26609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42" name="Text 40"/>
          <p:cNvSpPr/>
          <p:nvPr/>
        </p:nvSpPr>
        <p:spPr>
          <a:xfrm>
            <a:off x="2834640" y="3611880"/>
            <a:ext cx="2743200" cy="274320"/>
          </a:xfrm>
          <a:prstGeom prst="rect">
            <a:avLst/>
          </a:prstGeom>
          <a:noFill/>
          <a:ln/>
        </p:spPr>
        <p:txBody>
          <a:bodyPr wrap="square" lIns="0" tIns="0" rIns="0" bIns="0" rtlCol="0" anchor="t"/>
          <a:lstStyle/>
          <a:p>
            <a:pPr indent="0" marL="0">
              <a:buNone/>
            </a:pPr>
            <a:r>
              <a:rPr lang="en-US" sz="1000" b="1" dirty="0">
                <a:solidFill>
                  <a:srgbClr val="24292F"/>
                </a:solidFill>
                <a:latin typeface="Yu Gothic" pitchFamily="34" charset="0"/>
                <a:ea typeface="Yu Gothic" pitchFamily="34" charset="-122"/>
                <a:cs typeface="Yu Gothic" pitchFamily="34" charset="-120"/>
              </a:rPr>
              <a:t>Repository access</a:t>
            </a:r>
            <a:endParaRPr lang="en-US" sz="1000" dirty="0"/>
          </a:p>
        </p:txBody>
      </p:sp>
      <p:sp>
        <p:nvSpPr>
          <p:cNvPr id="43" name="Shape 41"/>
          <p:cNvSpPr/>
          <p:nvPr/>
        </p:nvSpPr>
        <p:spPr>
          <a:xfrm>
            <a:off x="2834640" y="3931920"/>
            <a:ext cx="2926080" cy="310896"/>
          </a:xfrm>
          <a:prstGeom prst="roundRect">
            <a:avLst>
              <a:gd name="adj" fmla="val 17647"/>
            </a:avLst>
          </a:prstGeom>
          <a:solidFill>
            <a:srgbClr val="FFFFFF"/>
          </a:solidFill>
          <a:ln w="9525">
            <a:solidFill>
              <a:srgbClr val="C9CED6"/>
            </a:solidFill>
            <a:prstDash val="solid"/>
          </a:ln>
        </p:spPr>
      </p:sp>
      <p:sp>
        <p:nvSpPr>
          <p:cNvPr id="44" name="Text 42"/>
          <p:cNvSpPr/>
          <p:nvPr/>
        </p:nvSpPr>
        <p:spPr>
          <a:xfrm>
            <a:off x="2889504" y="3931920"/>
            <a:ext cx="2816352" cy="310896"/>
          </a:xfrm>
          <a:prstGeom prst="rect">
            <a:avLst/>
          </a:prstGeom>
          <a:noFill/>
          <a:ln/>
        </p:spPr>
        <p:txBody>
          <a:bodyPr wrap="square" lIns="0" tIns="0" rIns="0" bIns="0" rtlCol="0" anchor="ctr"/>
          <a:lstStyle/>
          <a:p>
            <a:pPr algn="l" indent="0" marL="0">
              <a:buNone/>
            </a:pPr>
            <a:r>
              <a:rPr lang="en-US" sz="950" dirty="0">
                <a:solidFill>
                  <a:srgbClr val="24292F"/>
                </a:solidFill>
                <a:latin typeface="Yu Gothic" pitchFamily="34" charset="0"/>
                <a:ea typeface="Yu Gothic" pitchFamily="34" charset="-122"/>
                <a:cs typeface="Yu Gothic" pitchFamily="34" charset="-120"/>
              </a:rPr>
              <a:t>🔒 （ユーザー名）/teisha-tool</a:t>
            </a:r>
            <a:endParaRPr lang="en-US" sz="950" dirty="0"/>
          </a:p>
        </p:txBody>
      </p:sp>
      <p:sp>
        <p:nvSpPr>
          <p:cNvPr id="45" name="Shape 43"/>
          <p:cNvSpPr/>
          <p:nvPr/>
        </p:nvSpPr>
        <p:spPr>
          <a:xfrm>
            <a:off x="2788920" y="3886200"/>
            <a:ext cx="3017520" cy="402336"/>
          </a:xfrm>
          <a:prstGeom prst="roundRect">
            <a:avLst>
              <a:gd name="adj" fmla="val 13636"/>
            </a:avLst>
          </a:prstGeom>
          <a:ln w="31750">
            <a:solidFill>
              <a:srgbClr val="E5484D"/>
            </a:solidFill>
            <a:prstDash val="solid"/>
          </a:ln>
        </p:spPr>
      </p:sp>
      <p:sp>
        <p:nvSpPr>
          <p:cNvPr id="46" name="Shape 44"/>
          <p:cNvSpPr/>
          <p:nvPr/>
        </p:nvSpPr>
        <p:spPr>
          <a:xfrm>
            <a:off x="5833872" y="3931920"/>
            <a:ext cx="310896" cy="310896"/>
          </a:xfrm>
          <a:prstGeom prst="ellipse">
            <a:avLst/>
          </a:prstGeom>
          <a:solidFill>
            <a:srgbClr val="E5484D"/>
          </a:solidFill>
          <a:ln w="12700">
            <a:solidFill>
              <a:srgbClr val="FFFFFF"/>
            </a:solidFill>
            <a:prstDash val="solid"/>
          </a:ln>
        </p:spPr>
      </p:sp>
      <p:sp>
        <p:nvSpPr>
          <p:cNvPr id="47" name="Text 45"/>
          <p:cNvSpPr/>
          <p:nvPr/>
        </p:nvSpPr>
        <p:spPr>
          <a:xfrm>
            <a:off x="5833872" y="39319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5</a:t>
            </a:r>
            <a:endParaRPr lang="en-US" sz="1200" dirty="0"/>
          </a:p>
        </p:txBody>
      </p:sp>
      <p:sp>
        <p:nvSpPr>
          <p:cNvPr id="48" name="Shape 46"/>
          <p:cNvSpPr/>
          <p:nvPr/>
        </p:nvSpPr>
        <p:spPr>
          <a:xfrm>
            <a:off x="7818120" y="1618488"/>
            <a:ext cx="329184" cy="329184"/>
          </a:xfrm>
          <a:prstGeom prst="ellipse">
            <a:avLst/>
          </a:prstGeom>
          <a:solidFill>
            <a:srgbClr val="E5484D"/>
          </a:solidFill>
          <a:ln/>
        </p:spPr>
      </p:sp>
      <p:sp>
        <p:nvSpPr>
          <p:cNvPr id="49" name="Text 47"/>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50" name="Text 48"/>
          <p:cNvSpPr/>
          <p:nvPr/>
        </p:nvSpPr>
        <p:spPr>
          <a:xfrm>
            <a:off x="8275320" y="1600200"/>
            <a:ext cx="3364992" cy="384048"/>
          </a:xfrm>
          <a:prstGeom prst="rect">
            <a:avLst/>
          </a:prstGeom>
          <a:noFill/>
          <a:ln/>
        </p:spPr>
        <p:txBody>
          <a:bodyPr wrap="square" lIns="0" tIns="0" rIns="0" bIns="0" rtlCol="0" anchor="t"/>
          <a:lstStyle/>
          <a:p>
            <a:pPr indent="0" marL="0">
              <a:lnSpc>
                <a:spcPct val="115000"/>
              </a:lnSpc>
              <a:buNone/>
            </a:pPr>
            <a:r>
              <a:rPr lang="en-US" sz="1300" b="1" dirty="0">
                <a:solidFill>
                  <a:srgbClr val="1F2A28"/>
                </a:solidFill>
                <a:latin typeface="Yu Gothic" pitchFamily="34" charset="0"/>
                <a:ea typeface="Yu Gothic" pitchFamily="34" charset="-122"/>
                <a:cs typeface="Yu Gothic" pitchFamily="34" charset="-120"/>
              </a:rPr>
              <a:t>右上の自分のアイコン →「Settings」</a:t>
            </a:r>
            <a:endParaRPr lang="en-US" sz="1300" dirty="0"/>
          </a:p>
        </p:txBody>
      </p:sp>
      <p:sp>
        <p:nvSpPr>
          <p:cNvPr id="51" name="Shape 49"/>
          <p:cNvSpPr/>
          <p:nvPr/>
        </p:nvSpPr>
        <p:spPr>
          <a:xfrm>
            <a:off x="7818120" y="2130552"/>
            <a:ext cx="329184" cy="329184"/>
          </a:xfrm>
          <a:prstGeom prst="ellipse">
            <a:avLst/>
          </a:prstGeom>
          <a:solidFill>
            <a:srgbClr val="E5484D"/>
          </a:solidFill>
          <a:ln/>
        </p:spPr>
      </p:sp>
      <p:sp>
        <p:nvSpPr>
          <p:cNvPr id="52" name="Text 50"/>
          <p:cNvSpPr/>
          <p:nvPr/>
        </p:nvSpPr>
        <p:spPr>
          <a:xfrm>
            <a:off x="7818120" y="21305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53" name="Text 51"/>
          <p:cNvSpPr/>
          <p:nvPr/>
        </p:nvSpPr>
        <p:spPr>
          <a:xfrm>
            <a:off x="8275320" y="2112264"/>
            <a:ext cx="3364992" cy="465598"/>
          </a:xfrm>
          <a:prstGeom prst="rect">
            <a:avLst/>
          </a:prstGeom>
          <a:noFill/>
          <a:ln/>
        </p:spPr>
        <p:txBody>
          <a:bodyPr wrap="square" lIns="0" tIns="0" rIns="0" bIns="0" rtlCol="0" anchor="t"/>
          <a:lstStyle/>
          <a:p>
            <a:pPr indent="0" marL="0">
              <a:lnSpc>
                <a:spcPct val="115000"/>
              </a:lnSpc>
              <a:buNone/>
            </a:pPr>
            <a:r>
              <a:rPr lang="en-US" sz="1300" b="1" dirty="0">
                <a:solidFill>
                  <a:srgbClr val="1F2A28"/>
                </a:solidFill>
                <a:latin typeface="Yu Gothic" pitchFamily="34" charset="0"/>
                <a:ea typeface="Yu Gothic" pitchFamily="34" charset="-122"/>
                <a:cs typeface="Yu Gothic" pitchFamily="34" charset="-120"/>
              </a:rPr>
              <a:t>左メニューの「Applications」</a:t>
            </a:r>
            <a:endParaRPr lang="en-US" sz="1300" dirty="0"/>
          </a:p>
          <a:p>
            <a:pPr indent="0" marL="0">
              <a:lnSpc>
                <a:spcPct val="115000"/>
              </a:lnSpc>
              <a:buNone/>
            </a:pPr>
            <a:r>
              <a:rPr lang="en-US" sz="1050" dirty="0">
                <a:solidFill>
                  <a:srgbClr val="3E3E3B"/>
                </a:solidFill>
                <a:latin typeface="Yu Gothic" pitchFamily="34" charset="0"/>
                <a:ea typeface="Yu Gothic" pitchFamily="34" charset="-122"/>
                <a:cs typeface="Yu Gothic" pitchFamily="34" charset="-120"/>
              </a:rPr>
              <a:t>下のほうにあります</a:t>
            </a:r>
            <a:endParaRPr lang="en-US" sz="1300" dirty="0"/>
          </a:p>
        </p:txBody>
      </p:sp>
      <p:sp>
        <p:nvSpPr>
          <p:cNvPr id="54" name="Shape 52"/>
          <p:cNvSpPr/>
          <p:nvPr/>
        </p:nvSpPr>
        <p:spPr>
          <a:xfrm>
            <a:off x="7818120" y="2724166"/>
            <a:ext cx="329184" cy="329184"/>
          </a:xfrm>
          <a:prstGeom prst="ellipse">
            <a:avLst/>
          </a:prstGeom>
          <a:solidFill>
            <a:srgbClr val="E5484D"/>
          </a:solidFill>
          <a:ln/>
        </p:spPr>
      </p:sp>
      <p:sp>
        <p:nvSpPr>
          <p:cNvPr id="55" name="Text 53"/>
          <p:cNvSpPr/>
          <p:nvPr/>
        </p:nvSpPr>
        <p:spPr>
          <a:xfrm>
            <a:off x="7818120" y="272416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56" name="Text 54"/>
          <p:cNvSpPr/>
          <p:nvPr/>
        </p:nvSpPr>
        <p:spPr>
          <a:xfrm>
            <a:off x="8275320" y="2705878"/>
            <a:ext cx="3364992" cy="384048"/>
          </a:xfrm>
          <a:prstGeom prst="rect">
            <a:avLst/>
          </a:prstGeom>
          <a:noFill/>
          <a:ln/>
        </p:spPr>
        <p:txBody>
          <a:bodyPr wrap="square" lIns="0" tIns="0" rIns="0" bIns="0" rtlCol="0" anchor="t"/>
          <a:lstStyle/>
          <a:p>
            <a:pPr indent="0" marL="0">
              <a:lnSpc>
                <a:spcPct val="115000"/>
              </a:lnSpc>
              <a:buNone/>
            </a:pPr>
            <a:r>
              <a:rPr lang="en-US" sz="1300" b="1" dirty="0">
                <a:solidFill>
                  <a:srgbClr val="1F2A28"/>
                </a:solidFill>
                <a:latin typeface="Yu Gothic" pitchFamily="34" charset="0"/>
                <a:ea typeface="Yu Gothic" pitchFamily="34" charset="-122"/>
                <a:cs typeface="Yu Gothic" pitchFamily="34" charset="-120"/>
              </a:rPr>
              <a:t>「Installed GitHub Apps」タブ</a:t>
            </a:r>
            <a:endParaRPr lang="en-US" sz="1300" dirty="0"/>
          </a:p>
        </p:txBody>
      </p:sp>
      <p:sp>
        <p:nvSpPr>
          <p:cNvPr id="57" name="Shape 55"/>
          <p:cNvSpPr/>
          <p:nvPr/>
        </p:nvSpPr>
        <p:spPr>
          <a:xfrm>
            <a:off x="7818120" y="3236230"/>
            <a:ext cx="329184" cy="329184"/>
          </a:xfrm>
          <a:prstGeom prst="ellipse">
            <a:avLst/>
          </a:prstGeom>
          <a:solidFill>
            <a:srgbClr val="E5484D"/>
          </a:solidFill>
          <a:ln/>
        </p:spPr>
      </p:sp>
      <p:sp>
        <p:nvSpPr>
          <p:cNvPr id="58" name="Text 56"/>
          <p:cNvSpPr/>
          <p:nvPr/>
        </p:nvSpPr>
        <p:spPr>
          <a:xfrm>
            <a:off x="7818120" y="323623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59" name="Text 57"/>
          <p:cNvSpPr/>
          <p:nvPr/>
        </p:nvSpPr>
        <p:spPr>
          <a:xfrm>
            <a:off x="8275320" y="3217942"/>
            <a:ext cx="3364992" cy="384048"/>
          </a:xfrm>
          <a:prstGeom prst="rect">
            <a:avLst/>
          </a:prstGeom>
          <a:noFill/>
          <a:ln/>
        </p:spPr>
        <p:txBody>
          <a:bodyPr wrap="square" lIns="0" tIns="0" rIns="0" bIns="0" rtlCol="0" anchor="t"/>
          <a:lstStyle/>
          <a:p>
            <a:pPr indent="0" marL="0">
              <a:lnSpc>
                <a:spcPct val="115000"/>
              </a:lnSpc>
              <a:buNone/>
            </a:pPr>
            <a:r>
              <a:rPr lang="en-US" sz="1300" b="1" dirty="0">
                <a:solidFill>
                  <a:srgbClr val="1F2A28"/>
                </a:solidFill>
                <a:latin typeface="Yu Gothic" pitchFamily="34" charset="0"/>
                <a:ea typeface="Yu Gothic" pitchFamily="34" charset="-122"/>
                <a:cs typeface="Yu Gothic" pitchFamily="34" charset="-120"/>
              </a:rPr>
              <a:t>Claude の「Configure」</a:t>
            </a:r>
            <a:endParaRPr lang="en-US" sz="1300" dirty="0"/>
          </a:p>
        </p:txBody>
      </p:sp>
      <p:sp>
        <p:nvSpPr>
          <p:cNvPr id="60" name="Shape 58"/>
          <p:cNvSpPr/>
          <p:nvPr/>
        </p:nvSpPr>
        <p:spPr>
          <a:xfrm>
            <a:off x="7818120" y="3748294"/>
            <a:ext cx="329184" cy="329184"/>
          </a:xfrm>
          <a:prstGeom prst="ellipse">
            <a:avLst/>
          </a:prstGeom>
          <a:solidFill>
            <a:srgbClr val="E5484D"/>
          </a:solidFill>
          <a:ln/>
        </p:spPr>
      </p:sp>
      <p:sp>
        <p:nvSpPr>
          <p:cNvPr id="61" name="Text 59"/>
          <p:cNvSpPr/>
          <p:nvPr/>
        </p:nvSpPr>
        <p:spPr>
          <a:xfrm>
            <a:off x="7818120" y="374829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5</a:t>
            </a:r>
            <a:endParaRPr lang="en-US" sz="1300" dirty="0"/>
          </a:p>
        </p:txBody>
      </p:sp>
      <p:sp>
        <p:nvSpPr>
          <p:cNvPr id="62" name="Text 60"/>
          <p:cNvSpPr/>
          <p:nvPr/>
        </p:nvSpPr>
        <p:spPr>
          <a:xfrm>
            <a:off x="8275320" y="3730006"/>
            <a:ext cx="3364992" cy="465598"/>
          </a:xfrm>
          <a:prstGeom prst="rect">
            <a:avLst/>
          </a:prstGeom>
          <a:noFill/>
          <a:ln/>
        </p:spPr>
        <p:txBody>
          <a:bodyPr wrap="square" lIns="0" tIns="0" rIns="0" bIns="0" rtlCol="0" anchor="t"/>
          <a:lstStyle/>
          <a:p>
            <a:pPr indent="0" marL="0">
              <a:lnSpc>
                <a:spcPct val="115000"/>
              </a:lnSpc>
              <a:buNone/>
            </a:pPr>
            <a:r>
              <a:rPr lang="en-US" sz="1300" b="1" dirty="0">
                <a:solidFill>
                  <a:srgbClr val="1F2A28"/>
                </a:solidFill>
                <a:latin typeface="Yu Gothic" pitchFamily="34" charset="0"/>
                <a:ea typeface="Yu Gothic" pitchFamily="34" charset="-122"/>
                <a:cs typeface="Yu Gothic" pitchFamily="34" charset="-120"/>
              </a:rPr>
              <a:t>「teisha-tool」が出ていればOK</a:t>
            </a:r>
            <a:endParaRPr lang="en-US" sz="1300" dirty="0"/>
          </a:p>
          <a:p>
            <a:pPr indent="0" marL="0">
              <a:lnSpc>
                <a:spcPct val="115000"/>
              </a:lnSpc>
              <a:buNone/>
            </a:pPr>
            <a:r>
              <a:rPr lang="en-US" sz="1050" dirty="0">
                <a:solidFill>
                  <a:srgbClr val="3E3E3B"/>
                </a:solidFill>
                <a:latin typeface="Yu Gothic" pitchFamily="34" charset="0"/>
                <a:ea typeface="Yu Gothic" pitchFamily="34" charset="-122"/>
                <a:cs typeface="Yu Gothic" pitchFamily="34" charset="-120"/>
              </a:rPr>
              <a:t>出ていなければ、ここで追加して「Save」</a:t>
            </a:r>
            <a:endParaRPr lang="en-US" sz="1300" dirty="0"/>
          </a:p>
        </p:txBody>
      </p:sp>
      <p:sp>
        <p:nvSpPr>
          <p:cNvPr id="63" name="Shape 61"/>
          <p:cNvSpPr/>
          <p:nvPr/>
        </p:nvSpPr>
        <p:spPr>
          <a:xfrm>
            <a:off x="7818120" y="4937760"/>
            <a:ext cx="3822192" cy="731520"/>
          </a:xfrm>
          <a:prstGeom prst="roundRect">
            <a:avLst>
              <a:gd name="adj" fmla="val 7500"/>
            </a:avLst>
          </a:prstGeom>
          <a:solidFill>
            <a:srgbClr val="EAF4EE"/>
          </a:solidFill>
          <a:ln/>
        </p:spPr>
      </p:sp>
      <p:sp>
        <p:nvSpPr>
          <p:cNvPr id="64" name="Shape 62"/>
          <p:cNvSpPr/>
          <p:nvPr/>
        </p:nvSpPr>
        <p:spPr>
          <a:xfrm>
            <a:off x="7818120" y="4937760"/>
            <a:ext cx="73152" cy="731520"/>
          </a:xfrm>
          <a:prstGeom prst="rect">
            <a:avLst/>
          </a:prstGeom>
          <a:solidFill>
            <a:srgbClr val="2F7D5B"/>
          </a:solidFill>
          <a:ln/>
        </p:spPr>
      </p:sp>
      <p:sp>
        <p:nvSpPr>
          <p:cNvPr id="65" name="Text 63"/>
          <p:cNvSpPr/>
          <p:nvPr/>
        </p:nvSpPr>
        <p:spPr>
          <a:xfrm>
            <a:off x="8046720" y="4937760"/>
            <a:ext cx="3456432" cy="731520"/>
          </a:xfrm>
          <a:prstGeom prst="rect">
            <a:avLst/>
          </a:prstGeom>
          <a:noFill/>
          <a:ln/>
        </p:spPr>
        <p:txBody>
          <a:bodyPr wrap="square" lIns="0" tIns="0" rIns="0" bIns="0" rtlCol="0" anchor="ctr"/>
          <a:lstStyle/>
          <a:p>
            <a:pPr indent="0" marL="0">
              <a:lnSpc>
                <a:spcPct val="110000"/>
              </a:lnSpc>
              <a:buNone/>
            </a:pPr>
            <a:r>
              <a:rPr lang="en-US" sz="1200" b="1" dirty="0">
                <a:solidFill>
                  <a:srgbClr val="2F7D5B"/>
                </a:solidFill>
                <a:latin typeface="Yu Gothic" pitchFamily="34" charset="0"/>
                <a:ea typeface="Yu Gothic" pitchFamily="34" charset="-122"/>
                <a:cs typeface="Yu Gothic" pitchFamily="34" charset="-120"/>
              </a:rPr>
              <a:t>✓ 確認ポイント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① と ② の両方OKなら、連携は完了です</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第2部</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連携がうまくいかないとき</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よくある症状と、直し方です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22</a:t>
            </a:r>
            <a:endParaRPr lang="en-US" sz="900" dirty="0"/>
          </a:p>
        </p:txBody>
      </p:sp>
      <p:sp>
        <p:nvSpPr>
          <p:cNvPr id="8" name="Shape 6"/>
          <p:cNvSpPr/>
          <p:nvPr/>
        </p:nvSpPr>
        <p:spPr>
          <a:xfrm>
            <a:off x="548640" y="1600200"/>
            <a:ext cx="3291840" cy="411480"/>
          </a:xfrm>
          <a:prstGeom prst="rect">
            <a:avLst/>
          </a:prstGeom>
          <a:solidFill>
            <a:srgbClr val="1F2E2B"/>
          </a:solidFill>
          <a:ln w="12700">
            <a:solidFill>
              <a:srgbClr val="FFFFFF"/>
            </a:solidFill>
            <a:prstDash val="solid"/>
          </a:ln>
        </p:spPr>
      </p:sp>
      <p:sp>
        <p:nvSpPr>
          <p:cNvPr id="9" name="Text 7"/>
          <p:cNvSpPr/>
          <p:nvPr/>
        </p:nvSpPr>
        <p:spPr>
          <a:xfrm>
            <a:off x="685800" y="1600200"/>
            <a:ext cx="3017520" cy="41148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症状</a:t>
            </a:r>
            <a:endParaRPr lang="en-US" sz="1300" dirty="0"/>
          </a:p>
        </p:txBody>
      </p:sp>
      <p:sp>
        <p:nvSpPr>
          <p:cNvPr id="10" name="Shape 8"/>
          <p:cNvSpPr/>
          <p:nvPr/>
        </p:nvSpPr>
        <p:spPr>
          <a:xfrm>
            <a:off x="3840480" y="1600200"/>
            <a:ext cx="3383280" cy="411480"/>
          </a:xfrm>
          <a:prstGeom prst="rect">
            <a:avLst/>
          </a:prstGeom>
          <a:solidFill>
            <a:srgbClr val="1F2E2B"/>
          </a:solidFill>
          <a:ln w="12700">
            <a:solidFill>
              <a:srgbClr val="FFFFFF"/>
            </a:solidFill>
            <a:prstDash val="solid"/>
          </a:ln>
        </p:spPr>
      </p:sp>
      <p:sp>
        <p:nvSpPr>
          <p:cNvPr id="11" name="Text 9"/>
          <p:cNvSpPr/>
          <p:nvPr/>
        </p:nvSpPr>
        <p:spPr>
          <a:xfrm>
            <a:off x="3977640" y="1600200"/>
            <a:ext cx="3108960" cy="41148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原因</a:t>
            </a:r>
            <a:endParaRPr lang="en-US" sz="1300" dirty="0"/>
          </a:p>
        </p:txBody>
      </p:sp>
      <p:sp>
        <p:nvSpPr>
          <p:cNvPr id="12" name="Shape 10"/>
          <p:cNvSpPr/>
          <p:nvPr/>
        </p:nvSpPr>
        <p:spPr>
          <a:xfrm>
            <a:off x="7223760" y="1600200"/>
            <a:ext cx="4416552" cy="411480"/>
          </a:xfrm>
          <a:prstGeom prst="rect">
            <a:avLst/>
          </a:prstGeom>
          <a:solidFill>
            <a:srgbClr val="1F2E2B"/>
          </a:solidFill>
          <a:ln w="12700">
            <a:solidFill>
              <a:srgbClr val="FFFFFF"/>
            </a:solidFill>
            <a:prstDash val="solid"/>
          </a:ln>
        </p:spPr>
      </p:sp>
      <p:sp>
        <p:nvSpPr>
          <p:cNvPr id="13" name="Text 11"/>
          <p:cNvSpPr/>
          <p:nvPr/>
        </p:nvSpPr>
        <p:spPr>
          <a:xfrm>
            <a:off x="7360920" y="1600200"/>
            <a:ext cx="4142232" cy="41148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直し方</a:t>
            </a:r>
            <a:endParaRPr lang="en-US" sz="1300" dirty="0"/>
          </a:p>
        </p:txBody>
      </p:sp>
      <p:sp>
        <p:nvSpPr>
          <p:cNvPr id="14" name="Shape 12"/>
          <p:cNvSpPr/>
          <p:nvPr/>
        </p:nvSpPr>
        <p:spPr>
          <a:xfrm>
            <a:off x="548640" y="2011680"/>
            <a:ext cx="3291840" cy="1024128"/>
          </a:xfrm>
          <a:prstGeom prst="rect">
            <a:avLst/>
          </a:prstGeom>
          <a:solidFill>
            <a:srgbClr val="FBF9F4"/>
          </a:solidFill>
          <a:ln w="9525">
            <a:solidFill>
              <a:srgbClr val="E4DFD4"/>
            </a:solidFill>
            <a:prstDash val="solid"/>
          </a:ln>
        </p:spPr>
      </p:sp>
      <p:sp>
        <p:nvSpPr>
          <p:cNvPr id="15" name="Text 13"/>
          <p:cNvSpPr/>
          <p:nvPr/>
        </p:nvSpPr>
        <p:spPr>
          <a:xfrm>
            <a:off x="685800" y="2011680"/>
            <a:ext cx="3017520" cy="1024128"/>
          </a:xfrm>
          <a:prstGeom prst="rect">
            <a:avLst/>
          </a:prstGeom>
          <a:noFill/>
          <a:ln/>
        </p:spPr>
        <p:txBody>
          <a:bodyPr wrap="square" lIns="0" tIns="0" rIns="0" bIns="0" rtlCol="0" anchor="ctr"/>
          <a:lstStyle/>
          <a:p>
            <a:pPr indent="0" marL="0">
              <a:lnSpc>
                <a:spcPct val="115000"/>
              </a:lnSpc>
              <a:buNone/>
            </a:pPr>
            <a:r>
              <a:rPr lang="en-US" sz="1200" b="1" dirty="0">
                <a:solidFill>
                  <a:srgbClr val="1F2A28"/>
                </a:solidFill>
                <a:latin typeface="Yu Gothic" pitchFamily="34" charset="0"/>
                <a:ea typeface="Yu Gothic" pitchFamily="34" charset="-122"/>
                <a:cs typeface="Yu Gothic" pitchFamily="34" charset="-120"/>
              </a:rPr>
              <a:t>リポジトリの一覧に「teisha-tool」が出てこない</a:t>
            </a:r>
            <a:endParaRPr lang="en-US" sz="1200" dirty="0"/>
          </a:p>
        </p:txBody>
      </p:sp>
      <p:sp>
        <p:nvSpPr>
          <p:cNvPr id="16" name="Shape 14"/>
          <p:cNvSpPr/>
          <p:nvPr/>
        </p:nvSpPr>
        <p:spPr>
          <a:xfrm>
            <a:off x="3840480" y="2011680"/>
            <a:ext cx="3383280" cy="1024128"/>
          </a:xfrm>
          <a:prstGeom prst="rect">
            <a:avLst/>
          </a:prstGeom>
          <a:solidFill>
            <a:srgbClr val="FBF9F4"/>
          </a:solidFill>
          <a:ln w="9525">
            <a:solidFill>
              <a:srgbClr val="E4DFD4"/>
            </a:solidFill>
            <a:prstDash val="solid"/>
          </a:ln>
        </p:spPr>
      </p:sp>
      <p:sp>
        <p:nvSpPr>
          <p:cNvPr id="17" name="Text 15"/>
          <p:cNvSpPr/>
          <p:nvPr/>
        </p:nvSpPr>
        <p:spPr>
          <a:xfrm>
            <a:off x="3977640" y="2011680"/>
            <a:ext cx="3108960" cy="1024128"/>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Claude の GitHub App に、そのリポジトリが許可されていない</a:t>
            </a:r>
            <a:endParaRPr lang="en-US" sz="1200" dirty="0"/>
          </a:p>
        </p:txBody>
      </p:sp>
      <p:sp>
        <p:nvSpPr>
          <p:cNvPr id="18" name="Shape 16"/>
          <p:cNvSpPr/>
          <p:nvPr/>
        </p:nvSpPr>
        <p:spPr>
          <a:xfrm>
            <a:off x="7223760" y="2011680"/>
            <a:ext cx="4416552" cy="1024128"/>
          </a:xfrm>
          <a:prstGeom prst="rect">
            <a:avLst/>
          </a:prstGeom>
          <a:solidFill>
            <a:srgbClr val="FBF9F4"/>
          </a:solidFill>
          <a:ln w="9525">
            <a:solidFill>
              <a:srgbClr val="E4DFD4"/>
            </a:solidFill>
            <a:prstDash val="solid"/>
          </a:ln>
        </p:spPr>
      </p:sp>
      <p:sp>
        <p:nvSpPr>
          <p:cNvPr id="19" name="Text 17"/>
          <p:cNvSpPr/>
          <p:nvPr/>
        </p:nvSpPr>
        <p:spPr>
          <a:xfrm>
            <a:off x="7360920" y="2011680"/>
            <a:ext cx="4142232" cy="1024128"/>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STEP 7 の URL（github.com/apps/claude/installations/new）を開き、teisha-tool を追加して Install / Save</a:t>
            </a:r>
            <a:endParaRPr lang="en-US" sz="1200" dirty="0"/>
          </a:p>
        </p:txBody>
      </p:sp>
      <p:sp>
        <p:nvSpPr>
          <p:cNvPr id="20" name="Shape 18"/>
          <p:cNvSpPr/>
          <p:nvPr/>
        </p:nvSpPr>
        <p:spPr>
          <a:xfrm>
            <a:off x="548640" y="3035808"/>
            <a:ext cx="3291840" cy="1024128"/>
          </a:xfrm>
          <a:prstGeom prst="rect">
            <a:avLst/>
          </a:prstGeom>
          <a:solidFill>
            <a:srgbClr val="FFFFFF"/>
          </a:solidFill>
          <a:ln w="9525">
            <a:solidFill>
              <a:srgbClr val="E4DFD4"/>
            </a:solidFill>
            <a:prstDash val="solid"/>
          </a:ln>
        </p:spPr>
      </p:sp>
      <p:sp>
        <p:nvSpPr>
          <p:cNvPr id="21" name="Text 19"/>
          <p:cNvSpPr/>
          <p:nvPr/>
        </p:nvSpPr>
        <p:spPr>
          <a:xfrm>
            <a:off x="685800" y="3035808"/>
            <a:ext cx="3017520" cy="1024128"/>
          </a:xfrm>
          <a:prstGeom prst="rect">
            <a:avLst/>
          </a:prstGeom>
          <a:noFill/>
          <a:ln/>
        </p:spPr>
        <p:txBody>
          <a:bodyPr wrap="square" lIns="0" tIns="0" rIns="0" bIns="0" rtlCol="0" anchor="ctr"/>
          <a:lstStyle/>
          <a:p>
            <a:pPr indent="0" marL="0">
              <a:lnSpc>
                <a:spcPct val="115000"/>
              </a:lnSpc>
              <a:buNone/>
            </a:pPr>
            <a:r>
              <a:rPr lang="en-US" sz="1200" b="1" dirty="0">
                <a:solidFill>
                  <a:srgbClr val="1F2A28"/>
                </a:solidFill>
                <a:latin typeface="Yu Gothic" pitchFamily="34" charset="0"/>
                <a:ea typeface="Yu Gothic" pitchFamily="34" charset="-122"/>
                <a:cs typeface="Yu Gothic" pitchFamily="34" charset="-120"/>
              </a:rPr>
              <a:t>「GitHub access is required…」と表示される</a:t>
            </a:r>
            <a:endParaRPr lang="en-US" sz="1200" dirty="0"/>
          </a:p>
        </p:txBody>
      </p:sp>
      <p:sp>
        <p:nvSpPr>
          <p:cNvPr id="22" name="Shape 20"/>
          <p:cNvSpPr/>
          <p:nvPr/>
        </p:nvSpPr>
        <p:spPr>
          <a:xfrm>
            <a:off x="3840480" y="3035808"/>
            <a:ext cx="3383280" cy="1024128"/>
          </a:xfrm>
          <a:prstGeom prst="rect">
            <a:avLst/>
          </a:prstGeom>
          <a:solidFill>
            <a:srgbClr val="FFFFFF"/>
          </a:solidFill>
          <a:ln w="9525">
            <a:solidFill>
              <a:srgbClr val="E4DFD4"/>
            </a:solidFill>
            <a:prstDash val="solid"/>
          </a:ln>
        </p:spPr>
      </p:sp>
      <p:sp>
        <p:nvSpPr>
          <p:cNvPr id="23" name="Text 21"/>
          <p:cNvSpPr/>
          <p:nvPr/>
        </p:nvSpPr>
        <p:spPr>
          <a:xfrm>
            <a:off x="3977640" y="3035808"/>
            <a:ext cx="3108960" cy="1024128"/>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会社の Team / Enterprise プランで、GitHub コネクタが無効</a:t>
            </a:r>
            <a:endParaRPr lang="en-US" sz="1200" dirty="0"/>
          </a:p>
        </p:txBody>
      </p:sp>
      <p:sp>
        <p:nvSpPr>
          <p:cNvPr id="24" name="Shape 22"/>
          <p:cNvSpPr/>
          <p:nvPr/>
        </p:nvSpPr>
        <p:spPr>
          <a:xfrm>
            <a:off x="7223760" y="3035808"/>
            <a:ext cx="4416552" cy="1024128"/>
          </a:xfrm>
          <a:prstGeom prst="rect">
            <a:avLst/>
          </a:prstGeom>
          <a:solidFill>
            <a:srgbClr val="FFFFFF"/>
          </a:solidFill>
          <a:ln w="9525">
            <a:solidFill>
              <a:srgbClr val="E4DFD4"/>
            </a:solidFill>
            <a:prstDash val="solid"/>
          </a:ln>
        </p:spPr>
      </p:sp>
      <p:sp>
        <p:nvSpPr>
          <p:cNvPr id="25" name="Text 23"/>
          <p:cNvSpPr/>
          <p:nvPr/>
        </p:nvSpPr>
        <p:spPr>
          <a:xfrm>
            <a:off x="7360920" y="3035808"/>
            <a:ext cx="4142232" cy="1024128"/>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管理者（Owner）に「組織の設定 → Connectors で GitHub を有効にしてほしい」と依頼</a:t>
            </a:r>
            <a:endParaRPr lang="en-US" sz="1200" dirty="0"/>
          </a:p>
        </p:txBody>
      </p:sp>
      <p:sp>
        <p:nvSpPr>
          <p:cNvPr id="26" name="Shape 24"/>
          <p:cNvSpPr/>
          <p:nvPr/>
        </p:nvSpPr>
        <p:spPr>
          <a:xfrm>
            <a:off x="548640" y="4059936"/>
            <a:ext cx="3291840" cy="1024128"/>
          </a:xfrm>
          <a:prstGeom prst="rect">
            <a:avLst/>
          </a:prstGeom>
          <a:solidFill>
            <a:srgbClr val="FBF9F4"/>
          </a:solidFill>
          <a:ln w="9525">
            <a:solidFill>
              <a:srgbClr val="E4DFD4"/>
            </a:solidFill>
            <a:prstDash val="solid"/>
          </a:ln>
        </p:spPr>
      </p:sp>
      <p:sp>
        <p:nvSpPr>
          <p:cNvPr id="27" name="Text 25"/>
          <p:cNvSpPr/>
          <p:nvPr/>
        </p:nvSpPr>
        <p:spPr>
          <a:xfrm>
            <a:off x="685800" y="4059936"/>
            <a:ext cx="3017520" cy="1024128"/>
          </a:xfrm>
          <a:prstGeom prst="rect">
            <a:avLst/>
          </a:prstGeom>
          <a:noFill/>
          <a:ln/>
        </p:spPr>
        <p:txBody>
          <a:bodyPr wrap="square" lIns="0" tIns="0" rIns="0" bIns="0" rtlCol="0" anchor="ctr"/>
          <a:lstStyle/>
          <a:p>
            <a:pPr indent="0" marL="0">
              <a:lnSpc>
                <a:spcPct val="115000"/>
              </a:lnSpc>
              <a:buNone/>
            </a:pPr>
            <a:r>
              <a:rPr lang="en-US" sz="1200" b="1" dirty="0">
                <a:solidFill>
                  <a:srgbClr val="1F2A28"/>
                </a:solidFill>
                <a:latin typeface="Yu Gothic" pitchFamily="34" charset="0"/>
                <a:ea typeface="Yu Gothic" pitchFamily="34" charset="-122"/>
                <a:cs typeface="Yu Gothic" pitchFamily="34" charset="-120"/>
              </a:rPr>
              <a:t>Claude Code の画面が開かない／使えない</a:t>
            </a:r>
            <a:endParaRPr lang="en-US" sz="1200" dirty="0"/>
          </a:p>
        </p:txBody>
      </p:sp>
      <p:sp>
        <p:nvSpPr>
          <p:cNvPr id="28" name="Shape 26"/>
          <p:cNvSpPr/>
          <p:nvPr/>
        </p:nvSpPr>
        <p:spPr>
          <a:xfrm>
            <a:off x="3840480" y="4059936"/>
            <a:ext cx="3383280" cy="1024128"/>
          </a:xfrm>
          <a:prstGeom prst="rect">
            <a:avLst/>
          </a:prstGeom>
          <a:solidFill>
            <a:srgbClr val="FBF9F4"/>
          </a:solidFill>
          <a:ln w="9525">
            <a:solidFill>
              <a:srgbClr val="E4DFD4"/>
            </a:solidFill>
            <a:prstDash val="solid"/>
          </a:ln>
        </p:spPr>
      </p:sp>
      <p:sp>
        <p:nvSpPr>
          <p:cNvPr id="29" name="Text 27"/>
          <p:cNvSpPr/>
          <p:nvPr/>
        </p:nvSpPr>
        <p:spPr>
          <a:xfrm>
            <a:off x="3977640" y="4059936"/>
            <a:ext cx="3108960" cy="1024128"/>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無料プラン、または会社のプランで権限がない</a:t>
            </a:r>
            <a:endParaRPr lang="en-US" sz="1200" dirty="0"/>
          </a:p>
        </p:txBody>
      </p:sp>
      <p:sp>
        <p:nvSpPr>
          <p:cNvPr id="30" name="Shape 28"/>
          <p:cNvSpPr/>
          <p:nvPr/>
        </p:nvSpPr>
        <p:spPr>
          <a:xfrm>
            <a:off x="7223760" y="4059936"/>
            <a:ext cx="4416552" cy="1024128"/>
          </a:xfrm>
          <a:prstGeom prst="rect">
            <a:avLst/>
          </a:prstGeom>
          <a:solidFill>
            <a:srgbClr val="FBF9F4"/>
          </a:solidFill>
          <a:ln w="9525">
            <a:solidFill>
              <a:srgbClr val="E4DFD4"/>
            </a:solidFill>
            <a:prstDash val="solid"/>
          </a:ln>
        </p:spPr>
      </p:sp>
      <p:sp>
        <p:nvSpPr>
          <p:cNvPr id="31" name="Text 29"/>
          <p:cNvSpPr/>
          <p:nvPr/>
        </p:nvSpPr>
        <p:spPr>
          <a:xfrm>
            <a:off x="7360920" y="4059936"/>
            <a:ext cx="4142232" cy="1024128"/>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STEP 4 に戻ってプランを確認。会社契約なら管理者に確認</a:t>
            </a:r>
            <a:endParaRPr lang="en-US" sz="1200" dirty="0"/>
          </a:p>
        </p:txBody>
      </p:sp>
      <p:sp>
        <p:nvSpPr>
          <p:cNvPr id="32" name="Shape 30"/>
          <p:cNvSpPr/>
          <p:nvPr/>
        </p:nvSpPr>
        <p:spPr>
          <a:xfrm>
            <a:off x="548640" y="5084064"/>
            <a:ext cx="3291840" cy="1024128"/>
          </a:xfrm>
          <a:prstGeom prst="rect">
            <a:avLst/>
          </a:prstGeom>
          <a:solidFill>
            <a:srgbClr val="FFFFFF"/>
          </a:solidFill>
          <a:ln w="9525">
            <a:solidFill>
              <a:srgbClr val="E4DFD4"/>
            </a:solidFill>
            <a:prstDash val="solid"/>
          </a:ln>
        </p:spPr>
      </p:sp>
      <p:sp>
        <p:nvSpPr>
          <p:cNvPr id="33" name="Text 31"/>
          <p:cNvSpPr/>
          <p:nvPr/>
        </p:nvSpPr>
        <p:spPr>
          <a:xfrm>
            <a:off x="685800" y="5084064"/>
            <a:ext cx="3017520" cy="1024128"/>
          </a:xfrm>
          <a:prstGeom prst="rect">
            <a:avLst/>
          </a:prstGeom>
          <a:noFill/>
          <a:ln/>
        </p:spPr>
        <p:txBody>
          <a:bodyPr wrap="square" lIns="0" tIns="0" rIns="0" bIns="0" rtlCol="0" anchor="ctr"/>
          <a:lstStyle/>
          <a:p>
            <a:pPr indent="0" marL="0">
              <a:lnSpc>
                <a:spcPct val="115000"/>
              </a:lnSpc>
              <a:buNone/>
            </a:pPr>
            <a:r>
              <a:rPr lang="en-US" sz="1200" b="1" dirty="0">
                <a:solidFill>
                  <a:srgbClr val="1F2A28"/>
                </a:solidFill>
                <a:latin typeface="Yu Gothic" pitchFamily="34" charset="0"/>
                <a:ea typeface="Yu Gothic" pitchFamily="34" charset="-122"/>
                <a:cs typeface="Yu Gothic" pitchFamily="34" charset="-120"/>
              </a:rPr>
              <a:t>接続確認で「ファイルが見つからない」</a:t>
            </a:r>
            <a:endParaRPr lang="en-US" sz="1200" dirty="0"/>
          </a:p>
        </p:txBody>
      </p:sp>
      <p:sp>
        <p:nvSpPr>
          <p:cNvPr id="34" name="Shape 32"/>
          <p:cNvSpPr/>
          <p:nvPr/>
        </p:nvSpPr>
        <p:spPr>
          <a:xfrm>
            <a:off x="3840480" y="5084064"/>
            <a:ext cx="3383280" cy="1024128"/>
          </a:xfrm>
          <a:prstGeom prst="rect">
            <a:avLst/>
          </a:prstGeom>
          <a:solidFill>
            <a:srgbClr val="FFFFFF"/>
          </a:solidFill>
          <a:ln w="9525">
            <a:solidFill>
              <a:srgbClr val="E4DFD4"/>
            </a:solidFill>
            <a:prstDash val="solid"/>
          </a:ln>
        </p:spPr>
      </p:sp>
      <p:sp>
        <p:nvSpPr>
          <p:cNvPr id="35" name="Text 33"/>
          <p:cNvSpPr/>
          <p:nvPr/>
        </p:nvSpPr>
        <p:spPr>
          <a:xfrm>
            <a:off x="3977640" y="5084064"/>
            <a:ext cx="3108960" cy="1024128"/>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リポジトリが空（README を作らなかった）</a:t>
            </a:r>
            <a:endParaRPr lang="en-US" sz="1200" dirty="0"/>
          </a:p>
        </p:txBody>
      </p:sp>
      <p:sp>
        <p:nvSpPr>
          <p:cNvPr id="36" name="Shape 34"/>
          <p:cNvSpPr/>
          <p:nvPr/>
        </p:nvSpPr>
        <p:spPr>
          <a:xfrm>
            <a:off x="7223760" y="5084064"/>
            <a:ext cx="4416552" cy="1024128"/>
          </a:xfrm>
          <a:prstGeom prst="rect">
            <a:avLst/>
          </a:prstGeom>
          <a:solidFill>
            <a:srgbClr val="FFFFFF"/>
          </a:solidFill>
          <a:ln w="9525">
            <a:solidFill>
              <a:srgbClr val="E4DFD4"/>
            </a:solidFill>
            <a:prstDash val="solid"/>
          </a:ln>
        </p:spPr>
      </p:sp>
      <p:sp>
        <p:nvSpPr>
          <p:cNvPr id="37" name="Text 35"/>
          <p:cNvSpPr/>
          <p:nvPr/>
        </p:nvSpPr>
        <p:spPr>
          <a:xfrm>
            <a:off x="7360920" y="5084064"/>
            <a:ext cx="4142232" cy="1024128"/>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GitHub のリポジトリ画面で「Add file → Create new file」から README.md を作る</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2E2B"/>
        </a:solidFill>
      </p:bgPr>
    </p:bg>
    <p:spTree>
      <p:nvGrpSpPr>
        <p:cNvPr id="1" name=""/>
        <p:cNvGrpSpPr/>
        <p:nvPr/>
      </p:nvGrpSpPr>
      <p:grpSpPr>
        <a:xfrm>
          <a:off x="0" y="0"/>
          <a:ext cx="0" cy="0"/>
          <a:chOff x="0" y="0"/>
          <a:chExt cx="0" cy="0"/>
        </a:xfrm>
      </p:grpSpPr>
      <p:sp>
        <p:nvSpPr>
          <p:cNvPr id="2" name="Text 0"/>
          <p:cNvSpPr/>
          <p:nvPr/>
        </p:nvSpPr>
        <p:spPr>
          <a:xfrm>
            <a:off x="914400" y="2194560"/>
            <a:ext cx="5486400" cy="457200"/>
          </a:xfrm>
          <a:prstGeom prst="rect">
            <a:avLst/>
          </a:prstGeom>
          <a:noFill/>
          <a:ln/>
        </p:spPr>
        <p:txBody>
          <a:bodyPr wrap="square" lIns="0" tIns="0" rIns="0" bIns="0" rtlCol="0" anchor="t"/>
          <a:lstStyle/>
          <a:p>
            <a:pPr indent="0" marL="0">
              <a:buNone/>
            </a:pPr>
            <a:r>
              <a:rPr lang="en-US" sz="1800" b="1" dirty="0">
                <a:solidFill>
                  <a:srgbClr val="CBB07A"/>
                </a:solidFill>
                <a:latin typeface="Yu Gothic" pitchFamily="34" charset="0"/>
                <a:ea typeface="Yu Gothic" pitchFamily="34" charset="-122"/>
                <a:cs typeface="Yu Gothic" pitchFamily="34" charset="-120"/>
              </a:rPr>
              <a:t>第3部</a:t>
            </a:r>
            <a:endParaRPr lang="en-US" sz="1800" dirty="0"/>
          </a:p>
        </p:txBody>
      </p:sp>
      <p:sp>
        <p:nvSpPr>
          <p:cNvPr id="3" name="Text 1"/>
          <p:cNvSpPr/>
          <p:nvPr/>
        </p:nvSpPr>
        <p:spPr>
          <a:xfrm>
            <a:off x="914400" y="2697480"/>
            <a:ext cx="10058400" cy="822960"/>
          </a:xfrm>
          <a:prstGeom prst="rect">
            <a:avLst/>
          </a:prstGeom>
          <a:noFill/>
          <a:ln/>
        </p:spPr>
        <p:txBody>
          <a:bodyPr wrap="square" lIns="0" tIns="0" rIns="0" bIns="0" rtlCol="0" anchor="t"/>
          <a:lstStyle/>
          <a:p>
            <a:pPr indent="0" marL="0">
              <a:buNone/>
            </a:pPr>
            <a:r>
              <a:rPr lang="en-US" sz="3600" b="1" dirty="0">
                <a:solidFill>
                  <a:srgbClr val="FFFFFF"/>
                </a:solidFill>
                <a:latin typeface="Yu Gothic" pitchFamily="34" charset="0"/>
                <a:ea typeface="Yu Gothic" pitchFamily="34" charset="-122"/>
                <a:cs typeface="Yu Gothic" pitchFamily="34" charset="-120"/>
              </a:rPr>
              <a:t>作る ─ プロンプトでツールを完成させる</a:t>
            </a:r>
            <a:endParaRPr lang="en-US" sz="3600" dirty="0"/>
          </a:p>
        </p:txBody>
      </p:sp>
      <p:sp>
        <p:nvSpPr>
          <p:cNvPr id="4" name="Shape 2"/>
          <p:cNvSpPr/>
          <p:nvPr/>
        </p:nvSpPr>
        <p:spPr>
          <a:xfrm>
            <a:off x="914400" y="3657600"/>
            <a:ext cx="1097280" cy="0"/>
          </a:xfrm>
          <a:prstGeom prst="line">
            <a:avLst/>
          </a:prstGeom>
          <a:noFill/>
          <a:ln w="25400">
            <a:solidFill>
              <a:srgbClr val="B08D47"/>
            </a:solidFill>
            <a:prstDash val="solid"/>
          </a:ln>
        </p:spPr>
      </p:sp>
      <p:sp>
        <p:nvSpPr>
          <p:cNvPr id="5" name="Text 3"/>
          <p:cNvSpPr/>
          <p:nvPr/>
        </p:nvSpPr>
        <p:spPr>
          <a:xfrm>
            <a:off x="914400" y="3886200"/>
            <a:ext cx="10058400" cy="822960"/>
          </a:xfrm>
          <a:prstGeom prst="rect">
            <a:avLst/>
          </a:prstGeom>
          <a:noFill/>
          <a:ln/>
        </p:spPr>
        <p:txBody>
          <a:bodyPr wrap="square" lIns="0" tIns="0" rIns="0" bIns="0" rtlCol="0" anchor="t"/>
          <a:lstStyle/>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9　Claude Code の画面の見方</a:t>
            </a:r>
            <a:endParaRPr lang="en-US" sz="1500" dirty="0"/>
          </a:p>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10〜12　プロンプト① → 確認 → 取り込み → ダウンロード</a:t>
            </a:r>
            <a:endParaRPr lang="en-US" sz="1500" dirty="0"/>
          </a:p>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13〜15　プロンプト②③で機能を追加する</a:t>
            </a:r>
            <a:endParaRPr lang="en-US" sz="1500" dirty="0"/>
          </a:p>
        </p:txBody>
      </p:sp>
      <p:sp>
        <p:nvSpPr>
          <p:cNvPr id="6" name="Text 4"/>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8C877B"/>
                </a:solidFill>
                <a:latin typeface="Yu Gothic" pitchFamily="34" charset="0"/>
                <a:ea typeface="Yu Gothic" pitchFamily="34" charset="-122"/>
                <a:cs typeface="Yu Gothic"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9</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Claude Code の画面の見方</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お願いを送る前に、この3か所を確認します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24</a:t>
            </a:r>
            <a:endParaRPr lang="en-US" sz="900" dirty="0"/>
          </a:p>
        </p:txBody>
      </p:sp>
      <p:sp>
        <p:nvSpPr>
          <p:cNvPr id="8" name="Shape 6"/>
          <p:cNvSpPr/>
          <p:nvPr/>
        </p:nvSpPr>
        <p:spPr>
          <a:xfrm>
            <a:off x="548640" y="1554480"/>
            <a:ext cx="6949440" cy="3108960"/>
          </a:xfrm>
          <a:prstGeom prst="roundRect">
            <a:avLst>
              <a:gd name="adj" fmla="val 2353"/>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https://claude.ai/code</a:t>
            </a:r>
            <a:endParaRPr lang="en-US" sz="950" dirty="0"/>
          </a:p>
        </p:txBody>
      </p:sp>
      <p:sp>
        <p:nvSpPr>
          <p:cNvPr id="15" name="Text 13"/>
          <p:cNvSpPr/>
          <p:nvPr/>
        </p:nvSpPr>
        <p:spPr>
          <a:xfrm>
            <a:off x="548640" y="470001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057400"/>
            <a:ext cx="6583680" cy="365760"/>
          </a:xfrm>
          <a:prstGeom prst="rect">
            <a:avLst/>
          </a:prstGeom>
          <a:noFill/>
          <a:ln/>
        </p:spPr>
        <p:txBody>
          <a:bodyPr wrap="square" lIns="0" tIns="0" rIns="0" bIns="0" rtlCol="0" anchor="t"/>
          <a:lstStyle/>
          <a:p>
            <a:pPr algn="ctr" indent="0" marL="0">
              <a:buNone/>
            </a:pPr>
            <a:r>
              <a:rPr lang="en-US" sz="1400" b="1" dirty="0">
                <a:solidFill>
                  <a:srgbClr val="1F1F1F"/>
                </a:solidFill>
                <a:latin typeface="Yu Gothic" pitchFamily="34" charset="0"/>
                <a:ea typeface="Yu Gothic" pitchFamily="34" charset="-122"/>
                <a:cs typeface="Yu Gothic" pitchFamily="34" charset="-120"/>
              </a:rPr>
              <a:t>What should we work on?</a:t>
            </a:r>
            <a:endParaRPr lang="en-US" sz="1400" dirty="0"/>
          </a:p>
        </p:txBody>
      </p:sp>
      <p:sp>
        <p:nvSpPr>
          <p:cNvPr id="17" name="Shape 15"/>
          <p:cNvSpPr/>
          <p:nvPr/>
        </p:nvSpPr>
        <p:spPr>
          <a:xfrm>
            <a:off x="1005840" y="2560320"/>
            <a:ext cx="6035040" cy="914400"/>
          </a:xfrm>
          <a:prstGeom prst="roundRect">
            <a:avLst>
              <a:gd name="adj" fmla="val 6000"/>
            </a:avLst>
          </a:prstGeom>
          <a:solidFill>
            <a:srgbClr val="FFFFFF"/>
          </a:solidFill>
          <a:ln w="9525">
            <a:solidFill>
              <a:srgbClr val="C9CED6"/>
            </a:solidFill>
            <a:prstDash val="solid"/>
          </a:ln>
        </p:spPr>
      </p:sp>
      <p:sp>
        <p:nvSpPr>
          <p:cNvPr id="18" name="Text 16"/>
          <p:cNvSpPr/>
          <p:nvPr/>
        </p:nvSpPr>
        <p:spPr>
          <a:xfrm>
            <a:off x="1060704" y="2560320"/>
            <a:ext cx="5925312" cy="914400"/>
          </a:xfrm>
          <a:prstGeom prst="rect">
            <a:avLst/>
          </a:prstGeom>
          <a:noFill/>
          <a:ln/>
        </p:spPr>
        <p:txBody>
          <a:bodyPr wrap="square" lIns="0" tIns="0" rIns="0" bIns="0" rtlCol="0" anchor="ctr"/>
          <a:lstStyle/>
          <a:p>
            <a:pPr algn="l" indent="0" marL="0">
              <a:buNone/>
            </a:pPr>
            <a:r>
              <a:rPr lang="en-US" sz="1050" dirty="0">
                <a:solidFill>
                  <a:srgbClr val="8C8C8C"/>
                </a:solidFill>
                <a:latin typeface="Yu Gothic" pitchFamily="34" charset="0"/>
                <a:ea typeface="Yu Gothic" pitchFamily="34" charset="-122"/>
                <a:cs typeface="Yu Gothic" pitchFamily="34" charset="-120"/>
              </a:rPr>
              <a:t>ここにプロンプトを貼り付け</a:t>
            </a:r>
            <a:endParaRPr lang="en-US" sz="1050" dirty="0"/>
          </a:p>
        </p:txBody>
      </p:sp>
      <p:sp>
        <p:nvSpPr>
          <p:cNvPr id="19" name="Shape 17"/>
          <p:cNvSpPr/>
          <p:nvPr/>
        </p:nvSpPr>
        <p:spPr>
          <a:xfrm>
            <a:off x="960120" y="2514600"/>
            <a:ext cx="6126480" cy="1005840"/>
          </a:xfrm>
          <a:prstGeom prst="roundRect">
            <a:avLst>
              <a:gd name="adj" fmla="val 5455"/>
            </a:avLst>
          </a:prstGeom>
          <a:ln w="31750">
            <a:solidFill>
              <a:srgbClr val="E5484D"/>
            </a:solidFill>
            <a:prstDash val="solid"/>
          </a:ln>
        </p:spPr>
      </p:sp>
      <p:sp>
        <p:nvSpPr>
          <p:cNvPr id="20" name="Shape 18"/>
          <p:cNvSpPr/>
          <p:nvPr/>
        </p:nvSpPr>
        <p:spPr>
          <a:xfrm>
            <a:off x="804672" y="2359152"/>
            <a:ext cx="310896" cy="310896"/>
          </a:xfrm>
          <a:prstGeom prst="ellipse">
            <a:avLst/>
          </a:prstGeom>
          <a:solidFill>
            <a:srgbClr val="E5484D"/>
          </a:solidFill>
          <a:ln w="12700">
            <a:solidFill>
              <a:srgbClr val="FFFFFF"/>
            </a:solidFill>
            <a:prstDash val="solid"/>
          </a:ln>
        </p:spPr>
      </p:sp>
      <p:sp>
        <p:nvSpPr>
          <p:cNvPr id="21" name="Text 19"/>
          <p:cNvSpPr/>
          <p:nvPr/>
        </p:nvSpPr>
        <p:spPr>
          <a:xfrm>
            <a:off x="804672" y="23591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2" name="Shape 20"/>
          <p:cNvSpPr/>
          <p:nvPr/>
        </p:nvSpPr>
        <p:spPr>
          <a:xfrm>
            <a:off x="1005840" y="3703320"/>
            <a:ext cx="2103120" cy="292608"/>
          </a:xfrm>
          <a:prstGeom prst="roundRect">
            <a:avLst>
              <a:gd name="adj" fmla="val 46875"/>
            </a:avLst>
          </a:prstGeom>
          <a:solidFill>
            <a:srgbClr val="FFFFFF"/>
          </a:solidFill>
          <a:ln w="9525">
            <a:solidFill>
              <a:srgbClr val="C9CED6"/>
            </a:solidFill>
            <a:prstDash val="solid"/>
          </a:ln>
        </p:spPr>
      </p:sp>
      <p:sp>
        <p:nvSpPr>
          <p:cNvPr id="23" name="Text 21"/>
          <p:cNvSpPr/>
          <p:nvPr/>
        </p:nvSpPr>
        <p:spPr>
          <a:xfrm>
            <a:off x="1060704" y="3703320"/>
            <a:ext cx="1993392" cy="292608"/>
          </a:xfrm>
          <a:prstGeom prst="rect">
            <a:avLst/>
          </a:prstGeom>
          <a:noFill/>
          <a:ln/>
        </p:spPr>
        <p:txBody>
          <a:bodyPr wrap="square" lIns="0" tIns="0" rIns="0" bIns="0" rtlCol="0" anchor="ctr"/>
          <a:lstStyle/>
          <a:p>
            <a:pPr algn="ctr" indent="0" marL="0">
              <a:buNone/>
            </a:pPr>
            <a:r>
              <a:rPr lang="en-US" sz="1000" dirty="0">
                <a:solidFill>
                  <a:srgbClr val="24292F"/>
                </a:solidFill>
                <a:latin typeface="Yu Gothic" pitchFamily="34" charset="0"/>
                <a:ea typeface="Yu Gothic" pitchFamily="34" charset="-122"/>
                <a:cs typeface="Yu Gothic" pitchFamily="34" charset="-120"/>
              </a:rPr>
              <a:t>📁 teisha-tool ▾</a:t>
            </a:r>
            <a:endParaRPr lang="en-US" sz="1000" dirty="0"/>
          </a:p>
        </p:txBody>
      </p:sp>
      <p:sp>
        <p:nvSpPr>
          <p:cNvPr id="24" name="Shape 22"/>
          <p:cNvSpPr/>
          <p:nvPr/>
        </p:nvSpPr>
        <p:spPr>
          <a:xfrm>
            <a:off x="960120" y="3657600"/>
            <a:ext cx="2194560" cy="384048"/>
          </a:xfrm>
          <a:prstGeom prst="roundRect">
            <a:avLst>
              <a:gd name="adj" fmla="val 14286"/>
            </a:avLst>
          </a:prstGeom>
          <a:ln w="31750">
            <a:solidFill>
              <a:srgbClr val="E5484D"/>
            </a:solidFill>
            <a:prstDash val="solid"/>
          </a:ln>
        </p:spPr>
      </p:sp>
      <p:sp>
        <p:nvSpPr>
          <p:cNvPr id="25" name="Shape 23"/>
          <p:cNvSpPr/>
          <p:nvPr/>
        </p:nvSpPr>
        <p:spPr>
          <a:xfrm>
            <a:off x="804672" y="3502152"/>
            <a:ext cx="310896" cy="310896"/>
          </a:xfrm>
          <a:prstGeom prst="ellipse">
            <a:avLst/>
          </a:prstGeom>
          <a:solidFill>
            <a:srgbClr val="E5484D"/>
          </a:solidFill>
          <a:ln w="12700">
            <a:solidFill>
              <a:srgbClr val="FFFFFF"/>
            </a:solidFill>
            <a:prstDash val="solid"/>
          </a:ln>
        </p:spPr>
      </p:sp>
      <p:sp>
        <p:nvSpPr>
          <p:cNvPr id="26" name="Text 24"/>
          <p:cNvSpPr/>
          <p:nvPr/>
        </p:nvSpPr>
        <p:spPr>
          <a:xfrm>
            <a:off x="804672" y="35021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27" name="Shape 25"/>
          <p:cNvSpPr/>
          <p:nvPr/>
        </p:nvSpPr>
        <p:spPr>
          <a:xfrm>
            <a:off x="3246120" y="3703320"/>
            <a:ext cx="1005840" cy="292608"/>
          </a:xfrm>
          <a:prstGeom prst="roundRect">
            <a:avLst>
              <a:gd name="adj" fmla="val 46875"/>
            </a:avLst>
          </a:prstGeom>
          <a:solidFill>
            <a:srgbClr val="FFFFFF"/>
          </a:solidFill>
          <a:ln w="9525">
            <a:solidFill>
              <a:srgbClr val="C9CED6"/>
            </a:solidFill>
            <a:prstDash val="solid"/>
          </a:ln>
        </p:spPr>
      </p:sp>
      <p:sp>
        <p:nvSpPr>
          <p:cNvPr id="28" name="Text 26"/>
          <p:cNvSpPr/>
          <p:nvPr/>
        </p:nvSpPr>
        <p:spPr>
          <a:xfrm>
            <a:off x="3300984" y="3703320"/>
            <a:ext cx="896112" cy="292608"/>
          </a:xfrm>
          <a:prstGeom prst="rect">
            <a:avLst/>
          </a:prstGeom>
          <a:noFill/>
          <a:ln/>
        </p:spPr>
        <p:txBody>
          <a:bodyPr wrap="square" lIns="0" tIns="0" rIns="0" bIns="0" rtlCol="0" anchor="ctr"/>
          <a:lstStyle/>
          <a:p>
            <a:pPr algn="ctr" indent="0" marL="0">
              <a:buNone/>
            </a:pPr>
            <a:r>
              <a:rPr lang="en-US" sz="1000" dirty="0">
                <a:solidFill>
                  <a:srgbClr val="24292F"/>
                </a:solidFill>
                <a:latin typeface="Yu Gothic" pitchFamily="34" charset="0"/>
                <a:ea typeface="Yu Gothic" pitchFamily="34" charset="-122"/>
                <a:cs typeface="Yu Gothic" pitchFamily="34" charset="-120"/>
              </a:rPr>
              <a:t>main ▾</a:t>
            </a:r>
            <a:endParaRPr lang="en-US" sz="1000" dirty="0"/>
          </a:p>
        </p:txBody>
      </p:sp>
      <p:sp>
        <p:nvSpPr>
          <p:cNvPr id="29" name="Shape 27"/>
          <p:cNvSpPr/>
          <p:nvPr/>
        </p:nvSpPr>
        <p:spPr>
          <a:xfrm>
            <a:off x="4389120" y="3703320"/>
            <a:ext cx="1417320" cy="292608"/>
          </a:xfrm>
          <a:prstGeom prst="roundRect">
            <a:avLst>
              <a:gd name="adj" fmla="val 46875"/>
            </a:avLst>
          </a:prstGeom>
          <a:solidFill>
            <a:srgbClr val="FFFFFF"/>
          </a:solidFill>
          <a:ln w="9525">
            <a:solidFill>
              <a:srgbClr val="C9CED6"/>
            </a:solidFill>
            <a:prstDash val="solid"/>
          </a:ln>
        </p:spPr>
      </p:sp>
      <p:sp>
        <p:nvSpPr>
          <p:cNvPr id="30" name="Text 28"/>
          <p:cNvSpPr/>
          <p:nvPr/>
        </p:nvSpPr>
        <p:spPr>
          <a:xfrm>
            <a:off x="4443984" y="3703320"/>
            <a:ext cx="1307592" cy="292608"/>
          </a:xfrm>
          <a:prstGeom prst="rect">
            <a:avLst/>
          </a:prstGeom>
          <a:noFill/>
          <a:ln/>
        </p:spPr>
        <p:txBody>
          <a:bodyPr wrap="square" lIns="0" tIns="0" rIns="0" bIns="0" rtlCol="0" anchor="ctr"/>
          <a:lstStyle/>
          <a:p>
            <a:pPr algn="ctr" indent="0" marL="0">
              <a:buNone/>
            </a:pPr>
            <a:r>
              <a:rPr lang="en-US" sz="1000" dirty="0">
                <a:solidFill>
                  <a:srgbClr val="24292F"/>
                </a:solidFill>
                <a:latin typeface="Yu Gothic" pitchFamily="34" charset="0"/>
                <a:ea typeface="Yu Gothic" pitchFamily="34" charset="-122"/>
                <a:cs typeface="Yu Gothic" pitchFamily="34" charset="-120"/>
              </a:rPr>
              <a:t>Accept edits ▾</a:t>
            </a:r>
            <a:endParaRPr lang="en-US" sz="1000" dirty="0"/>
          </a:p>
        </p:txBody>
      </p:sp>
      <p:sp>
        <p:nvSpPr>
          <p:cNvPr id="31" name="Shape 29"/>
          <p:cNvSpPr/>
          <p:nvPr/>
        </p:nvSpPr>
        <p:spPr>
          <a:xfrm>
            <a:off x="4343400" y="3657600"/>
            <a:ext cx="1508760" cy="384048"/>
          </a:xfrm>
          <a:prstGeom prst="roundRect">
            <a:avLst>
              <a:gd name="adj" fmla="val 14286"/>
            </a:avLst>
          </a:prstGeom>
          <a:ln w="31750">
            <a:solidFill>
              <a:srgbClr val="E5484D"/>
            </a:solidFill>
            <a:prstDash val="solid"/>
          </a:ln>
        </p:spPr>
      </p:sp>
      <p:sp>
        <p:nvSpPr>
          <p:cNvPr id="32" name="Shape 30"/>
          <p:cNvSpPr/>
          <p:nvPr/>
        </p:nvSpPr>
        <p:spPr>
          <a:xfrm>
            <a:off x="4187952" y="3502152"/>
            <a:ext cx="310896" cy="310896"/>
          </a:xfrm>
          <a:prstGeom prst="ellipse">
            <a:avLst/>
          </a:prstGeom>
          <a:solidFill>
            <a:srgbClr val="E5484D"/>
          </a:solidFill>
          <a:ln w="12700">
            <a:solidFill>
              <a:srgbClr val="FFFFFF"/>
            </a:solidFill>
            <a:prstDash val="solid"/>
          </a:ln>
        </p:spPr>
      </p:sp>
      <p:sp>
        <p:nvSpPr>
          <p:cNvPr id="33" name="Text 31"/>
          <p:cNvSpPr/>
          <p:nvPr/>
        </p:nvSpPr>
        <p:spPr>
          <a:xfrm>
            <a:off x="4187952" y="35021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34" name="Shape 32"/>
          <p:cNvSpPr/>
          <p:nvPr/>
        </p:nvSpPr>
        <p:spPr>
          <a:xfrm>
            <a:off x="6629400" y="3703320"/>
            <a:ext cx="411480" cy="292608"/>
          </a:xfrm>
          <a:prstGeom prst="roundRect">
            <a:avLst>
              <a:gd name="adj" fmla="val 46875"/>
            </a:avLst>
          </a:prstGeom>
          <a:solidFill>
            <a:srgbClr val="C15F3C"/>
          </a:solidFill>
          <a:ln w="9525">
            <a:solidFill>
              <a:srgbClr val="C15F3C"/>
            </a:solidFill>
            <a:prstDash val="solid"/>
          </a:ln>
        </p:spPr>
      </p:sp>
      <p:sp>
        <p:nvSpPr>
          <p:cNvPr id="35" name="Text 33"/>
          <p:cNvSpPr/>
          <p:nvPr/>
        </p:nvSpPr>
        <p:spPr>
          <a:xfrm>
            <a:off x="6684264" y="3703320"/>
            <a:ext cx="30175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a:t>
            </a:r>
            <a:endParaRPr lang="en-US" sz="1000" dirty="0"/>
          </a:p>
        </p:txBody>
      </p:sp>
      <p:sp>
        <p:nvSpPr>
          <p:cNvPr id="36" name="Shape 34"/>
          <p:cNvSpPr/>
          <p:nvPr/>
        </p:nvSpPr>
        <p:spPr>
          <a:xfrm>
            <a:off x="7818120" y="1618488"/>
            <a:ext cx="329184" cy="329184"/>
          </a:xfrm>
          <a:prstGeom prst="ellipse">
            <a:avLst/>
          </a:prstGeom>
          <a:solidFill>
            <a:srgbClr val="E5484D"/>
          </a:solidFill>
          <a:ln/>
        </p:spPr>
      </p:sp>
      <p:sp>
        <p:nvSpPr>
          <p:cNvPr id="37" name="Text 35"/>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8" name="Text 36"/>
          <p:cNvSpPr/>
          <p:nvPr/>
        </p:nvSpPr>
        <p:spPr>
          <a:xfrm>
            <a:off x="8275320" y="160020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入力欄</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プロンプトを貼る場所。Enter で送信、改行は Shift + Enter</a:t>
            </a:r>
            <a:endParaRPr lang="en-US" sz="1400" dirty="0"/>
          </a:p>
        </p:txBody>
      </p:sp>
      <p:sp>
        <p:nvSpPr>
          <p:cNvPr id="39" name="Shape 37"/>
          <p:cNvSpPr/>
          <p:nvPr/>
        </p:nvSpPr>
        <p:spPr>
          <a:xfrm>
            <a:off x="7818120" y="2476849"/>
            <a:ext cx="329184" cy="329184"/>
          </a:xfrm>
          <a:prstGeom prst="ellipse">
            <a:avLst/>
          </a:prstGeom>
          <a:solidFill>
            <a:srgbClr val="E5484D"/>
          </a:solidFill>
          <a:ln/>
        </p:spPr>
      </p:sp>
      <p:sp>
        <p:nvSpPr>
          <p:cNvPr id="40" name="Text 38"/>
          <p:cNvSpPr/>
          <p:nvPr/>
        </p:nvSpPr>
        <p:spPr>
          <a:xfrm>
            <a:off x="7818120" y="247684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41" name="Text 39"/>
          <p:cNvSpPr/>
          <p:nvPr/>
        </p:nvSpPr>
        <p:spPr>
          <a:xfrm>
            <a:off x="8275320" y="2458561"/>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リポジトリ：teisha-tool</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毎回ここが正しいか確認。違うと別の場所に作られます</a:t>
            </a:r>
            <a:endParaRPr lang="en-US" sz="1400" dirty="0"/>
          </a:p>
        </p:txBody>
      </p:sp>
      <p:sp>
        <p:nvSpPr>
          <p:cNvPr id="42" name="Shape 40"/>
          <p:cNvSpPr/>
          <p:nvPr/>
        </p:nvSpPr>
        <p:spPr>
          <a:xfrm>
            <a:off x="7818120" y="3335211"/>
            <a:ext cx="329184" cy="329184"/>
          </a:xfrm>
          <a:prstGeom prst="ellipse">
            <a:avLst/>
          </a:prstGeom>
          <a:solidFill>
            <a:srgbClr val="E5484D"/>
          </a:solidFill>
          <a:ln/>
        </p:spPr>
      </p:sp>
      <p:sp>
        <p:nvSpPr>
          <p:cNvPr id="43" name="Text 41"/>
          <p:cNvSpPr/>
          <p:nvPr/>
        </p:nvSpPr>
        <p:spPr>
          <a:xfrm>
            <a:off x="7818120" y="3335211"/>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44" name="Text 42"/>
          <p:cNvSpPr/>
          <p:nvPr/>
        </p:nvSpPr>
        <p:spPr>
          <a:xfrm>
            <a:off x="8275320" y="3316923"/>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モード：Accept edits</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「ファイルの変更を任せる」設定。今日はこれを選びます</a:t>
            </a:r>
            <a:endParaRPr lang="en-US" sz="1400" dirty="0"/>
          </a:p>
        </p:txBody>
      </p:sp>
      <p:sp>
        <p:nvSpPr>
          <p:cNvPr id="45" name="Shape 43"/>
          <p:cNvSpPr/>
          <p:nvPr/>
        </p:nvSpPr>
        <p:spPr>
          <a:xfrm>
            <a:off x="548640" y="5029200"/>
            <a:ext cx="6949440" cy="1234440"/>
          </a:xfrm>
          <a:prstGeom prst="roundRect">
            <a:avLst>
              <a:gd name="adj" fmla="val 5926"/>
            </a:avLst>
          </a:prstGeom>
          <a:solidFill>
            <a:srgbClr val="FBF9F4"/>
          </a:solidFill>
          <a:ln w="12700">
            <a:solidFill>
              <a:srgbClr val="E4DFD4"/>
            </a:solidFill>
            <a:prstDash val="solid"/>
          </a:ln>
        </p:spPr>
      </p:sp>
      <p:sp>
        <p:nvSpPr>
          <p:cNvPr id="46" name="Text 44"/>
          <p:cNvSpPr/>
          <p:nvPr/>
        </p:nvSpPr>
        <p:spPr>
          <a:xfrm>
            <a:off x="749808" y="5175504"/>
            <a:ext cx="6547104"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左側の一覧（セッション）</a:t>
            </a:r>
            <a:endParaRPr lang="en-US" sz="1500" dirty="0"/>
          </a:p>
        </p:txBody>
      </p:sp>
      <p:sp>
        <p:nvSpPr>
          <p:cNvPr id="47" name="Text 45"/>
          <p:cNvSpPr/>
          <p:nvPr/>
        </p:nvSpPr>
        <p:spPr>
          <a:xfrm>
            <a:off x="749808" y="5577840"/>
            <a:ext cx="6547104" cy="576072"/>
          </a:xfrm>
          <a:prstGeom prst="rect">
            <a:avLst/>
          </a:prstGeom>
          <a:noFill/>
          <a:ln/>
        </p:spPr>
        <p:txBody>
          <a:bodyPr wrap="square" lIns="0" tIns="0" rIns="0" bIns="0" rtlCol="0" anchor="t"/>
          <a:lstStyle/>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送ったお願いは1件ずつ左側に残ります。あとから開いて、続きのお願いもできます</a:t>
            </a:r>
            <a:endParaRPr lang="en-US" sz="1200" dirty="0"/>
          </a:p>
        </p:txBody>
      </p:sp>
      <p:sp>
        <p:nvSpPr>
          <p:cNvPr id="48" name="Shape 46"/>
          <p:cNvSpPr/>
          <p:nvPr/>
        </p:nvSpPr>
        <p:spPr>
          <a:xfrm>
            <a:off x="7818120" y="5029200"/>
            <a:ext cx="3822192" cy="1234440"/>
          </a:xfrm>
          <a:prstGeom prst="roundRect">
            <a:avLst>
              <a:gd name="adj" fmla="val 4444"/>
            </a:avLst>
          </a:prstGeom>
          <a:solidFill>
            <a:srgbClr val="F5F2EA"/>
          </a:solidFill>
          <a:ln/>
        </p:spPr>
      </p:sp>
      <p:sp>
        <p:nvSpPr>
          <p:cNvPr id="49" name="Shape 47"/>
          <p:cNvSpPr/>
          <p:nvPr/>
        </p:nvSpPr>
        <p:spPr>
          <a:xfrm>
            <a:off x="7818120" y="5029200"/>
            <a:ext cx="73152" cy="1234440"/>
          </a:xfrm>
          <a:prstGeom prst="rect">
            <a:avLst/>
          </a:prstGeom>
          <a:solidFill>
            <a:srgbClr val="B08D47"/>
          </a:solidFill>
          <a:ln/>
        </p:spPr>
      </p:sp>
      <p:sp>
        <p:nvSpPr>
          <p:cNvPr id="50" name="Text 48"/>
          <p:cNvSpPr/>
          <p:nvPr/>
        </p:nvSpPr>
        <p:spPr>
          <a:xfrm>
            <a:off x="8046720" y="5029200"/>
            <a:ext cx="3456432" cy="123444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Plan を選ぶと「計画だけ」を作ります。慣れてきたら、先に Plan で計画を確かめる使い方もおすすめ</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10</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プロンプト①：ツールの土台と2つのグラフを作る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リポジトリ「teisha-tool」とモードを確認して送信。コピーは prompts.md（最後のスライド参照）の 📋 ボタンが確実</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25</a:t>
            </a:r>
            <a:endParaRPr lang="en-US" sz="900" dirty="0"/>
          </a:p>
        </p:txBody>
      </p:sp>
      <p:sp>
        <p:nvSpPr>
          <p:cNvPr id="8" name="Shape 6"/>
          <p:cNvSpPr/>
          <p:nvPr/>
        </p:nvSpPr>
        <p:spPr>
          <a:xfrm>
            <a:off x="548640" y="1508760"/>
            <a:ext cx="11091672" cy="4800600"/>
          </a:xfrm>
          <a:prstGeom prst="roundRect">
            <a:avLst>
              <a:gd name="adj" fmla="val 1524"/>
            </a:avLst>
          </a:prstGeom>
          <a:solidFill>
            <a:srgbClr val="1E293B"/>
          </a:solidFill>
          <a:ln/>
        </p:spPr>
      </p:sp>
      <p:sp>
        <p:nvSpPr>
          <p:cNvPr id="9" name="Text 7"/>
          <p:cNvSpPr/>
          <p:nvPr/>
        </p:nvSpPr>
        <p:spPr>
          <a:xfrm>
            <a:off x="777240" y="1618488"/>
            <a:ext cx="10634472" cy="256032"/>
          </a:xfrm>
          <a:prstGeom prst="rect">
            <a:avLst/>
          </a:prstGeom>
          <a:noFill/>
          <a:ln/>
        </p:spPr>
        <p:txBody>
          <a:bodyPr wrap="square" lIns="0" tIns="0" rIns="0" bIns="0" rtlCol="0" anchor="t"/>
          <a:lstStyle/>
          <a:p>
            <a:pPr indent="0" marL="0">
              <a:buNone/>
            </a:pPr>
            <a:r>
              <a:rPr lang="en-US" sz="1050" b="1" dirty="0">
                <a:solidFill>
                  <a:srgbClr val="CBB07A"/>
                </a:solidFill>
                <a:latin typeface="Yu Gothic" pitchFamily="34" charset="0"/>
                <a:ea typeface="Yu Gothic" pitchFamily="34" charset="-122"/>
                <a:cs typeface="Yu Gothic" pitchFamily="34" charset="-120"/>
              </a:rPr>
              <a:t>📋 コピーして Claude の入力欄に貼り付け</a:t>
            </a:r>
            <a:endParaRPr lang="en-US" sz="1050" dirty="0"/>
          </a:p>
        </p:txBody>
      </p:sp>
      <p:sp>
        <p:nvSpPr>
          <p:cNvPr id="10" name="Text 8"/>
          <p:cNvSpPr/>
          <p:nvPr/>
        </p:nvSpPr>
        <p:spPr>
          <a:xfrm>
            <a:off x="777240" y="1947672"/>
            <a:ext cx="10634472" cy="4251960"/>
          </a:xfrm>
          <a:prstGeom prst="rect">
            <a:avLst/>
          </a:prstGeom>
          <a:noFill/>
          <a:ln/>
        </p:spPr>
        <p:txBody>
          <a:bodyPr wrap="square" lIns="0" tIns="0" rIns="0" bIns="0" rtlCol="0" anchor="t"/>
          <a:lstStyle/>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あなたは、不動産会社の営業担当が使う社内ツールを作るエンジニアです。</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定期借地権マンションの「残存年数別 資産価値グラフ」を表示するツールを、このリポジトリに作ってください。</a:t>
            </a:r>
            <a:endParaRPr lang="en-US" sz="880" dirty="0"/>
          </a:p>
          <a:p>
            <a:pPr indent="0" marL="0">
              <a:lnSpc>
                <a:spcPct val="105000"/>
              </a:lnSpc>
              <a:buNone/>
            </a:pP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【作り方の条件】</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・index.html をダブルクリックするだけで動く静的なツールにする（サーバーやデータベースは使わない）</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・グラフは Chart.js、CSVの読み込みは PapaParse を使う。どちらも npm でダウンロードして lib/ フォルダにコピーして使う（CDNは使わない）</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・「新築データを読み込む」「中古データを読み込む」ボタンで、PCのCSVファイルを選んで読み込む。データはブラウザの中だけで処理し、外部に送信しない</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・「サンプルデータで試す」ボタンを置く。架空の物件10件ほどのサンプルを作り、sample-data/ フォルダのCSVと sample-data.js（埋め込み用）の両方に入れる</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・CSVは UTF-8 と Shift_JIS のどちらでも読めるようにする。列名が足りないときは、足りない列名を画面に日本語で表示する</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・「テンプレートCSV（新築）」「テンプレートCSV（中古）」ボタンで、1行目が列名のCSVをダウンロードできるようにする</a:t>
            </a:r>
            <a:endParaRPr lang="en-US" sz="880" dirty="0"/>
          </a:p>
          <a:p>
            <a:pPr indent="0" marL="0">
              <a:lnSpc>
                <a:spcPct val="105000"/>
              </a:lnSpc>
              <a:buNone/>
            </a:pP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【CSVの形】</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新築データ（1住戸1行）：物件名,区,最寄駅,駅徒歩分,竣工年,借地期限年,総戸数,価格,専有面積</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中古データ（1成約1行）：物件名,成約年月,価格,専有面積,階</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・価格は万円、専有面積は㎡、成約年月は 2024/05 の形。2つのデータは「物件名」でつなぐ</a:t>
            </a:r>
            <a:endParaRPr lang="en-US" sz="880" dirty="0"/>
          </a:p>
          <a:p>
            <a:pPr indent="0" marL="0">
              <a:lnSpc>
                <a:spcPct val="105000"/>
              </a:lnSpc>
              <a:buNone/>
            </a:pP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【計算のルール】</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・坪単価（万円/坪）＝ 価格 ÷ 専有面積 × 3.30578</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・物件の新築坪単価 ＝ その物件の新築データの坪単価の平均</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・成約時の残存年数 ＝ 借地期限年 − 成約年</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・新築比 ＝ 成約坪単価 ÷ その物件の新築坪単価</a:t>
            </a:r>
            <a:endParaRPr lang="en-US" sz="880" dirty="0"/>
          </a:p>
          <a:p>
            <a:pPr indent="0" marL="0">
              <a:lnSpc>
                <a:spcPct val="105000"/>
              </a:lnSpc>
              <a:buNone/>
            </a:pP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【表示するもの】</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① 新築比のグラフ：横軸は残存年数（5年刻み）。中央値を折れ線、平均を棒、100%の位置に点線</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② 坪単価のグラフ：同じ横軸で中央値と平均。各物件の新築時坪単価を点で表示</a:t>
            </a: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③ 読み込んだ件数（新築◯行・◯物件／中古◯行）</a:t>
            </a:r>
            <a:endParaRPr lang="en-US" sz="880" dirty="0"/>
          </a:p>
          <a:p>
            <a:pPr indent="0" marL="0">
              <a:lnSpc>
                <a:spcPct val="105000"/>
              </a:lnSpc>
              <a:buNone/>
            </a:pPr>
            <a:endParaRPr lang="en-US" sz="880" dirty="0"/>
          </a:p>
          <a:p>
            <a:pPr indent="0" marL="0">
              <a:lnSpc>
                <a:spcPct val="105000"/>
              </a:lnSpc>
              <a:buNone/>
            </a:pPr>
            <a:r>
              <a:rPr lang="en-US" sz="880" dirty="0">
                <a:solidFill>
                  <a:srgbClr val="F1F5F9"/>
                </a:solidFill>
                <a:latin typeface="Yu Gothic" pitchFamily="34" charset="0"/>
                <a:ea typeface="Yu Gothic" pitchFamily="34" charset="-122"/>
                <a:cs typeface="Yu Gothic" pitchFamily="34" charset="-120"/>
              </a:rPr>
              <a:t>最後に、作ったファイルの一覧と、動作の確かめ方を日本語でやさしく説明してください。</a:t>
            </a:r>
            <a:endParaRPr lang="en-US" sz="8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10</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送信したら：Claude の作業を見守る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5〜15分ほどかかります。途中で質問されたら答えます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26</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https://claude.ai/code/session_…</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Shape 14"/>
          <p:cNvSpPr/>
          <p:nvPr/>
        </p:nvSpPr>
        <p:spPr>
          <a:xfrm>
            <a:off x="731520" y="2057400"/>
            <a:ext cx="6583680" cy="502920"/>
          </a:xfrm>
          <a:prstGeom prst="roundRect">
            <a:avLst>
              <a:gd name="adj" fmla="val 10909"/>
            </a:avLst>
          </a:prstGeom>
          <a:solidFill>
            <a:srgbClr val="F4F1EC"/>
          </a:solidFill>
          <a:ln/>
        </p:spPr>
      </p:sp>
      <p:sp>
        <p:nvSpPr>
          <p:cNvPr id="17" name="Text 15"/>
          <p:cNvSpPr/>
          <p:nvPr/>
        </p:nvSpPr>
        <p:spPr>
          <a:xfrm>
            <a:off x="868680" y="2057400"/>
            <a:ext cx="6309360" cy="502920"/>
          </a:xfrm>
          <a:prstGeom prst="rect">
            <a:avLst/>
          </a:prstGeom>
          <a:noFill/>
          <a:ln/>
        </p:spPr>
        <p:txBody>
          <a:bodyPr wrap="square" lIns="0" tIns="0" rIns="0" bIns="0" rtlCol="0" anchor="ctr"/>
          <a:lstStyle/>
          <a:p>
            <a:pPr indent="0" marL="0">
              <a:buNone/>
            </a:pPr>
            <a:r>
              <a:rPr lang="en-US" sz="1000" dirty="0">
                <a:solidFill>
                  <a:srgbClr val="1F1F1F"/>
                </a:solidFill>
                <a:latin typeface="Yu Gothic" pitchFamily="34" charset="0"/>
                <a:ea typeface="Yu Gothic" pitchFamily="34" charset="-122"/>
                <a:cs typeface="Yu Gothic" pitchFamily="34" charset="-120"/>
              </a:rPr>
              <a:t>あなた：あなたは、不動産会社の営業担当が使う社内ツールを…</a:t>
            </a:r>
            <a:endParaRPr lang="en-US" sz="1000" dirty="0"/>
          </a:p>
        </p:txBody>
      </p:sp>
      <p:sp>
        <p:nvSpPr>
          <p:cNvPr id="18" name="Text 16"/>
          <p:cNvSpPr/>
          <p:nvPr/>
        </p:nvSpPr>
        <p:spPr>
          <a:xfrm>
            <a:off x="868680" y="2743200"/>
            <a:ext cx="6309360" cy="274320"/>
          </a:xfrm>
          <a:prstGeom prst="rect">
            <a:avLst/>
          </a:prstGeom>
          <a:noFill/>
          <a:ln/>
        </p:spPr>
        <p:txBody>
          <a:bodyPr wrap="square" lIns="0" tIns="0" rIns="0" bIns="0" rtlCol="0" anchor="t"/>
          <a:lstStyle/>
          <a:p>
            <a:pPr indent="0" marL="0">
              <a:buNone/>
            </a:pPr>
            <a:r>
              <a:rPr lang="en-US" sz="1000" dirty="0">
                <a:solidFill>
                  <a:srgbClr val="4B5563"/>
                </a:solidFill>
                <a:latin typeface="Yu Gothic" pitchFamily="34" charset="0"/>
                <a:ea typeface="Yu Gothic" pitchFamily="34" charset="-122"/>
                <a:cs typeface="Yu Gothic" pitchFamily="34" charset="-120"/>
              </a:rPr>
              <a:t>● リポジトリの中身を確認しています</a:t>
            </a:r>
            <a:endParaRPr lang="en-US" sz="1000" dirty="0"/>
          </a:p>
        </p:txBody>
      </p:sp>
      <p:sp>
        <p:nvSpPr>
          <p:cNvPr id="19" name="Text 17"/>
          <p:cNvSpPr/>
          <p:nvPr/>
        </p:nvSpPr>
        <p:spPr>
          <a:xfrm>
            <a:off x="868680" y="3035808"/>
            <a:ext cx="6309360" cy="274320"/>
          </a:xfrm>
          <a:prstGeom prst="rect">
            <a:avLst/>
          </a:prstGeom>
          <a:noFill/>
          <a:ln/>
        </p:spPr>
        <p:txBody>
          <a:bodyPr wrap="square" lIns="0" tIns="0" rIns="0" bIns="0" rtlCol="0" anchor="t"/>
          <a:lstStyle/>
          <a:p>
            <a:pPr indent="0" marL="0">
              <a:buNone/>
            </a:pPr>
            <a:r>
              <a:rPr lang="en-US" sz="1000" dirty="0">
                <a:solidFill>
                  <a:srgbClr val="4B5563"/>
                </a:solidFill>
                <a:latin typeface="Yu Gothic" pitchFamily="34" charset="0"/>
                <a:ea typeface="Yu Gothic" pitchFamily="34" charset="-122"/>
                <a:cs typeface="Yu Gothic" pitchFamily="34" charset="-120"/>
              </a:rPr>
              <a:t>● npm install chart.js papaparse を実行</a:t>
            </a:r>
            <a:endParaRPr lang="en-US" sz="1000" dirty="0"/>
          </a:p>
        </p:txBody>
      </p:sp>
      <p:sp>
        <p:nvSpPr>
          <p:cNvPr id="20" name="Text 18"/>
          <p:cNvSpPr/>
          <p:nvPr/>
        </p:nvSpPr>
        <p:spPr>
          <a:xfrm>
            <a:off x="868680" y="3328416"/>
            <a:ext cx="6309360" cy="274320"/>
          </a:xfrm>
          <a:prstGeom prst="rect">
            <a:avLst/>
          </a:prstGeom>
          <a:noFill/>
          <a:ln/>
        </p:spPr>
        <p:txBody>
          <a:bodyPr wrap="square" lIns="0" tIns="0" rIns="0" bIns="0" rtlCol="0" anchor="t"/>
          <a:lstStyle/>
          <a:p>
            <a:pPr indent="0" marL="0">
              <a:buNone/>
            </a:pPr>
            <a:r>
              <a:rPr lang="en-US" sz="1000" dirty="0">
                <a:solidFill>
                  <a:srgbClr val="4B5563"/>
                </a:solidFill>
                <a:latin typeface="Yu Gothic" pitchFamily="34" charset="0"/>
                <a:ea typeface="Yu Gothic" pitchFamily="34" charset="-122"/>
                <a:cs typeface="Yu Gothic" pitchFamily="34" charset="-120"/>
              </a:rPr>
              <a:t>● lib/ にライブラリをコピー</a:t>
            </a:r>
            <a:endParaRPr lang="en-US" sz="1000" dirty="0"/>
          </a:p>
        </p:txBody>
      </p:sp>
      <p:sp>
        <p:nvSpPr>
          <p:cNvPr id="21" name="Text 19"/>
          <p:cNvSpPr/>
          <p:nvPr/>
        </p:nvSpPr>
        <p:spPr>
          <a:xfrm>
            <a:off x="868680" y="3621024"/>
            <a:ext cx="6309360" cy="274320"/>
          </a:xfrm>
          <a:prstGeom prst="rect">
            <a:avLst/>
          </a:prstGeom>
          <a:noFill/>
          <a:ln/>
        </p:spPr>
        <p:txBody>
          <a:bodyPr wrap="square" lIns="0" tIns="0" rIns="0" bIns="0" rtlCol="0" anchor="t"/>
          <a:lstStyle/>
          <a:p>
            <a:pPr indent="0" marL="0">
              <a:buNone/>
            </a:pPr>
            <a:r>
              <a:rPr lang="en-US" sz="1000" dirty="0">
                <a:solidFill>
                  <a:srgbClr val="4B5563"/>
                </a:solidFill>
                <a:latin typeface="Yu Gothic" pitchFamily="34" charset="0"/>
                <a:ea typeface="Yu Gothic" pitchFamily="34" charset="-122"/>
                <a:cs typeface="Yu Gothic" pitchFamily="34" charset="-120"/>
              </a:rPr>
              <a:t>● index.html を作成</a:t>
            </a:r>
            <a:endParaRPr lang="en-US" sz="1000" dirty="0"/>
          </a:p>
        </p:txBody>
      </p:sp>
      <p:sp>
        <p:nvSpPr>
          <p:cNvPr id="22" name="Text 20"/>
          <p:cNvSpPr/>
          <p:nvPr/>
        </p:nvSpPr>
        <p:spPr>
          <a:xfrm>
            <a:off x="868680" y="3913632"/>
            <a:ext cx="6309360" cy="274320"/>
          </a:xfrm>
          <a:prstGeom prst="rect">
            <a:avLst/>
          </a:prstGeom>
          <a:noFill/>
          <a:ln/>
        </p:spPr>
        <p:txBody>
          <a:bodyPr wrap="square" lIns="0" tIns="0" rIns="0" bIns="0" rtlCol="0" anchor="t"/>
          <a:lstStyle/>
          <a:p>
            <a:pPr indent="0" marL="0">
              <a:buNone/>
            </a:pPr>
            <a:r>
              <a:rPr lang="en-US" sz="1000" dirty="0">
                <a:solidFill>
                  <a:srgbClr val="4B5563"/>
                </a:solidFill>
                <a:latin typeface="Yu Gothic" pitchFamily="34" charset="0"/>
                <a:ea typeface="Yu Gothic" pitchFamily="34" charset="-122"/>
                <a:cs typeface="Yu Gothic" pitchFamily="34" charset="-120"/>
              </a:rPr>
              <a:t>● app.js を作成</a:t>
            </a:r>
            <a:endParaRPr lang="en-US" sz="1000" dirty="0"/>
          </a:p>
        </p:txBody>
      </p:sp>
      <p:sp>
        <p:nvSpPr>
          <p:cNvPr id="23" name="Text 21"/>
          <p:cNvSpPr/>
          <p:nvPr/>
        </p:nvSpPr>
        <p:spPr>
          <a:xfrm>
            <a:off x="868680" y="4206240"/>
            <a:ext cx="6309360" cy="274320"/>
          </a:xfrm>
          <a:prstGeom prst="rect">
            <a:avLst/>
          </a:prstGeom>
          <a:noFill/>
          <a:ln/>
        </p:spPr>
        <p:txBody>
          <a:bodyPr wrap="square" lIns="0" tIns="0" rIns="0" bIns="0" rtlCol="0" anchor="t"/>
          <a:lstStyle/>
          <a:p>
            <a:pPr indent="0" marL="0">
              <a:buNone/>
            </a:pPr>
            <a:r>
              <a:rPr lang="en-US" sz="1000" dirty="0">
                <a:solidFill>
                  <a:srgbClr val="4B5563"/>
                </a:solidFill>
                <a:latin typeface="Yu Gothic" pitchFamily="34" charset="0"/>
                <a:ea typeface="Yu Gothic" pitchFamily="34" charset="-122"/>
                <a:cs typeface="Yu Gothic" pitchFamily="34" charset="-120"/>
              </a:rPr>
              <a:t>● sample-data.js を作成</a:t>
            </a:r>
            <a:endParaRPr lang="en-US" sz="1000" dirty="0"/>
          </a:p>
        </p:txBody>
      </p:sp>
      <p:sp>
        <p:nvSpPr>
          <p:cNvPr id="24" name="Shape 22"/>
          <p:cNvSpPr/>
          <p:nvPr/>
        </p:nvSpPr>
        <p:spPr>
          <a:xfrm>
            <a:off x="731520" y="4617720"/>
            <a:ext cx="6583680" cy="822960"/>
          </a:xfrm>
          <a:prstGeom prst="roundRect">
            <a:avLst>
              <a:gd name="adj" fmla="val 6667"/>
            </a:avLst>
          </a:prstGeom>
          <a:solidFill>
            <a:srgbClr val="FFFFFF"/>
          </a:solidFill>
          <a:ln w="9525">
            <a:solidFill>
              <a:srgbClr val="E5E7EB"/>
            </a:solidFill>
            <a:prstDash val="solid"/>
          </a:ln>
        </p:spPr>
      </p:sp>
      <p:sp>
        <p:nvSpPr>
          <p:cNvPr id="25" name="Text 23"/>
          <p:cNvSpPr/>
          <p:nvPr/>
        </p:nvSpPr>
        <p:spPr>
          <a:xfrm>
            <a:off x="868680" y="4663440"/>
            <a:ext cx="6309360" cy="731520"/>
          </a:xfrm>
          <a:prstGeom prst="rect">
            <a:avLst/>
          </a:prstGeom>
          <a:noFill/>
          <a:ln/>
        </p:spPr>
        <p:txBody>
          <a:bodyPr wrap="square" lIns="0" tIns="0" rIns="0" bIns="0" rtlCol="0" anchor="t"/>
          <a:lstStyle/>
          <a:p>
            <a:pPr indent="0" marL="0">
              <a:lnSpc>
                <a:spcPct val="120000"/>
              </a:lnSpc>
              <a:buNone/>
            </a:pPr>
            <a:r>
              <a:rPr lang="en-US" sz="1000" dirty="0">
                <a:solidFill>
                  <a:srgbClr val="1F1F1F"/>
                </a:solidFill>
                <a:latin typeface="Yu Gothic" pitchFamily="34" charset="0"/>
                <a:ea typeface="Yu Gothic" pitchFamily="34" charset="-122"/>
                <a:cs typeface="Yu Gothic" pitchFamily="34" charset="-120"/>
              </a:rPr>
              <a:t>Claude：ツールを作成しました。作ったファイルは次のとおりです…</a:t>
            </a:r>
            <a:endParaRPr lang="en-US" sz="1000" dirty="0"/>
          </a:p>
          <a:p>
            <a:pPr indent="0" marL="0">
              <a:lnSpc>
                <a:spcPct val="120000"/>
              </a:lnSpc>
              <a:buNone/>
            </a:pPr>
            <a:r>
              <a:rPr lang="en-US" sz="1000" dirty="0">
                <a:solidFill>
                  <a:srgbClr val="1F1F1F"/>
                </a:solidFill>
                <a:latin typeface="Yu Gothic" pitchFamily="34" charset="0"/>
                <a:ea typeface="Yu Gothic" pitchFamily="34" charset="-122"/>
                <a:cs typeface="Yu Gothic" pitchFamily="34" charset="-120"/>
              </a:rPr>
              <a:t>確かめ方：index.html をダブルクリックし「サンプルデータで試す」を…</a:t>
            </a:r>
            <a:endParaRPr lang="en-US" sz="1000" dirty="0"/>
          </a:p>
        </p:txBody>
      </p:sp>
      <p:sp>
        <p:nvSpPr>
          <p:cNvPr id="26" name="Shape 24"/>
          <p:cNvSpPr/>
          <p:nvPr/>
        </p:nvSpPr>
        <p:spPr>
          <a:xfrm>
            <a:off x="685800" y="4572000"/>
            <a:ext cx="6675120" cy="914400"/>
          </a:xfrm>
          <a:prstGeom prst="roundRect">
            <a:avLst>
              <a:gd name="adj" fmla="val 6000"/>
            </a:avLst>
          </a:prstGeom>
          <a:ln w="31750">
            <a:solidFill>
              <a:srgbClr val="E5484D"/>
            </a:solidFill>
            <a:prstDash val="solid"/>
          </a:ln>
        </p:spPr>
      </p:sp>
      <p:sp>
        <p:nvSpPr>
          <p:cNvPr id="27" name="Shape 25"/>
          <p:cNvSpPr/>
          <p:nvPr/>
        </p:nvSpPr>
        <p:spPr>
          <a:xfrm>
            <a:off x="530352" y="4416552"/>
            <a:ext cx="310896" cy="310896"/>
          </a:xfrm>
          <a:prstGeom prst="ellipse">
            <a:avLst/>
          </a:prstGeom>
          <a:solidFill>
            <a:srgbClr val="E5484D"/>
          </a:solidFill>
          <a:ln w="12700">
            <a:solidFill>
              <a:srgbClr val="FFFFFF"/>
            </a:solidFill>
            <a:prstDash val="solid"/>
          </a:ln>
        </p:spPr>
      </p:sp>
      <p:sp>
        <p:nvSpPr>
          <p:cNvPr id="28" name="Text 26"/>
          <p:cNvSpPr/>
          <p:nvPr/>
        </p:nvSpPr>
        <p:spPr>
          <a:xfrm>
            <a:off x="530352" y="44165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9" name="Shape 27"/>
          <p:cNvSpPr/>
          <p:nvPr/>
        </p:nvSpPr>
        <p:spPr>
          <a:xfrm>
            <a:off x="7818120" y="1618488"/>
            <a:ext cx="329184" cy="329184"/>
          </a:xfrm>
          <a:prstGeom prst="ellipse">
            <a:avLst/>
          </a:prstGeom>
          <a:solidFill>
            <a:srgbClr val="B08D47"/>
          </a:solidFill>
          <a:ln/>
        </p:spPr>
      </p:sp>
      <p:sp>
        <p:nvSpPr>
          <p:cNvPr id="30" name="Text 28"/>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31" name="Text 29"/>
          <p:cNvSpPr/>
          <p:nvPr/>
        </p:nvSpPr>
        <p:spPr>
          <a:xfrm>
            <a:off x="8275320" y="160020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作業の様子が流れる</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ファイルを作ったり、コマンドを実行したりします。見ているだけでOK</a:t>
            </a:r>
            <a:endParaRPr lang="en-US" sz="1400" dirty="0"/>
          </a:p>
        </p:txBody>
      </p:sp>
      <p:sp>
        <p:nvSpPr>
          <p:cNvPr id="32" name="Shape 30"/>
          <p:cNvSpPr/>
          <p:nvPr/>
        </p:nvSpPr>
        <p:spPr>
          <a:xfrm>
            <a:off x="7818120" y="2476849"/>
            <a:ext cx="329184" cy="329184"/>
          </a:xfrm>
          <a:prstGeom prst="ellipse">
            <a:avLst/>
          </a:prstGeom>
          <a:solidFill>
            <a:srgbClr val="E5484D"/>
          </a:solidFill>
          <a:ln/>
        </p:spPr>
      </p:sp>
      <p:sp>
        <p:nvSpPr>
          <p:cNvPr id="33" name="Text 31"/>
          <p:cNvSpPr/>
          <p:nvPr/>
        </p:nvSpPr>
        <p:spPr>
          <a:xfrm>
            <a:off x="7818120" y="247684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34" name="Text 32"/>
          <p:cNvSpPr/>
          <p:nvPr/>
        </p:nvSpPr>
        <p:spPr>
          <a:xfrm>
            <a:off x="8275320" y="2458561"/>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最後の説明を読む</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作ったファイルと確かめ方が日本語で書かれます</a:t>
            </a:r>
            <a:endParaRPr lang="en-US" sz="1400" dirty="0"/>
          </a:p>
        </p:txBody>
      </p:sp>
      <p:sp>
        <p:nvSpPr>
          <p:cNvPr id="35" name="Shape 33"/>
          <p:cNvSpPr/>
          <p:nvPr/>
        </p:nvSpPr>
        <p:spPr>
          <a:xfrm>
            <a:off x="7818120" y="3840480"/>
            <a:ext cx="3822192" cy="1097280"/>
          </a:xfrm>
          <a:prstGeom prst="roundRect">
            <a:avLst>
              <a:gd name="adj" fmla="val 5000"/>
            </a:avLst>
          </a:prstGeom>
          <a:solidFill>
            <a:srgbClr val="F5F2EA"/>
          </a:solidFill>
          <a:ln/>
        </p:spPr>
      </p:sp>
      <p:sp>
        <p:nvSpPr>
          <p:cNvPr id="36" name="Shape 34"/>
          <p:cNvSpPr/>
          <p:nvPr/>
        </p:nvSpPr>
        <p:spPr>
          <a:xfrm>
            <a:off x="7818120" y="3840480"/>
            <a:ext cx="73152" cy="1097280"/>
          </a:xfrm>
          <a:prstGeom prst="rect">
            <a:avLst/>
          </a:prstGeom>
          <a:solidFill>
            <a:srgbClr val="B08D47"/>
          </a:solidFill>
          <a:ln/>
        </p:spPr>
      </p:sp>
      <p:sp>
        <p:nvSpPr>
          <p:cNvPr id="37" name="Text 35"/>
          <p:cNvSpPr/>
          <p:nvPr/>
        </p:nvSpPr>
        <p:spPr>
          <a:xfrm>
            <a:off x="8046720" y="3840480"/>
            <a:ext cx="3456432" cy="109728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途中で「◯◯してよいですか？」と聞かれたら、内容を読んで「はい」と答えます。分からなければ講師へ</a:t>
            </a:r>
            <a:endParaRPr lang="en-US" sz="1200" dirty="0"/>
          </a:p>
        </p:txBody>
      </p:sp>
      <p:sp>
        <p:nvSpPr>
          <p:cNvPr id="38" name="Shape 36"/>
          <p:cNvSpPr/>
          <p:nvPr/>
        </p:nvSpPr>
        <p:spPr>
          <a:xfrm>
            <a:off x="7818120" y="5074920"/>
            <a:ext cx="3822192" cy="868680"/>
          </a:xfrm>
          <a:prstGeom prst="roundRect">
            <a:avLst>
              <a:gd name="adj" fmla="val 6316"/>
            </a:avLst>
          </a:prstGeom>
          <a:solidFill>
            <a:srgbClr val="FBEFEC"/>
          </a:solidFill>
          <a:ln/>
        </p:spPr>
      </p:sp>
      <p:sp>
        <p:nvSpPr>
          <p:cNvPr id="39" name="Shape 37"/>
          <p:cNvSpPr/>
          <p:nvPr/>
        </p:nvSpPr>
        <p:spPr>
          <a:xfrm>
            <a:off x="7818120" y="5074920"/>
            <a:ext cx="73152" cy="868680"/>
          </a:xfrm>
          <a:prstGeom prst="rect">
            <a:avLst/>
          </a:prstGeom>
          <a:solidFill>
            <a:srgbClr val="9A4A3A"/>
          </a:solidFill>
          <a:ln/>
        </p:spPr>
      </p:sp>
      <p:sp>
        <p:nvSpPr>
          <p:cNvPr id="40" name="Text 38"/>
          <p:cNvSpPr/>
          <p:nvPr/>
        </p:nvSpPr>
        <p:spPr>
          <a:xfrm>
            <a:off x="8046720" y="5074920"/>
            <a:ext cx="3456432" cy="868680"/>
          </a:xfrm>
          <a:prstGeom prst="rect">
            <a:avLst/>
          </a:prstGeom>
          <a:noFill/>
          <a:ln/>
        </p:spPr>
        <p:txBody>
          <a:bodyPr wrap="square" lIns="0" tIns="0" rIns="0" bIns="0" rtlCol="0" anchor="ctr"/>
          <a:lstStyle/>
          <a:p>
            <a:pPr indent="0" marL="0">
              <a:lnSpc>
                <a:spcPct val="110000"/>
              </a:lnSpc>
              <a:buNone/>
            </a:pPr>
            <a:r>
              <a:rPr lang="en-US" sz="1200" b="1" dirty="0">
                <a:solidFill>
                  <a:srgbClr val="9A4A3A"/>
                </a:solidFill>
                <a:latin typeface="Yu Gothic" pitchFamily="34" charset="0"/>
                <a:ea typeface="Yu Gothic" pitchFamily="34" charset="-122"/>
                <a:cs typeface="Yu Gothic" pitchFamily="34" charset="-120"/>
              </a:rPr>
              <a:t>⚠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画面を閉じても作業は続きます。左側の一覧から、あとで開き直せます</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11</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作業が終わったら：変更を確認して「Create PR」</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Claude が作ったファイルを、GitHub に取り込む準備をします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27</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https://claude.ai/code/session_…</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057400"/>
            <a:ext cx="3657600" cy="274320"/>
          </a:xfrm>
          <a:prstGeom prst="rect">
            <a:avLst/>
          </a:prstGeom>
          <a:noFill/>
          <a:ln/>
        </p:spPr>
        <p:txBody>
          <a:bodyPr wrap="square" lIns="0" tIns="0" rIns="0" bIns="0" rtlCol="0" anchor="t"/>
          <a:lstStyle/>
          <a:p>
            <a:pPr indent="0" marL="0">
              <a:buNone/>
            </a:pPr>
            <a:r>
              <a:rPr lang="en-US" sz="1050" dirty="0">
                <a:solidFill>
                  <a:srgbClr val="1F1F1F"/>
                </a:solidFill>
                <a:latin typeface="Yu Gothic" pitchFamily="34" charset="0"/>
                <a:ea typeface="Yu Gothic" pitchFamily="34" charset="-122"/>
                <a:cs typeface="Yu Gothic" pitchFamily="34" charset="-120"/>
              </a:rPr>
              <a:t>Claude：ツールを作成しました。</a:t>
            </a:r>
            <a:endParaRPr lang="en-US" sz="1050" dirty="0"/>
          </a:p>
        </p:txBody>
      </p:sp>
      <p:sp>
        <p:nvSpPr>
          <p:cNvPr id="17" name="Shape 15"/>
          <p:cNvSpPr/>
          <p:nvPr/>
        </p:nvSpPr>
        <p:spPr>
          <a:xfrm>
            <a:off x="6126480" y="2039112"/>
            <a:ext cx="1188720" cy="310896"/>
          </a:xfrm>
          <a:prstGeom prst="roundRect">
            <a:avLst>
              <a:gd name="adj" fmla="val 17647"/>
            </a:avLst>
          </a:prstGeom>
          <a:solidFill>
            <a:srgbClr val="FFFFFF"/>
          </a:solidFill>
          <a:ln w="9525">
            <a:solidFill>
              <a:srgbClr val="C9CED6"/>
            </a:solidFill>
            <a:prstDash val="solid"/>
          </a:ln>
        </p:spPr>
      </p:sp>
      <p:sp>
        <p:nvSpPr>
          <p:cNvPr id="18" name="Text 16"/>
          <p:cNvSpPr/>
          <p:nvPr/>
        </p:nvSpPr>
        <p:spPr>
          <a:xfrm>
            <a:off x="6181344" y="2039112"/>
            <a:ext cx="1078992" cy="310896"/>
          </a:xfrm>
          <a:prstGeom prst="rect">
            <a:avLst/>
          </a:prstGeom>
          <a:noFill/>
          <a:ln/>
        </p:spPr>
        <p:txBody>
          <a:bodyPr wrap="square" lIns="0" tIns="0" rIns="0" bIns="0" rtlCol="0" anchor="ctr"/>
          <a:lstStyle/>
          <a:p>
            <a:pPr algn="ctr" indent="0" marL="0">
              <a:buNone/>
            </a:pPr>
            <a:r>
              <a:rPr lang="en-US" sz="1050" b="1" dirty="0">
                <a:solidFill>
                  <a:srgbClr val="1F883D"/>
                </a:solidFill>
                <a:latin typeface="Yu Gothic" pitchFamily="34" charset="0"/>
                <a:ea typeface="Yu Gothic" pitchFamily="34" charset="-122"/>
                <a:cs typeface="Yu Gothic" pitchFamily="34" charset="-120"/>
              </a:rPr>
              <a:t>+412  -0</a:t>
            </a:r>
            <a:endParaRPr lang="en-US" sz="1050" dirty="0"/>
          </a:p>
        </p:txBody>
      </p:sp>
      <p:sp>
        <p:nvSpPr>
          <p:cNvPr id="19" name="Shape 17"/>
          <p:cNvSpPr/>
          <p:nvPr/>
        </p:nvSpPr>
        <p:spPr>
          <a:xfrm>
            <a:off x="6080760" y="1993392"/>
            <a:ext cx="1280160" cy="402336"/>
          </a:xfrm>
          <a:prstGeom prst="roundRect">
            <a:avLst>
              <a:gd name="adj" fmla="val 13636"/>
            </a:avLst>
          </a:prstGeom>
          <a:ln w="31750">
            <a:solidFill>
              <a:srgbClr val="E5484D"/>
            </a:solidFill>
            <a:prstDash val="solid"/>
          </a:ln>
        </p:spPr>
      </p:sp>
      <p:sp>
        <p:nvSpPr>
          <p:cNvPr id="20" name="Shape 18"/>
          <p:cNvSpPr/>
          <p:nvPr/>
        </p:nvSpPr>
        <p:spPr>
          <a:xfrm>
            <a:off x="5925312" y="1837944"/>
            <a:ext cx="310896" cy="310896"/>
          </a:xfrm>
          <a:prstGeom prst="ellipse">
            <a:avLst/>
          </a:prstGeom>
          <a:solidFill>
            <a:srgbClr val="E5484D"/>
          </a:solidFill>
          <a:ln w="12700">
            <a:solidFill>
              <a:srgbClr val="FFFFFF"/>
            </a:solidFill>
            <a:prstDash val="solid"/>
          </a:ln>
        </p:spPr>
      </p:sp>
      <p:sp>
        <p:nvSpPr>
          <p:cNvPr id="21" name="Text 19"/>
          <p:cNvSpPr/>
          <p:nvPr/>
        </p:nvSpPr>
        <p:spPr>
          <a:xfrm>
            <a:off x="5925312" y="18379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2" name="Shape 20"/>
          <p:cNvSpPr/>
          <p:nvPr/>
        </p:nvSpPr>
        <p:spPr>
          <a:xfrm>
            <a:off x="731520" y="2606040"/>
            <a:ext cx="6583680" cy="2926080"/>
          </a:xfrm>
          <a:prstGeom prst="rect">
            <a:avLst/>
          </a:prstGeom>
          <a:solidFill>
            <a:srgbClr val="FFFFFF"/>
          </a:solidFill>
          <a:ln w="9525">
            <a:solidFill>
              <a:srgbClr val="D0D7DE"/>
            </a:solidFill>
            <a:prstDash val="solid"/>
          </a:ln>
        </p:spPr>
      </p:sp>
      <p:sp>
        <p:nvSpPr>
          <p:cNvPr id="23" name="Shape 21"/>
          <p:cNvSpPr/>
          <p:nvPr/>
        </p:nvSpPr>
        <p:spPr>
          <a:xfrm>
            <a:off x="731520" y="2606040"/>
            <a:ext cx="6583680" cy="438912"/>
          </a:xfrm>
          <a:prstGeom prst="rect">
            <a:avLst/>
          </a:prstGeom>
          <a:solidFill>
            <a:srgbClr val="F6F8FA"/>
          </a:solidFill>
          <a:ln/>
        </p:spPr>
      </p:sp>
      <p:sp>
        <p:nvSpPr>
          <p:cNvPr id="24" name="Text 22"/>
          <p:cNvSpPr/>
          <p:nvPr/>
        </p:nvSpPr>
        <p:spPr>
          <a:xfrm>
            <a:off x="868680" y="2606040"/>
            <a:ext cx="2743200" cy="438912"/>
          </a:xfrm>
          <a:prstGeom prst="rect">
            <a:avLst/>
          </a:prstGeom>
          <a:noFill/>
          <a:ln/>
        </p:spPr>
        <p:txBody>
          <a:bodyPr wrap="square" lIns="0" tIns="0" rIns="0" bIns="0" rtlCol="0" anchor="ctr"/>
          <a:lstStyle/>
          <a:p>
            <a:pPr indent="0" marL="0">
              <a:buNone/>
            </a:pPr>
            <a:r>
              <a:rPr lang="en-US" sz="1000" b="1" dirty="0">
                <a:solidFill>
                  <a:srgbClr val="24292F"/>
                </a:solidFill>
                <a:latin typeface="Yu Gothic" pitchFamily="34" charset="0"/>
                <a:ea typeface="Yu Gothic" pitchFamily="34" charset="-122"/>
                <a:cs typeface="Yu Gothic" pitchFamily="34" charset="-120"/>
              </a:rPr>
              <a:t>変更されたファイル（4）</a:t>
            </a:r>
            <a:endParaRPr lang="en-US" sz="1000" dirty="0"/>
          </a:p>
        </p:txBody>
      </p:sp>
      <p:sp>
        <p:nvSpPr>
          <p:cNvPr id="25" name="Shape 23"/>
          <p:cNvSpPr/>
          <p:nvPr/>
        </p:nvSpPr>
        <p:spPr>
          <a:xfrm>
            <a:off x="5943600" y="2670048"/>
            <a:ext cx="1234440" cy="310896"/>
          </a:xfrm>
          <a:prstGeom prst="roundRect">
            <a:avLst>
              <a:gd name="adj" fmla="val 17647"/>
            </a:avLst>
          </a:prstGeom>
          <a:solidFill>
            <a:srgbClr val="1F883D"/>
          </a:solidFill>
          <a:ln w="9525">
            <a:solidFill>
              <a:srgbClr val="1F883D"/>
            </a:solidFill>
            <a:prstDash val="solid"/>
          </a:ln>
        </p:spPr>
      </p:sp>
      <p:sp>
        <p:nvSpPr>
          <p:cNvPr id="26" name="Text 24"/>
          <p:cNvSpPr/>
          <p:nvPr/>
        </p:nvSpPr>
        <p:spPr>
          <a:xfrm>
            <a:off x="5998464" y="2670048"/>
            <a:ext cx="1124712"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Create PR</a:t>
            </a:r>
            <a:endParaRPr lang="en-US" sz="1050" dirty="0"/>
          </a:p>
        </p:txBody>
      </p:sp>
      <p:sp>
        <p:nvSpPr>
          <p:cNvPr id="27" name="Shape 25"/>
          <p:cNvSpPr/>
          <p:nvPr/>
        </p:nvSpPr>
        <p:spPr>
          <a:xfrm>
            <a:off x="5897880" y="2624328"/>
            <a:ext cx="1325880" cy="402336"/>
          </a:xfrm>
          <a:prstGeom prst="roundRect">
            <a:avLst>
              <a:gd name="adj" fmla="val 13636"/>
            </a:avLst>
          </a:prstGeom>
          <a:ln w="31750">
            <a:solidFill>
              <a:srgbClr val="E5484D"/>
            </a:solidFill>
            <a:prstDash val="solid"/>
          </a:ln>
        </p:spPr>
      </p:sp>
      <p:sp>
        <p:nvSpPr>
          <p:cNvPr id="28" name="Shape 26"/>
          <p:cNvSpPr/>
          <p:nvPr/>
        </p:nvSpPr>
        <p:spPr>
          <a:xfrm>
            <a:off x="5742432" y="2468880"/>
            <a:ext cx="310896" cy="310896"/>
          </a:xfrm>
          <a:prstGeom prst="ellipse">
            <a:avLst/>
          </a:prstGeom>
          <a:solidFill>
            <a:srgbClr val="E5484D"/>
          </a:solidFill>
          <a:ln w="12700">
            <a:solidFill>
              <a:srgbClr val="FFFFFF"/>
            </a:solidFill>
            <a:prstDash val="solid"/>
          </a:ln>
        </p:spPr>
      </p:sp>
      <p:sp>
        <p:nvSpPr>
          <p:cNvPr id="29" name="Text 27"/>
          <p:cNvSpPr/>
          <p:nvPr/>
        </p:nvSpPr>
        <p:spPr>
          <a:xfrm>
            <a:off x="5742432" y="24688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30" name="Text 28"/>
          <p:cNvSpPr/>
          <p:nvPr/>
        </p:nvSpPr>
        <p:spPr>
          <a:xfrm>
            <a:off x="914400" y="3200400"/>
            <a:ext cx="3657600" cy="292608"/>
          </a:xfrm>
          <a:prstGeom prst="rect">
            <a:avLst/>
          </a:prstGeom>
          <a:noFill/>
          <a:ln/>
        </p:spPr>
        <p:txBody>
          <a:bodyPr wrap="square" lIns="0" tIns="0" rIns="0" bIns="0" rtlCol="0" anchor="t"/>
          <a:lstStyle/>
          <a:p>
            <a:pPr indent="0" marL="0">
              <a:buNone/>
            </a:pPr>
            <a:r>
              <a:rPr lang="en-US" sz="1000" dirty="0">
                <a:solidFill>
                  <a:srgbClr val="1F883D"/>
                </a:solidFill>
                <a:latin typeface="Yu Gothic" pitchFamily="34" charset="0"/>
                <a:ea typeface="Yu Gothic" pitchFamily="34" charset="-122"/>
                <a:cs typeface="Yu Gothic" pitchFamily="34" charset="-120"/>
              </a:rPr>
              <a:t>＋  index.html</a:t>
            </a:r>
            <a:endParaRPr lang="en-US" sz="1000" dirty="0"/>
          </a:p>
        </p:txBody>
      </p:sp>
      <p:sp>
        <p:nvSpPr>
          <p:cNvPr id="31" name="Text 29"/>
          <p:cNvSpPr/>
          <p:nvPr/>
        </p:nvSpPr>
        <p:spPr>
          <a:xfrm>
            <a:off x="914400" y="3529584"/>
            <a:ext cx="3657600" cy="292608"/>
          </a:xfrm>
          <a:prstGeom prst="rect">
            <a:avLst/>
          </a:prstGeom>
          <a:noFill/>
          <a:ln/>
        </p:spPr>
        <p:txBody>
          <a:bodyPr wrap="square" lIns="0" tIns="0" rIns="0" bIns="0" rtlCol="0" anchor="t"/>
          <a:lstStyle/>
          <a:p>
            <a:pPr indent="0" marL="0">
              <a:buNone/>
            </a:pPr>
            <a:r>
              <a:rPr lang="en-US" sz="1000" dirty="0">
                <a:solidFill>
                  <a:srgbClr val="1F883D"/>
                </a:solidFill>
                <a:latin typeface="Yu Gothic" pitchFamily="34" charset="0"/>
                <a:ea typeface="Yu Gothic" pitchFamily="34" charset="-122"/>
                <a:cs typeface="Yu Gothic" pitchFamily="34" charset="-120"/>
              </a:rPr>
              <a:t>＋  app.js</a:t>
            </a:r>
            <a:endParaRPr lang="en-US" sz="1000" dirty="0"/>
          </a:p>
        </p:txBody>
      </p:sp>
      <p:sp>
        <p:nvSpPr>
          <p:cNvPr id="32" name="Text 30"/>
          <p:cNvSpPr/>
          <p:nvPr/>
        </p:nvSpPr>
        <p:spPr>
          <a:xfrm>
            <a:off x="914400" y="3858768"/>
            <a:ext cx="3657600" cy="292608"/>
          </a:xfrm>
          <a:prstGeom prst="rect">
            <a:avLst/>
          </a:prstGeom>
          <a:noFill/>
          <a:ln/>
        </p:spPr>
        <p:txBody>
          <a:bodyPr wrap="square" lIns="0" tIns="0" rIns="0" bIns="0" rtlCol="0" anchor="t"/>
          <a:lstStyle/>
          <a:p>
            <a:pPr indent="0" marL="0">
              <a:buNone/>
            </a:pPr>
            <a:r>
              <a:rPr lang="en-US" sz="1000" dirty="0">
                <a:solidFill>
                  <a:srgbClr val="1F883D"/>
                </a:solidFill>
                <a:latin typeface="Yu Gothic" pitchFamily="34" charset="0"/>
                <a:ea typeface="Yu Gothic" pitchFamily="34" charset="-122"/>
                <a:cs typeface="Yu Gothic" pitchFamily="34" charset="-120"/>
              </a:rPr>
              <a:t>＋  sample-data.js</a:t>
            </a:r>
            <a:endParaRPr lang="en-US" sz="1000" dirty="0"/>
          </a:p>
        </p:txBody>
      </p:sp>
      <p:sp>
        <p:nvSpPr>
          <p:cNvPr id="33" name="Text 31"/>
          <p:cNvSpPr/>
          <p:nvPr/>
        </p:nvSpPr>
        <p:spPr>
          <a:xfrm>
            <a:off x="914400" y="4187952"/>
            <a:ext cx="3657600" cy="292608"/>
          </a:xfrm>
          <a:prstGeom prst="rect">
            <a:avLst/>
          </a:prstGeom>
          <a:noFill/>
          <a:ln/>
        </p:spPr>
        <p:txBody>
          <a:bodyPr wrap="square" lIns="0" tIns="0" rIns="0" bIns="0" rtlCol="0" anchor="t"/>
          <a:lstStyle/>
          <a:p>
            <a:pPr indent="0" marL="0">
              <a:buNone/>
            </a:pPr>
            <a:r>
              <a:rPr lang="en-US" sz="1000" dirty="0">
                <a:solidFill>
                  <a:srgbClr val="1F883D"/>
                </a:solidFill>
                <a:latin typeface="Yu Gothic" pitchFamily="34" charset="0"/>
                <a:ea typeface="Yu Gothic" pitchFamily="34" charset="-122"/>
                <a:cs typeface="Yu Gothic" pitchFamily="34" charset="-120"/>
              </a:rPr>
              <a:t>＋  lib/chart.umd.min.js …</a:t>
            </a:r>
            <a:endParaRPr lang="en-US" sz="1000" dirty="0"/>
          </a:p>
        </p:txBody>
      </p:sp>
      <p:sp>
        <p:nvSpPr>
          <p:cNvPr id="34" name="Shape 32"/>
          <p:cNvSpPr/>
          <p:nvPr/>
        </p:nvSpPr>
        <p:spPr>
          <a:xfrm>
            <a:off x="914400" y="4572000"/>
            <a:ext cx="6217920" cy="777240"/>
          </a:xfrm>
          <a:prstGeom prst="rect">
            <a:avLst/>
          </a:prstGeom>
          <a:solidFill>
            <a:srgbClr val="E6FFEC"/>
          </a:solidFill>
          <a:ln/>
        </p:spPr>
      </p:sp>
      <p:sp>
        <p:nvSpPr>
          <p:cNvPr id="35" name="Text 33"/>
          <p:cNvSpPr/>
          <p:nvPr/>
        </p:nvSpPr>
        <p:spPr>
          <a:xfrm>
            <a:off x="1051560" y="4617720"/>
            <a:ext cx="5943600" cy="685800"/>
          </a:xfrm>
          <a:prstGeom prst="rect">
            <a:avLst/>
          </a:prstGeom>
          <a:noFill/>
          <a:ln/>
        </p:spPr>
        <p:txBody>
          <a:bodyPr wrap="square" lIns="0" tIns="0" rIns="0" bIns="0" rtlCol="0" anchor="t"/>
          <a:lstStyle/>
          <a:p>
            <a:pPr indent="0" marL="0">
              <a:buNone/>
            </a:pPr>
            <a:r>
              <a:rPr lang="en-US" sz="900" dirty="0">
                <a:solidFill>
                  <a:srgbClr val="1A7F37"/>
                </a:solidFill>
                <a:latin typeface="Yu Gothic" pitchFamily="34" charset="0"/>
                <a:ea typeface="Yu Gothic" pitchFamily="34" charset="-122"/>
                <a:cs typeface="Yu Gothic" pitchFamily="34" charset="-120"/>
              </a:rPr>
              <a:t>+ &lt;h1&gt;残存年数別 資産価値グラフ&lt;/h1&gt;</a:t>
            </a:r>
            <a:endParaRPr lang="en-US" sz="900" dirty="0"/>
          </a:p>
          <a:p>
            <a:pPr indent="0" marL="0">
              <a:buNone/>
            </a:pPr>
            <a:r>
              <a:rPr lang="en-US" sz="900" dirty="0">
                <a:solidFill>
                  <a:srgbClr val="1A7F37"/>
                </a:solidFill>
                <a:latin typeface="Yu Gothic" pitchFamily="34" charset="0"/>
                <a:ea typeface="Yu Gothic" pitchFamily="34" charset="-122"/>
                <a:cs typeface="Yu Gothic" pitchFamily="34" charset="-120"/>
              </a:rPr>
              <a:t>+ &lt;button id="btnNew"&gt;新築データを読み込む&lt;/button&gt;</a:t>
            </a:r>
            <a:endParaRPr lang="en-US" sz="900" dirty="0"/>
          </a:p>
        </p:txBody>
      </p:sp>
      <p:sp>
        <p:nvSpPr>
          <p:cNvPr id="36" name="Shape 34"/>
          <p:cNvSpPr/>
          <p:nvPr/>
        </p:nvSpPr>
        <p:spPr>
          <a:xfrm>
            <a:off x="7818120" y="1618488"/>
            <a:ext cx="329184" cy="329184"/>
          </a:xfrm>
          <a:prstGeom prst="ellipse">
            <a:avLst/>
          </a:prstGeom>
          <a:solidFill>
            <a:srgbClr val="E5484D"/>
          </a:solidFill>
          <a:ln/>
        </p:spPr>
      </p:sp>
      <p:sp>
        <p:nvSpPr>
          <p:cNvPr id="37" name="Text 35"/>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8" name="Text 36"/>
          <p:cNvSpPr/>
          <p:nvPr/>
        </p:nvSpPr>
        <p:spPr>
          <a:xfrm>
            <a:off x="8275320" y="1600200"/>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「+412 -0」のような数字を押す</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変更の量です。押すと変更内容（差分）が開きます</a:t>
            </a:r>
            <a:endParaRPr lang="en-US" sz="1400" dirty="0"/>
          </a:p>
        </p:txBody>
      </p:sp>
      <p:sp>
        <p:nvSpPr>
          <p:cNvPr id="39" name="Shape 37"/>
          <p:cNvSpPr/>
          <p:nvPr/>
        </p:nvSpPr>
        <p:spPr>
          <a:xfrm>
            <a:off x="7818120" y="2476849"/>
            <a:ext cx="329184" cy="329184"/>
          </a:xfrm>
          <a:prstGeom prst="ellipse">
            <a:avLst/>
          </a:prstGeom>
          <a:solidFill>
            <a:srgbClr val="E5484D"/>
          </a:solidFill>
          <a:ln/>
        </p:spPr>
      </p:sp>
      <p:sp>
        <p:nvSpPr>
          <p:cNvPr id="40" name="Text 38"/>
          <p:cNvSpPr/>
          <p:nvPr/>
        </p:nvSpPr>
        <p:spPr>
          <a:xfrm>
            <a:off x="7818120" y="247684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41" name="Text 39"/>
          <p:cNvSpPr/>
          <p:nvPr/>
        </p:nvSpPr>
        <p:spPr>
          <a:xfrm>
            <a:off x="8275320" y="2458561"/>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上部の「Create PR」を押す</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プルリクエスト（取り込みの確認依頼）が GitHub に作られます</a:t>
            </a:r>
            <a:endParaRPr lang="en-US" sz="1400" dirty="0"/>
          </a:p>
        </p:txBody>
      </p:sp>
      <p:sp>
        <p:nvSpPr>
          <p:cNvPr id="42" name="Shape 40"/>
          <p:cNvSpPr/>
          <p:nvPr/>
        </p:nvSpPr>
        <p:spPr>
          <a:xfrm>
            <a:off x="7818120" y="3335211"/>
            <a:ext cx="329184" cy="329184"/>
          </a:xfrm>
          <a:prstGeom prst="ellipse">
            <a:avLst/>
          </a:prstGeom>
          <a:solidFill>
            <a:srgbClr val="B08D47"/>
          </a:solidFill>
          <a:ln/>
        </p:spPr>
      </p:sp>
      <p:sp>
        <p:nvSpPr>
          <p:cNvPr id="43" name="Text 41"/>
          <p:cNvSpPr/>
          <p:nvPr/>
        </p:nvSpPr>
        <p:spPr>
          <a:xfrm>
            <a:off x="7818120" y="3335211"/>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44" name="Text 42"/>
          <p:cNvSpPr/>
          <p:nvPr/>
        </p:nvSpPr>
        <p:spPr>
          <a:xfrm>
            <a:off x="8275320" y="3316923"/>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「View PR」から GitHub へ</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STEP 12 に進みます</a:t>
            </a:r>
            <a:endParaRPr lang="en-US" sz="1400" dirty="0"/>
          </a:p>
        </p:txBody>
      </p:sp>
      <p:sp>
        <p:nvSpPr>
          <p:cNvPr id="45" name="Shape 43"/>
          <p:cNvSpPr/>
          <p:nvPr/>
        </p:nvSpPr>
        <p:spPr>
          <a:xfrm>
            <a:off x="7818120" y="4846320"/>
            <a:ext cx="3822192" cy="868680"/>
          </a:xfrm>
          <a:prstGeom prst="roundRect">
            <a:avLst>
              <a:gd name="adj" fmla="val 6316"/>
            </a:avLst>
          </a:prstGeom>
          <a:solidFill>
            <a:srgbClr val="F5F2EA"/>
          </a:solidFill>
          <a:ln/>
        </p:spPr>
      </p:sp>
      <p:sp>
        <p:nvSpPr>
          <p:cNvPr id="46" name="Shape 44"/>
          <p:cNvSpPr/>
          <p:nvPr/>
        </p:nvSpPr>
        <p:spPr>
          <a:xfrm>
            <a:off x="7818120" y="4846320"/>
            <a:ext cx="73152" cy="868680"/>
          </a:xfrm>
          <a:prstGeom prst="rect">
            <a:avLst/>
          </a:prstGeom>
          <a:solidFill>
            <a:srgbClr val="B08D47"/>
          </a:solidFill>
          <a:ln/>
        </p:spPr>
      </p:sp>
      <p:sp>
        <p:nvSpPr>
          <p:cNvPr id="47" name="Text 45"/>
          <p:cNvSpPr/>
          <p:nvPr/>
        </p:nvSpPr>
        <p:spPr>
          <a:xfrm>
            <a:off x="8046720" y="4846320"/>
            <a:ext cx="3456432" cy="86868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緑の行＝追加された部分。中身を全部理解する必要はありません</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12</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GitHub で取り込む（マージする）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プルリクエストの画面で、緑のボタンを2回押します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28</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https://github.com/（ユーザー名）/teisha-tool/pull/1</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057400"/>
            <a:ext cx="6583680" cy="365760"/>
          </a:xfrm>
          <a:prstGeom prst="rect">
            <a:avLst/>
          </a:prstGeom>
          <a:noFill/>
          <a:ln/>
        </p:spPr>
        <p:txBody>
          <a:bodyPr wrap="square" lIns="0" tIns="0" rIns="0" bIns="0" rtlCol="0" anchor="t"/>
          <a:lstStyle/>
          <a:p>
            <a:pPr indent="0" marL="0">
              <a:buNone/>
            </a:pPr>
            <a:r>
              <a:rPr lang="en-US" sz="1300" b="1" dirty="0">
                <a:solidFill>
                  <a:srgbClr val="24292F"/>
                </a:solidFill>
                <a:latin typeface="Yu Gothic" pitchFamily="34" charset="0"/>
                <a:ea typeface="Yu Gothic" pitchFamily="34" charset="-122"/>
                <a:cs typeface="Yu Gothic" pitchFamily="34" charset="-120"/>
              </a:rPr>
              <a:t>残存年数別 資産価値グラフのツールを作成  #1</a:t>
            </a:r>
            <a:endParaRPr lang="en-US" sz="1300" dirty="0"/>
          </a:p>
        </p:txBody>
      </p:sp>
      <p:sp>
        <p:nvSpPr>
          <p:cNvPr id="17" name="Shape 15"/>
          <p:cNvSpPr/>
          <p:nvPr/>
        </p:nvSpPr>
        <p:spPr>
          <a:xfrm>
            <a:off x="731520" y="2496312"/>
            <a:ext cx="685800" cy="274320"/>
          </a:xfrm>
          <a:prstGeom prst="roundRect">
            <a:avLst>
              <a:gd name="adj" fmla="val 50000"/>
            </a:avLst>
          </a:prstGeom>
          <a:solidFill>
            <a:srgbClr val="1F883D"/>
          </a:solidFill>
          <a:ln w="9525">
            <a:solidFill>
              <a:srgbClr val="1F883D"/>
            </a:solidFill>
            <a:prstDash val="solid"/>
          </a:ln>
        </p:spPr>
      </p:sp>
      <p:sp>
        <p:nvSpPr>
          <p:cNvPr id="18" name="Text 16"/>
          <p:cNvSpPr/>
          <p:nvPr/>
        </p:nvSpPr>
        <p:spPr>
          <a:xfrm>
            <a:off x="786384" y="2496312"/>
            <a:ext cx="576072" cy="274320"/>
          </a:xfrm>
          <a:prstGeom prst="rect">
            <a:avLst/>
          </a:prstGeom>
          <a:noFill/>
          <a:ln/>
        </p:spPr>
        <p:txBody>
          <a:bodyPr wrap="square" lIns="0" tIns="0" rIns="0" bIns="0" rtlCol="0" anchor="ctr"/>
          <a:lstStyle/>
          <a:p>
            <a:pPr algn="ctr" indent="0" marL="0">
              <a:buNone/>
            </a:pPr>
            <a:r>
              <a:rPr lang="en-US" sz="950" dirty="0">
                <a:solidFill>
                  <a:srgbClr val="FFFFFF"/>
                </a:solidFill>
                <a:latin typeface="Yu Gothic" pitchFamily="34" charset="0"/>
                <a:ea typeface="Yu Gothic" pitchFamily="34" charset="-122"/>
                <a:cs typeface="Yu Gothic" pitchFamily="34" charset="-120"/>
              </a:rPr>
              <a:t>Open</a:t>
            </a:r>
            <a:endParaRPr lang="en-US" sz="950" dirty="0"/>
          </a:p>
        </p:txBody>
      </p:sp>
      <p:sp>
        <p:nvSpPr>
          <p:cNvPr id="19" name="Text 17"/>
          <p:cNvSpPr/>
          <p:nvPr/>
        </p:nvSpPr>
        <p:spPr>
          <a:xfrm>
            <a:off x="731520" y="2926080"/>
            <a:ext cx="1371600" cy="274320"/>
          </a:xfrm>
          <a:prstGeom prst="rect">
            <a:avLst/>
          </a:prstGeom>
          <a:noFill/>
          <a:ln/>
        </p:spPr>
        <p:txBody>
          <a:bodyPr wrap="square" lIns="0" tIns="0" rIns="0" bIns="0" rtlCol="0" anchor="t"/>
          <a:lstStyle/>
          <a:p>
            <a:pPr indent="0" marL="0">
              <a:buNone/>
            </a:pPr>
            <a:r>
              <a:rPr lang="en-US" sz="1000" dirty="0">
                <a:solidFill>
                  <a:srgbClr val="24292F"/>
                </a:solidFill>
                <a:latin typeface="Yu Gothic" pitchFamily="34" charset="0"/>
                <a:ea typeface="Yu Gothic" pitchFamily="34" charset="-122"/>
                <a:cs typeface="Yu Gothic" pitchFamily="34" charset="-120"/>
              </a:rPr>
              <a:t>Conversation</a:t>
            </a:r>
            <a:endParaRPr lang="en-US" sz="1000" dirty="0"/>
          </a:p>
        </p:txBody>
      </p:sp>
      <p:sp>
        <p:nvSpPr>
          <p:cNvPr id="20" name="Text 18"/>
          <p:cNvSpPr/>
          <p:nvPr/>
        </p:nvSpPr>
        <p:spPr>
          <a:xfrm>
            <a:off x="2194560" y="2926080"/>
            <a:ext cx="1371600" cy="274320"/>
          </a:xfrm>
          <a:prstGeom prst="rect">
            <a:avLst/>
          </a:prstGeom>
          <a:noFill/>
          <a:ln/>
        </p:spPr>
        <p:txBody>
          <a:bodyPr wrap="square" lIns="0" tIns="0" rIns="0" bIns="0" rtlCol="0" anchor="t"/>
          <a:lstStyle/>
          <a:p>
            <a:pPr indent="0" marL="0">
              <a:buNone/>
            </a:pPr>
            <a:r>
              <a:rPr lang="en-US" sz="1000" dirty="0">
                <a:solidFill>
                  <a:srgbClr val="24292F"/>
                </a:solidFill>
                <a:latin typeface="Yu Gothic" pitchFamily="34" charset="0"/>
                <a:ea typeface="Yu Gothic" pitchFamily="34" charset="-122"/>
                <a:cs typeface="Yu Gothic" pitchFamily="34" charset="-120"/>
              </a:rPr>
              <a:t>Commits</a:t>
            </a:r>
            <a:endParaRPr lang="en-US" sz="1000" dirty="0"/>
          </a:p>
        </p:txBody>
      </p:sp>
      <p:sp>
        <p:nvSpPr>
          <p:cNvPr id="21" name="Text 19"/>
          <p:cNvSpPr/>
          <p:nvPr/>
        </p:nvSpPr>
        <p:spPr>
          <a:xfrm>
            <a:off x="3657600" y="2926080"/>
            <a:ext cx="1371600" cy="274320"/>
          </a:xfrm>
          <a:prstGeom prst="rect">
            <a:avLst/>
          </a:prstGeom>
          <a:noFill/>
          <a:ln/>
        </p:spPr>
        <p:txBody>
          <a:bodyPr wrap="square" lIns="0" tIns="0" rIns="0" bIns="0" rtlCol="0" anchor="t"/>
          <a:lstStyle/>
          <a:p>
            <a:pPr indent="0" marL="0">
              <a:buNone/>
            </a:pPr>
            <a:r>
              <a:rPr lang="en-US" sz="1000" dirty="0">
                <a:solidFill>
                  <a:srgbClr val="24292F"/>
                </a:solidFill>
                <a:latin typeface="Yu Gothic" pitchFamily="34" charset="0"/>
                <a:ea typeface="Yu Gothic" pitchFamily="34" charset="-122"/>
                <a:cs typeface="Yu Gothic" pitchFamily="34" charset="-120"/>
              </a:rPr>
              <a:t>Files changed</a:t>
            </a:r>
            <a:endParaRPr lang="en-US" sz="1000" dirty="0"/>
          </a:p>
        </p:txBody>
      </p:sp>
      <p:sp>
        <p:nvSpPr>
          <p:cNvPr id="22" name="Shape 20"/>
          <p:cNvSpPr/>
          <p:nvPr/>
        </p:nvSpPr>
        <p:spPr>
          <a:xfrm>
            <a:off x="731520" y="3429000"/>
            <a:ext cx="6583680" cy="1554480"/>
          </a:xfrm>
          <a:prstGeom prst="roundRect">
            <a:avLst>
              <a:gd name="adj" fmla="val 2941"/>
            </a:avLst>
          </a:prstGeom>
          <a:solidFill>
            <a:srgbClr val="FFFFFF"/>
          </a:solidFill>
          <a:ln w="9525">
            <a:solidFill>
              <a:srgbClr val="D0D7DE"/>
            </a:solidFill>
            <a:prstDash val="solid"/>
          </a:ln>
        </p:spPr>
      </p:sp>
      <p:sp>
        <p:nvSpPr>
          <p:cNvPr id="23" name="Text 21"/>
          <p:cNvSpPr/>
          <p:nvPr/>
        </p:nvSpPr>
        <p:spPr>
          <a:xfrm>
            <a:off x="914400" y="3520440"/>
            <a:ext cx="4572000" cy="320040"/>
          </a:xfrm>
          <a:prstGeom prst="rect">
            <a:avLst/>
          </a:prstGeom>
          <a:noFill/>
          <a:ln/>
        </p:spPr>
        <p:txBody>
          <a:bodyPr wrap="square" lIns="0" tIns="0" rIns="0" bIns="0" rtlCol="0" anchor="t"/>
          <a:lstStyle/>
          <a:p>
            <a:pPr indent="0" marL="0">
              <a:buNone/>
            </a:pPr>
            <a:r>
              <a:rPr lang="en-US" sz="1050" b="1" dirty="0">
                <a:solidFill>
                  <a:srgbClr val="24292F"/>
                </a:solidFill>
                <a:latin typeface="Yu Gothic" pitchFamily="34" charset="0"/>
                <a:ea typeface="Yu Gothic" pitchFamily="34" charset="-122"/>
                <a:cs typeface="Yu Gothic" pitchFamily="34" charset="-120"/>
              </a:rPr>
              <a:t>✓  No conflicts with base branch</a:t>
            </a:r>
            <a:endParaRPr lang="en-US" sz="1050" dirty="0"/>
          </a:p>
        </p:txBody>
      </p:sp>
      <p:sp>
        <p:nvSpPr>
          <p:cNvPr id="24" name="Shape 22"/>
          <p:cNvSpPr/>
          <p:nvPr/>
        </p:nvSpPr>
        <p:spPr>
          <a:xfrm>
            <a:off x="914400" y="4023360"/>
            <a:ext cx="2103120" cy="384048"/>
          </a:xfrm>
          <a:prstGeom prst="roundRect">
            <a:avLst>
              <a:gd name="adj" fmla="val 14286"/>
            </a:avLst>
          </a:prstGeom>
          <a:solidFill>
            <a:srgbClr val="1F883D"/>
          </a:solidFill>
          <a:ln w="9525">
            <a:solidFill>
              <a:srgbClr val="1F883D"/>
            </a:solidFill>
            <a:prstDash val="solid"/>
          </a:ln>
        </p:spPr>
      </p:sp>
      <p:sp>
        <p:nvSpPr>
          <p:cNvPr id="25" name="Text 23"/>
          <p:cNvSpPr/>
          <p:nvPr/>
        </p:nvSpPr>
        <p:spPr>
          <a:xfrm>
            <a:off x="969264" y="4023360"/>
            <a:ext cx="1993392"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Merge pull request ▾</a:t>
            </a:r>
            <a:endParaRPr lang="en-US" sz="1050" dirty="0"/>
          </a:p>
        </p:txBody>
      </p:sp>
      <p:sp>
        <p:nvSpPr>
          <p:cNvPr id="26" name="Shape 24"/>
          <p:cNvSpPr/>
          <p:nvPr/>
        </p:nvSpPr>
        <p:spPr>
          <a:xfrm>
            <a:off x="868680" y="3977640"/>
            <a:ext cx="2194560" cy="475488"/>
          </a:xfrm>
          <a:prstGeom prst="roundRect">
            <a:avLst>
              <a:gd name="adj" fmla="val 11538"/>
            </a:avLst>
          </a:prstGeom>
          <a:ln w="31750">
            <a:solidFill>
              <a:srgbClr val="E5484D"/>
            </a:solidFill>
            <a:prstDash val="solid"/>
          </a:ln>
        </p:spPr>
      </p:sp>
      <p:sp>
        <p:nvSpPr>
          <p:cNvPr id="27" name="Shape 25"/>
          <p:cNvSpPr/>
          <p:nvPr/>
        </p:nvSpPr>
        <p:spPr>
          <a:xfrm>
            <a:off x="713232" y="3822192"/>
            <a:ext cx="310896" cy="310896"/>
          </a:xfrm>
          <a:prstGeom prst="ellipse">
            <a:avLst/>
          </a:prstGeom>
          <a:solidFill>
            <a:srgbClr val="E5484D"/>
          </a:solidFill>
          <a:ln w="12700">
            <a:solidFill>
              <a:srgbClr val="FFFFFF"/>
            </a:solidFill>
            <a:prstDash val="solid"/>
          </a:ln>
        </p:spPr>
      </p:sp>
      <p:sp>
        <p:nvSpPr>
          <p:cNvPr id="28" name="Text 26"/>
          <p:cNvSpPr/>
          <p:nvPr/>
        </p:nvSpPr>
        <p:spPr>
          <a:xfrm>
            <a:off x="713232" y="3822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9" name="Shape 27"/>
          <p:cNvSpPr/>
          <p:nvPr/>
        </p:nvSpPr>
        <p:spPr>
          <a:xfrm>
            <a:off x="914400" y="5212080"/>
            <a:ext cx="2103120" cy="384048"/>
          </a:xfrm>
          <a:prstGeom prst="roundRect">
            <a:avLst>
              <a:gd name="adj" fmla="val 14286"/>
            </a:avLst>
          </a:prstGeom>
          <a:solidFill>
            <a:srgbClr val="1F883D"/>
          </a:solidFill>
          <a:ln w="9525">
            <a:solidFill>
              <a:srgbClr val="1F883D"/>
            </a:solidFill>
            <a:prstDash val="solid"/>
          </a:ln>
        </p:spPr>
      </p:sp>
      <p:sp>
        <p:nvSpPr>
          <p:cNvPr id="30" name="Text 28"/>
          <p:cNvSpPr/>
          <p:nvPr/>
        </p:nvSpPr>
        <p:spPr>
          <a:xfrm>
            <a:off x="969264" y="5212080"/>
            <a:ext cx="1993392"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Confirm merge</a:t>
            </a:r>
            <a:endParaRPr lang="en-US" sz="1050" dirty="0"/>
          </a:p>
        </p:txBody>
      </p:sp>
      <p:sp>
        <p:nvSpPr>
          <p:cNvPr id="31" name="Shape 29"/>
          <p:cNvSpPr/>
          <p:nvPr/>
        </p:nvSpPr>
        <p:spPr>
          <a:xfrm>
            <a:off x="3154680" y="5212080"/>
            <a:ext cx="868680" cy="384048"/>
          </a:xfrm>
          <a:prstGeom prst="roundRect">
            <a:avLst>
              <a:gd name="adj" fmla="val 14286"/>
            </a:avLst>
          </a:prstGeom>
          <a:solidFill>
            <a:srgbClr val="FFFFFF"/>
          </a:solidFill>
          <a:ln w="9525">
            <a:solidFill>
              <a:srgbClr val="C9CED6"/>
            </a:solidFill>
            <a:prstDash val="solid"/>
          </a:ln>
        </p:spPr>
      </p:sp>
      <p:sp>
        <p:nvSpPr>
          <p:cNvPr id="32" name="Text 30"/>
          <p:cNvSpPr/>
          <p:nvPr/>
        </p:nvSpPr>
        <p:spPr>
          <a:xfrm>
            <a:off x="3209544" y="5212080"/>
            <a:ext cx="758952" cy="384048"/>
          </a:xfrm>
          <a:prstGeom prst="rect">
            <a:avLst/>
          </a:prstGeom>
          <a:noFill/>
          <a:ln/>
        </p:spPr>
        <p:txBody>
          <a:bodyPr wrap="square" lIns="0" tIns="0" rIns="0" bIns="0" rtlCol="0" anchor="ctr"/>
          <a:lstStyle/>
          <a:p>
            <a:pPr algn="ctr" indent="0" marL="0">
              <a:buNone/>
            </a:pPr>
            <a:r>
              <a:rPr lang="en-US" sz="1050" dirty="0">
                <a:solidFill>
                  <a:srgbClr val="24292F"/>
                </a:solidFill>
                <a:latin typeface="Yu Gothic" pitchFamily="34" charset="0"/>
                <a:ea typeface="Yu Gothic" pitchFamily="34" charset="-122"/>
                <a:cs typeface="Yu Gothic" pitchFamily="34" charset="-120"/>
              </a:rPr>
              <a:t>Cancel</a:t>
            </a:r>
            <a:endParaRPr lang="en-US" sz="1050" dirty="0"/>
          </a:p>
        </p:txBody>
      </p:sp>
      <p:sp>
        <p:nvSpPr>
          <p:cNvPr id="33" name="Shape 31"/>
          <p:cNvSpPr/>
          <p:nvPr/>
        </p:nvSpPr>
        <p:spPr>
          <a:xfrm>
            <a:off x="868680" y="5166360"/>
            <a:ext cx="2194560" cy="475488"/>
          </a:xfrm>
          <a:prstGeom prst="roundRect">
            <a:avLst>
              <a:gd name="adj" fmla="val 11538"/>
            </a:avLst>
          </a:prstGeom>
          <a:ln w="31750">
            <a:solidFill>
              <a:srgbClr val="E5484D"/>
            </a:solidFill>
            <a:prstDash val="solid"/>
          </a:ln>
        </p:spPr>
      </p:sp>
      <p:sp>
        <p:nvSpPr>
          <p:cNvPr id="34" name="Shape 32"/>
          <p:cNvSpPr/>
          <p:nvPr/>
        </p:nvSpPr>
        <p:spPr>
          <a:xfrm>
            <a:off x="713232" y="5010912"/>
            <a:ext cx="310896" cy="310896"/>
          </a:xfrm>
          <a:prstGeom prst="ellipse">
            <a:avLst/>
          </a:prstGeom>
          <a:solidFill>
            <a:srgbClr val="E5484D"/>
          </a:solidFill>
          <a:ln w="12700">
            <a:solidFill>
              <a:srgbClr val="FFFFFF"/>
            </a:solidFill>
            <a:prstDash val="solid"/>
          </a:ln>
        </p:spPr>
      </p:sp>
      <p:sp>
        <p:nvSpPr>
          <p:cNvPr id="35" name="Text 33"/>
          <p:cNvSpPr/>
          <p:nvPr/>
        </p:nvSpPr>
        <p:spPr>
          <a:xfrm>
            <a:off x="713232" y="50109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36" name="Shape 34"/>
          <p:cNvSpPr/>
          <p:nvPr/>
        </p:nvSpPr>
        <p:spPr>
          <a:xfrm>
            <a:off x="7818120" y="1618488"/>
            <a:ext cx="329184" cy="329184"/>
          </a:xfrm>
          <a:prstGeom prst="ellipse">
            <a:avLst/>
          </a:prstGeom>
          <a:solidFill>
            <a:srgbClr val="E5484D"/>
          </a:solidFill>
          <a:ln/>
        </p:spPr>
      </p:sp>
      <p:sp>
        <p:nvSpPr>
          <p:cNvPr id="37" name="Text 35"/>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8" name="Text 36"/>
          <p:cNvSpPr/>
          <p:nvPr/>
        </p:nvSpPr>
        <p:spPr>
          <a:xfrm>
            <a:off x="8275320" y="1600200"/>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緑の「Merge pull request」</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画面を下にスクロールすると出てきます</a:t>
            </a:r>
            <a:endParaRPr lang="en-US" sz="1400" dirty="0"/>
          </a:p>
        </p:txBody>
      </p:sp>
      <p:sp>
        <p:nvSpPr>
          <p:cNvPr id="39" name="Shape 37"/>
          <p:cNvSpPr/>
          <p:nvPr/>
        </p:nvSpPr>
        <p:spPr>
          <a:xfrm>
            <a:off x="7818120" y="2266902"/>
            <a:ext cx="329184" cy="329184"/>
          </a:xfrm>
          <a:prstGeom prst="ellipse">
            <a:avLst/>
          </a:prstGeom>
          <a:solidFill>
            <a:srgbClr val="E5484D"/>
          </a:solidFill>
          <a:ln/>
        </p:spPr>
      </p:sp>
      <p:sp>
        <p:nvSpPr>
          <p:cNvPr id="40" name="Text 38"/>
          <p:cNvSpPr/>
          <p:nvPr/>
        </p:nvSpPr>
        <p:spPr>
          <a:xfrm>
            <a:off x="7818120" y="226690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41" name="Text 39"/>
          <p:cNvSpPr/>
          <p:nvPr/>
        </p:nvSpPr>
        <p:spPr>
          <a:xfrm>
            <a:off x="8275320" y="2248614"/>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緑の「Confirm merge」</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これで正式に取り込まれます</a:t>
            </a:r>
            <a:endParaRPr lang="en-US" sz="1400" dirty="0"/>
          </a:p>
        </p:txBody>
      </p:sp>
      <p:sp>
        <p:nvSpPr>
          <p:cNvPr id="42" name="Shape 40"/>
          <p:cNvSpPr/>
          <p:nvPr/>
        </p:nvSpPr>
        <p:spPr>
          <a:xfrm>
            <a:off x="7818120" y="2915317"/>
            <a:ext cx="329184" cy="329184"/>
          </a:xfrm>
          <a:prstGeom prst="ellipse">
            <a:avLst/>
          </a:prstGeom>
          <a:solidFill>
            <a:srgbClr val="B08D47"/>
          </a:solidFill>
          <a:ln/>
        </p:spPr>
      </p:sp>
      <p:sp>
        <p:nvSpPr>
          <p:cNvPr id="43" name="Text 41"/>
          <p:cNvSpPr/>
          <p:nvPr/>
        </p:nvSpPr>
        <p:spPr>
          <a:xfrm>
            <a:off x="7818120" y="291531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44" name="Text 42"/>
          <p:cNvSpPr/>
          <p:nvPr/>
        </p:nvSpPr>
        <p:spPr>
          <a:xfrm>
            <a:off x="8275320" y="2897029"/>
            <a:ext cx="3364992" cy="384048"/>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紫の「Merged」になれば完了</a:t>
            </a:r>
            <a:endParaRPr lang="en-US" sz="1400" dirty="0"/>
          </a:p>
        </p:txBody>
      </p:sp>
      <p:sp>
        <p:nvSpPr>
          <p:cNvPr id="45" name="Shape 43"/>
          <p:cNvSpPr/>
          <p:nvPr/>
        </p:nvSpPr>
        <p:spPr>
          <a:xfrm>
            <a:off x="7818120" y="4206240"/>
            <a:ext cx="3822192" cy="1097280"/>
          </a:xfrm>
          <a:prstGeom prst="roundRect">
            <a:avLst>
              <a:gd name="adj" fmla="val 5000"/>
            </a:avLst>
          </a:prstGeom>
          <a:solidFill>
            <a:srgbClr val="F5F2EA"/>
          </a:solidFill>
          <a:ln/>
        </p:spPr>
      </p:sp>
      <p:sp>
        <p:nvSpPr>
          <p:cNvPr id="46" name="Shape 44"/>
          <p:cNvSpPr/>
          <p:nvPr/>
        </p:nvSpPr>
        <p:spPr>
          <a:xfrm>
            <a:off x="7818120" y="4206240"/>
            <a:ext cx="73152" cy="1097280"/>
          </a:xfrm>
          <a:prstGeom prst="rect">
            <a:avLst/>
          </a:prstGeom>
          <a:solidFill>
            <a:srgbClr val="B08D47"/>
          </a:solidFill>
          <a:ln/>
        </p:spPr>
      </p:sp>
      <p:sp>
        <p:nvSpPr>
          <p:cNvPr id="47" name="Text 45"/>
          <p:cNvSpPr/>
          <p:nvPr/>
        </p:nvSpPr>
        <p:spPr>
          <a:xfrm>
            <a:off x="8046720" y="4206240"/>
            <a:ext cx="3456432" cy="109728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GitHub のリポジトリを直接開いて「Pull requests」タブ → 一覧から選んでも、同じ画面に行けます</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12</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ツールをPCにダウンロードして開く</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GitHub に保管されたツールを、自分のPCに持ってきます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29</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https://github.com/（ユーザー名）/teisha-tool</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057400"/>
            <a:ext cx="4114800" cy="329184"/>
          </a:xfrm>
          <a:prstGeom prst="rect">
            <a:avLst/>
          </a:prstGeom>
          <a:noFill/>
          <a:ln/>
        </p:spPr>
        <p:txBody>
          <a:bodyPr wrap="square" lIns="0" tIns="0" rIns="0" bIns="0" rtlCol="0" anchor="t"/>
          <a:lstStyle/>
          <a:p>
            <a:pPr indent="0" marL="0">
              <a:buNone/>
            </a:pPr>
            <a:r>
              <a:rPr lang="en-US" sz="1300" b="1" dirty="0">
                <a:solidFill>
                  <a:srgbClr val="0969DA"/>
                </a:solidFill>
                <a:latin typeface="Yu Gothic" pitchFamily="34" charset="0"/>
                <a:ea typeface="Yu Gothic" pitchFamily="34" charset="-122"/>
                <a:cs typeface="Yu Gothic" pitchFamily="34" charset="-120"/>
              </a:rPr>
              <a:t>（ユーザー名） / teisha-tool</a:t>
            </a:r>
            <a:endParaRPr lang="en-US" sz="1300" dirty="0"/>
          </a:p>
        </p:txBody>
      </p:sp>
      <p:sp>
        <p:nvSpPr>
          <p:cNvPr id="17" name="Shape 15"/>
          <p:cNvSpPr/>
          <p:nvPr/>
        </p:nvSpPr>
        <p:spPr>
          <a:xfrm>
            <a:off x="6126480" y="2514600"/>
            <a:ext cx="1188720" cy="329184"/>
          </a:xfrm>
          <a:prstGeom prst="roundRect">
            <a:avLst>
              <a:gd name="adj" fmla="val 16667"/>
            </a:avLst>
          </a:prstGeom>
          <a:solidFill>
            <a:srgbClr val="1F883D"/>
          </a:solidFill>
          <a:ln w="9525">
            <a:solidFill>
              <a:srgbClr val="1F883D"/>
            </a:solidFill>
            <a:prstDash val="solid"/>
          </a:ln>
        </p:spPr>
      </p:sp>
      <p:sp>
        <p:nvSpPr>
          <p:cNvPr id="18" name="Text 16"/>
          <p:cNvSpPr/>
          <p:nvPr/>
        </p:nvSpPr>
        <p:spPr>
          <a:xfrm>
            <a:off x="6181344" y="2514600"/>
            <a:ext cx="107899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&lt;&gt; Code ▾</a:t>
            </a:r>
            <a:endParaRPr lang="en-US" sz="1050" dirty="0"/>
          </a:p>
        </p:txBody>
      </p:sp>
      <p:sp>
        <p:nvSpPr>
          <p:cNvPr id="19" name="Shape 17"/>
          <p:cNvSpPr/>
          <p:nvPr/>
        </p:nvSpPr>
        <p:spPr>
          <a:xfrm>
            <a:off x="6080760" y="2468880"/>
            <a:ext cx="1280160" cy="420624"/>
          </a:xfrm>
          <a:prstGeom prst="roundRect">
            <a:avLst>
              <a:gd name="adj" fmla="val 13043"/>
            </a:avLst>
          </a:prstGeom>
          <a:ln w="31750">
            <a:solidFill>
              <a:srgbClr val="E5484D"/>
            </a:solidFill>
            <a:prstDash val="solid"/>
          </a:ln>
        </p:spPr>
      </p:sp>
      <p:sp>
        <p:nvSpPr>
          <p:cNvPr id="20" name="Shape 18"/>
          <p:cNvSpPr/>
          <p:nvPr/>
        </p:nvSpPr>
        <p:spPr>
          <a:xfrm>
            <a:off x="5925312" y="2313432"/>
            <a:ext cx="310896" cy="310896"/>
          </a:xfrm>
          <a:prstGeom prst="ellipse">
            <a:avLst/>
          </a:prstGeom>
          <a:solidFill>
            <a:srgbClr val="E5484D"/>
          </a:solidFill>
          <a:ln w="12700">
            <a:solidFill>
              <a:srgbClr val="FFFFFF"/>
            </a:solidFill>
            <a:prstDash val="solid"/>
          </a:ln>
        </p:spPr>
      </p:sp>
      <p:sp>
        <p:nvSpPr>
          <p:cNvPr id="21" name="Text 19"/>
          <p:cNvSpPr/>
          <p:nvPr/>
        </p:nvSpPr>
        <p:spPr>
          <a:xfrm>
            <a:off x="5925312" y="23134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22" name="Shape 20"/>
          <p:cNvSpPr/>
          <p:nvPr/>
        </p:nvSpPr>
        <p:spPr>
          <a:xfrm>
            <a:off x="4389120" y="2971800"/>
            <a:ext cx="2926080" cy="1554480"/>
          </a:xfrm>
          <a:prstGeom prst="roundRect">
            <a:avLst>
              <a:gd name="adj" fmla="val 2941"/>
            </a:avLst>
          </a:prstGeom>
          <a:solidFill>
            <a:srgbClr val="FFFFFF"/>
          </a:solidFill>
          <a:ln w="9525">
            <a:solidFill>
              <a:srgbClr val="D0D7DE"/>
            </a:solidFill>
            <a:prstDash val="solid"/>
          </a:ln>
          <a:effectLst>
            <a:outerShdw sx="100000" sy="100000" kx="0" ky="0" algn="bl" rotWithShape="0" blurRad="50800" dist="25400" dir="16200000">
              <a:srgbClr val="000000">
                <a:alpha val="20000"/>
              </a:srgbClr>
            </a:outerShdw>
          </a:effectLst>
        </p:spPr>
      </p:sp>
      <p:sp>
        <p:nvSpPr>
          <p:cNvPr id="23" name="Text 21"/>
          <p:cNvSpPr/>
          <p:nvPr/>
        </p:nvSpPr>
        <p:spPr>
          <a:xfrm>
            <a:off x="4526280" y="3044952"/>
            <a:ext cx="2651760" cy="274320"/>
          </a:xfrm>
          <a:prstGeom prst="rect">
            <a:avLst/>
          </a:prstGeom>
          <a:noFill/>
          <a:ln/>
        </p:spPr>
        <p:txBody>
          <a:bodyPr wrap="square" lIns="0" tIns="0" rIns="0" bIns="0" rtlCol="0" anchor="t"/>
          <a:lstStyle/>
          <a:p>
            <a:pPr indent="0" marL="0">
              <a:buNone/>
            </a:pPr>
            <a:r>
              <a:rPr lang="en-US" sz="950" dirty="0">
                <a:solidFill>
                  <a:srgbClr val="24292F"/>
                </a:solidFill>
                <a:latin typeface="Yu Gothic" pitchFamily="34" charset="0"/>
                <a:ea typeface="Yu Gothic" pitchFamily="34" charset="-122"/>
                <a:cs typeface="Yu Gothic" pitchFamily="34" charset="-120"/>
              </a:rPr>
              <a:t>Local　|　Codespaces</a:t>
            </a:r>
            <a:endParaRPr lang="en-US" sz="950" dirty="0"/>
          </a:p>
        </p:txBody>
      </p:sp>
      <p:sp>
        <p:nvSpPr>
          <p:cNvPr id="24" name="Text 22"/>
          <p:cNvSpPr/>
          <p:nvPr/>
        </p:nvSpPr>
        <p:spPr>
          <a:xfrm>
            <a:off x="4526280" y="3429000"/>
            <a:ext cx="2651760" cy="274320"/>
          </a:xfrm>
          <a:prstGeom prst="rect">
            <a:avLst/>
          </a:prstGeom>
          <a:noFill/>
          <a:ln/>
        </p:spPr>
        <p:txBody>
          <a:bodyPr wrap="square" lIns="0" tIns="0" rIns="0" bIns="0" rtlCol="0" anchor="t"/>
          <a:lstStyle/>
          <a:p>
            <a:pPr indent="0" marL="0">
              <a:buNone/>
            </a:pPr>
            <a:r>
              <a:rPr lang="en-US" sz="900" dirty="0">
                <a:solidFill>
                  <a:srgbClr val="57606A"/>
                </a:solidFill>
                <a:latin typeface="Yu Gothic" pitchFamily="34" charset="0"/>
                <a:ea typeface="Yu Gothic" pitchFamily="34" charset="-122"/>
                <a:cs typeface="Yu Gothic" pitchFamily="34" charset="-120"/>
              </a:rPr>
              <a:t>Clone  HTTPS  SSH …</a:t>
            </a:r>
            <a:endParaRPr lang="en-US" sz="900" dirty="0"/>
          </a:p>
        </p:txBody>
      </p:sp>
      <p:sp>
        <p:nvSpPr>
          <p:cNvPr id="25" name="Text 23"/>
          <p:cNvSpPr/>
          <p:nvPr/>
        </p:nvSpPr>
        <p:spPr>
          <a:xfrm>
            <a:off x="4526280" y="4069080"/>
            <a:ext cx="2651760" cy="310896"/>
          </a:xfrm>
          <a:prstGeom prst="rect">
            <a:avLst/>
          </a:prstGeom>
          <a:noFill/>
          <a:ln/>
        </p:spPr>
        <p:txBody>
          <a:bodyPr wrap="square" lIns="0" tIns="0" rIns="0" bIns="0" rtlCol="0" anchor="ctr"/>
          <a:lstStyle/>
          <a:p>
            <a:pPr indent="0" marL="0">
              <a:buNone/>
            </a:pPr>
            <a:r>
              <a:rPr lang="en-US" sz="1050" b="1" dirty="0">
                <a:solidFill>
                  <a:srgbClr val="24292F"/>
                </a:solidFill>
                <a:latin typeface="Yu Gothic" pitchFamily="34" charset="0"/>
                <a:ea typeface="Yu Gothic" pitchFamily="34" charset="-122"/>
                <a:cs typeface="Yu Gothic" pitchFamily="34" charset="-120"/>
              </a:rPr>
              <a:t>📦  Download ZIP</a:t>
            </a:r>
            <a:endParaRPr lang="en-US" sz="1050" dirty="0"/>
          </a:p>
        </p:txBody>
      </p:sp>
      <p:sp>
        <p:nvSpPr>
          <p:cNvPr id="26" name="Shape 24"/>
          <p:cNvSpPr/>
          <p:nvPr/>
        </p:nvSpPr>
        <p:spPr>
          <a:xfrm>
            <a:off x="4480560" y="4023360"/>
            <a:ext cx="2743200" cy="402336"/>
          </a:xfrm>
          <a:prstGeom prst="roundRect">
            <a:avLst>
              <a:gd name="adj" fmla="val 13636"/>
            </a:avLst>
          </a:prstGeom>
          <a:ln w="31750">
            <a:solidFill>
              <a:srgbClr val="E5484D"/>
            </a:solidFill>
            <a:prstDash val="solid"/>
          </a:ln>
        </p:spPr>
      </p:sp>
      <p:sp>
        <p:nvSpPr>
          <p:cNvPr id="27" name="Shape 25"/>
          <p:cNvSpPr/>
          <p:nvPr/>
        </p:nvSpPr>
        <p:spPr>
          <a:xfrm>
            <a:off x="4325112" y="3867912"/>
            <a:ext cx="310896" cy="310896"/>
          </a:xfrm>
          <a:prstGeom prst="ellipse">
            <a:avLst/>
          </a:prstGeom>
          <a:solidFill>
            <a:srgbClr val="E5484D"/>
          </a:solidFill>
          <a:ln w="12700">
            <a:solidFill>
              <a:srgbClr val="FFFFFF"/>
            </a:solidFill>
            <a:prstDash val="solid"/>
          </a:ln>
        </p:spPr>
      </p:sp>
      <p:sp>
        <p:nvSpPr>
          <p:cNvPr id="28" name="Text 26"/>
          <p:cNvSpPr/>
          <p:nvPr/>
        </p:nvSpPr>
        <p:spPr>
          <a:xfrm>
            <a:off x="4325112" y="38679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29" name="Text 27"/>
          <p:cNvSpPr/>
          <p:nvPr/>
        </p:nvSpPr>
        <p:spPr>
          <a:xfrm>
            <a:off x="822960" y="3017520"/>
            <a:ext cx="2743200" cy="310896"/>
          </a:xfrm>
          <a:prstGeom prst="rect">
            <a:avLst/>
          </a:prstGeom>
          <a:noFill/>
          <a:ln/>
        </p:spPr>
        <p:txBody>
          <a:bodyPr wrap="square" lIns="0" tIns="0" rIns="0" bIns="0" rtlCol="0" anchor="t"/>
          <a:lstStyle/>
          <a:p>
            <a:pPr indent="0" marL="0">
              <a:buNone/>
            </a:pPr>
            <a:r>
              <a:rPr lang="en-US" sz="1050" dirty="0">
                <a:solidFill>
                  <a:srgbClr val="24292F"/>
                </a:solidFill>
                <a:latin typeface="Yu Gothic" pitchFamily="34" charset="0"/>
                <a:ea typeface="Yu Gothic" pitchFamily="34" charset="-122"/>
                <a:cs typeface="Yu Gothic" pitchFamily="34" charset="-120"/>
              </a:rPr>
              <a:t>📁 lib</a:t>
            </a:r>
            <a:endParaRPr lang="en-US" sz="1050" dirty="0"/>
          </a:p>
        </p:txBody>
      </p:sp>
      <p:sp>
        <p:nvSpPr>
          <p:cNvPr id="30" name="Text 28"/>
          <p:cNvSpPr/>
          <p:nvPr/>
        </p:nvSpPr>
        <p:spPr>
          <a:xfrm>
            <a:off x="822960" y="3383280"/>
            <a:ext cx="2743200" cy="310896"/>
          </a:xfrm>
          <a:prstGeom prst="rect">
            <a:avLst/>
          </a:prstGeom>
          <a:noFill/>
          <a:ln/>
        </p:spPr>
        <p:txBody>
          <a:bodyPr wrap="square" lIns="0" tIns="0" rIns="0" bIns="0" rtlCol="0" anchor="t"/>
          <a:lstStyle/>
          <a:p>
            <a:pPr indent="0" marL="0">
              <a:buNone/>
            </a:pPr>
            <a:r>
              <a:rPr lang="en-US" sz="1050" dirty="0">
                <a:solidFill>
                  <a:srgbClr val="24292F"/>
                </a:solidFill>
                <a:latin typeface="Yu Gothic" pitchFamily="34" charset="0"/>
                <a:ea typeface="Yu Gothic" pitchFamily="34" charset="-122"/>
                <a:cs typeface="Yu Gothic" pitchFamily="34" charset="-120"/>
              </a:rPr>
              <a:t>📁 sample-data</a:t>
            </a:r>
            <a:endParaRPr lang="en-US" sz="1050" dirty="0"/>
          </a:p>
        </p:txBody>
      </p:sp>
      <p:sp>
        <p:nvSpPr>
          <p:cNvPr id="31" name="Text 29"/>
          <p:cNvSpPr/>
          <p:nvPr/>
        </p:nvSpPr>
        <p:spPr>
          <a:xfrm>
            <a:off x="822960" y="3749040"/>
            <a:ext cx="2743200" cy="310896"/>
          </a:xfrm>
          <a:prstGeom prst="rect">
            <a:avLst/>
          </a:prstGeom>
          <a:noFill/>
          <a:ln/>
        </p:spPr>
        <p:txBody>
          <a:bodyPr wrap="square" lIns="0" tIns="0" rIns="0" bIns="0" rtlCol="0" anchor="t"/>
          <a:lstStyle/>
          <a:p>
            <a:pPr indent="0" marL="0">
              <a:buNone/>
            </a:pPr>
            <a:r>
              <a:rPr lang="en-US" sz="1050" dirty="0">
                <a:solidFill>
                  <a:srgbClr val="24292F"/>
                </a:solidFill>
                <a:latin typeface="Yu Gothic" pitchFamily="34" charset="0"/>
                <a:ea typeface="Yu Gothic" pitchFamily="34" charset="-122"/>
                <a:cs typeface="Yu Gothic" pitchFamily="34" charset="-120"/>
              </a:rPr>
              <a:t>📄 README.md</a:t>
            </a:r>
            <a:endParaRPr lang="en-US" sz="1050" dirty="0"/>
          </a:p>
        </p:txBody>
      </p:sp>
      <p:sp>
        <p:nvSpPr>
          <p:cNvPr id="32" name="Text 30"/>
          <p:cNvSpPr/>
          <p:nvPr/>
        </p:nvSpPr>
        <p:spPr>
          <a:xfrm>
            <a:off x="822960" y="4114800"/>
            <a:ext cx="2743200" cy="310896"/>
          </a:xfrm>
          <a:prstGeom prst="rect">
            <a:avLst/>
          </a:prstGeom>
          <a:noFill/>
          <a:ln/>
        </p:spPr>
        <p:txBody>
          <a:bodyPr wrap="square" lIns="0" tIns="0" rIns="0" bIns="0" rtlCol="0" anchor="t"/>
          <a:lstStyle/>
          <a:p>
            <a:pPr indent="0" marL="0">
              <a:buNone/>
            </a:pPr>
            <a:r>
              <a:rPr lang="en-US" sz="1050" dirty="0">
                <a:solidFill>
                  <a:srgbClr val="24292F"/>
                </a:solidFill>
                <a:latin typeface="Yu Gothic" pitchFamily="34" charset="0"/>
                <a:ea typeface="Yu Gothic" pitchFamily="34" charset="-122"/>
                <a:cs typeface="Yu Gothic" pitchFamily="34" charset="-120"/>
              </a:rPr>
              <a:t>📄 app.js</a:t>
            </a:r>
            <a:endParaRPr lang="en-US" sz="1050" dirty="0"/>
          </a:p>
        </p:txBody>
      </p:sp>
      <p:sp>
        <p:nvSpPr>
          <p:cNvPr id="33" name="Text 31"/>
          <p:cNvSpPr/>
          <p:nvPr/>
        </p:nvSpPr>
        <p:spPr>
          <a:xfrm>
            <a:off x="822960" y="4480560"/>
            <a:ext cx="2743200" cy="310896"/>
          </a:xfrm>
          <a:prstGeom prst="rect">
            <a:avLst/>
          </a:prstGeom>
          <a:noFill/>
          <a:ln/>
        </p:spPr>
        <p:txBody>
          <a:bodyPr wrap="square" lIns="0" tIns="0" rIns="0" bIns="0" rtlCol="0" anchor="t"/>
          <a:lstStyle/>
          <a:p>
            <a:pPr indent="0" marL="0">
              <a:buNone/>
            </a:pPr>
            <a:r>
              <a:rPr lang="en-US" sz="1050" dirty="0">
                <a:solidFill>
                  <a:srgbClr val="24292F"/>
                </a:solidFill>
                <a:latin typeface="Yu Gothic" pitchFamily="34" charset="0"/>
                <a:ea typeface="Yu Gothic" pitchFamily="34" charset="-122"/>
                <a:cs typeface="Yu Gothic" pitchFamily="34" charset="-120"/>
              </a:rPr>
              <a:t>📄 index.html</a:t>
            </a:r>
            <a:endParaRPr lang="en-US" sz="1050" dirty="0"/>
          </a:p>
        </p:txBody>
      </p:sp>
      <p:sp>
        <p:nvSpPr>
          <p:cNvPr id="34" name="Text 32"/>
          <p:cNvSpPr/>
          <p:nvPr/>
        </p:nvSpPr>
        <p:spPr>
          <a:xfrm>
            <a:off x="822960" y="4846320"/>
            <a:ext cx="2743200" cy="310896"/>
          </a:xfrm>
          <a:prstGeom prst="rect">
            <a:avLst/>
          </a:prstGeom>
          <a:noFill/>
          <a:ln/>
        </p:spPr>
        <p:txBody>
          <a:bodyPr wrap="square" lIns="0" tIns="0" rIns="0" bIns="0" rtlCol="0" anchor="t"/>
          <a:lstStyle/>
          <a:p>
            <a:pPr indent="0" marL="0">
              <a:buNone/>
            </a:pPr>
            <a:r>
              <a:rPr lang="en-US" sz="1050" dirty="0">
                <a:solidFill>
                  <a:srgbClr val="24292F"/>
                </a:solidFill>
                <a:latin typeface="Yu Gothic" pitchFamily="34" charset="0"/>
                <a:ea typeface="Yu Gothic" pitchFamily="34" charset="-122"/>
                <a:cs typeface="Yu Gothic" pitchFamily="34" charset="-120"/>
              </a:rPr>
              <a:t>📄 sample-data.js</a:t>
            </a:r>
            <a:endParaRPr lang="en-US" sz="1050" dirty="0"/>
          </a:p>
        </p:txBody>
      </p:sp>
      <p:sp>
        <p:nvSpPr>
          <p:cNvPr id="35" name="Shape 33"/>
          <p:cNvSpPr/>
          <p:nvPr/>
        </p:nvSpPr>
        <p:spPr>
          <a:xfrm>
            <a:off x="7818120" y="1618488"/>
            <a:ext cx="329184" cy="329184"/>
          </a:xfrm>
          <a:prstGeom prst="ellipse">
            <a:avLst/>
          </a:prstGeom>
          <a:solidFill>
            <a:srgbClr val="E5484D"/>
          </a:solidFill>
          <a:ln/>
        </p:spPr>
      </p:sp>
      <p:sp>
        <p:nvSpPr>
          <p:cNvPr id="36" name="Text 34"/>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7" name="Text 35"/>
          <p:cNvSpPr/>
          <p:nvPr/>
        </p:nvSpPr>
        <p:spPr>
          <a:xfrm>
            <a:off x="8275320" y="1600200"/>
            <a:ext cx="3364992" cy="384048"/>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緑の「&lt;&gt; Code」を押す</a:t>
            </a:r>
            <a:endParaRPr lang="en-US" sz="1400" dirty="0"/>
          </a:p>
        </p:txBody>
      </p:sp>
      <p:sp>
        <p:nvSpPr>
          <p:cNvPr id="38" name="Shape 36"/>
          <p:cNvSpPr/>
          <p:nvPr/>
        </p:nvSpPr>
        <p:spPr>
          <a:xfrm>
            <a:off x="7818120" y="2148840"/>
            <a:ext cx="329184" cy="329184"/>
          </a:xfrm>
          <a:prstGeom prst="ellipse">
            <a:avLst/>
          </a:prstGeom>
          <a:solidFill>
            <a:srgbClr val="E5484D"/>
          </a:solidFill>
          <a:ln/>
        </p:spPr>
      </p:sp>
      <p:sp>
        <p:nvSpPr>
          <p:cNvPr id="39" name="Text 37"/>
          <p:cNvSpPr/>
          <p:nvPr/>
        </p:nvSpPr>
        <p:spPr>
          <a:xfrm>
            <a:off x="7818120" y="2148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40" name="Text 38"/>
          <p:cNvSpPr/>
          <p:nvPr/>
        </p:nvSpPr>
        <p:spPr>
          <a:xfrm>
            <a:off x="8275320" y="2130552"/>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「Download ZIP」を押す</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ダウンロードフォルダに ZIP が保存されます</a:t>
            </a:r>
            <a:endParaRPr lang="en-US" sz="1400" dirty="0"/>
          </a:p>
        </p:txBody>
      </p:sp>
      <p:sp>
        <p:nvSpPr>
          <p:cNvPr id="41" name="Shape 39"/>
          <p:cNvSpPr/>
          <p:nvPr/>
        </p:nvSpPr>
        <p:spPr>
          <a:xfrm>
            <a:off x="7818120" y="2797254"/>
            <a:ext cx="329184" cy="329184"/>
          </a:xfrm>
          <a:prstGeom prst="ellipse">
            <a:avLst/>
          </a:prstGeom>
          <a:solidFill>
            <a:srgbClr val="E5484D"/>
          </a:solidFill>
          <a:ln/>
        </p:spPr>
      </p:sp>
      <p:sp>
        <p:nvSpPr>
          <p:cNvPr id="42" name="Text 40"/>
          <p:cNvSpPr/>
          <p:nvPr/>
        </p:nvSpPr>
        <p:spPr>
          <a:xfrm>
            <a:off x="7818120" y="279725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43" name="Text 41"/>
          <p:cNvSpPr/>
          <p:nvPr/>
        </p:nvSpPr>
        <p:spPr>
          <a:xfrm>
            <a:off x="8275320" y="2778966"/>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ZIP を展開する</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Windows：右クリック →「すべて展開」</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Mac：ダブルクリック</a:t>
            </a:r>
            <a:endParaRPr lang="en-US" sz="1400" dirty="0"/>
          </a:p>
        </p:txBody>
      </p:sp>
      <p:sp>
        <p:nvSpPr>
          <p:cNvPr id="44" name="Shape 42"/>
          <p:cNvSpPr/>
          <p:nvPr/>
        </p:nvSpPr>
        <p:spPr>
          <a:xfrm>
            <a:off x="7818120" y="3655616"/>
            <a:ext cx="329184" cy="329184"/>
          </a:xfrm>
          <a:prstGeom prst="ellipse">
            <a:avLst/>
          </a:prstGeom>
          <a:solidFill>
            <a:srgbClr val="E5484D"/>
          </a:solidFill>
          <a:ln/>
        </p:spPr>
      </p:sp>
      <p:sp>
        <p:nvSpPr>
          <p:cNvPr id="45" name="Text 43"/>
          <p:cNvSpPr/>
          <p:nvPr/>
        </p:nvSpPr>
        <p:spPr>
          <a:xfrm>
            <a:off x="7818120" y="36556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46" name="Text 44"/>
          <p:cNvSpPr/>
          <p:nvPr/>
        </p:nvSpPr>
        <p:spPr>
          <a:xfrm>
            <a:off x="8275320" y="3637328"/>
            <a:ext cx="3364992" cy="757698"/>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フォルダの中の index.html をダブルクリック</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Chrome でツールが開きます</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12</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サンプルデータで動作を確かめる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まだ自社データは使いません。架空のサンプルで動くかを確かめます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30</a:t>
            </a:r>
            <a:endParaRPr lang="en-US" sz="900" dirty="0"/>
          </a:p>
        </p:txBody>
      </p:sp>
      <p:pic>
        <p:nvPicPr>
          <p:cNvPr id="8" name="Image 0" descr="../shots/c_charts.png">    </p:cNvPr>
          <p:cNvPicPr>
            <a:picLocks noChangeAspect="1"/>
          </p:cNvPicPr>
          <p:nvPr/>
        </p:nvPicPr>
        <p:blipFill>
          <a:blip r:embed="rId1"/>
          <a:stretch>
            <a:fillRect/>
          </a:stretch>
        </p:blipFill>
        <p:spPr>
          <a:xfrm>
            <a:off x="548640" y="1600200"/>
            <a:ext cx="5486400" cy="4438996"/>
          </a:xfrm>
          <a:prstGeom prst="rect">
            <a:avLst/>
          </a:prstGeom>
        </p:spPr>
      </p:pic>
      <p:sp>
        <p:nvSpPr>
          <p:cNvPr id="9" name="Shape 6"/>
          <p:cNvSpPr/>
          <p:nvPr/>
        </p:nvSpPr>
        <p:spPr>
          <a:xfrm>
            <a:off x="548640" y="1600200"/>
            <a:ext cx="5486400" cy="4438996"/>
          </a:xfrm>
          <a:prstGeom prst="rect">
            <a:avLst/>
          </a:prstGeom>
          <a:ln w="12700">
            <a:solidFill>
              <a:srgbClr val="E4DFD4"/>
            </a:solidFill>
            <a:prstDash val="solid"/>
          </a:ln>
        </p:spPr>
      </p:sp>
      <p:sp>
        <p:nvSpPr>
          <p:cNvPr id="10" name="Shape 7"/>
          <p:cNvSpPr/>
          <p:nvPr/>
        </p:nvSpPr>
        <p:spPr>
          <a:xfrm>
            <a:off x="6400800" y="1618488"/>
            <a:ext cx="329184" cy="329184"/>
          </a:xfrm>
          <a:prstGeom prst="ellipse">
            <a:avLst/>
          </a:prstGeom>
          <a:solidFill>
            <a:srgbClr val="E5484D"/>
          </a:solidFill>
          <a:ln/>
        </p:spPr>
      </p:sp>
      <p:sp>
        <p:nvSpPr>
          <p:cNvPr id="11" name="Text 8"/>
          <p:cNvSpPr/>
          <p:nvPr/>
        </p:nvSpPr>
        <p:spPr>
          <a:xfrm>
            <a:off x="640080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2" name="Text 9"/>
          <p:cNvSpPr/>
          <p:nvPr/>
        </p:nvSpPr>
        <p:spPr>
          <a:xfrm>
            <a:off x="6858000" y="1600200"/>
            <a:ext cx="4782312" cy="384048"/>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「サンプルデータで試す」を押す</a:t>
            </a:r>
            <a:endParaRPr lang="en-US" sz="1400" dirty="0"/>
          </a:p>
        </p:txBody>
      </p:sp>
      <p:sp>
        <p:nvSpPr>
          <p:cNvPr id="13" name="Shape 10"/>
          <p:cNvSpPr/>
          <p:nvPr/>
        </p:nvSpPr>
        <p:spPr>
          <a:xfrm>
            <a:off x="6400800" y="2148840"/>
            <a:ext cx="329184" cy="329184"/>
          </a:xfrm>
          <a:prstGeom prst="ellipse">
            <a:avLst/>
          </a:prstGeom>
          <a:solidFill>
            <a:srgbClr val="E5484D"/>
          </a:solidFill>
          <a:ln/>
        </p:spPr>
      </p:sp>
      <p:sp>
        <p:nvSpPr>
          <p:cNvPr id="14" name="Text 11"/>
          <p:cNvSpPr/>
          <p:nvPr/>
        </p:nvSpPr>
        <p:spPr>
          <a:xfrm>
            <a:off x="6400800" y="2148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5" name="Text 12"/>
          <p:cNvSpPr/>
          <p:nvPr/>
        </p:nvSpPr>
        <p:spPr>
          <a:xfrm>
            <a:off x="6858000" y="2130552"/>
            <a:ext cx="478231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2つのグラフが出る</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新築比のグラフ（緑）と坪単価のグラフ（青）</a:t>
            </a:r>
            <a:endParaRPr lang="en-US" sz="1400" dirty="0"/>
          </a:p>
        </p:txBody>
      </p:sp>
      <p:sp>
        <p:nvSpPr>
          <p:cNvPr id="16" name="Shape 13"/>
          <p:cNvSpPr/>
          <p:nvPr/>
        </p:nvSpPr>
        <p:spPr>
          <a:xfrm>
            <a:off x="6400800" y="2797254"/>
            <a:ext cx="329184" cy="329184"/>
          </a:xfrm>
          <a:prstGeom prst="ellipse">
            <a:avLst/>
          </a:prstGeom>
          <a:solidFill>
            <a:srgbClr val="E5484D"/>
          </a:solidFill>
          <a:ln/>
        </p:spPr>
      </p:sp>
      <p:sp>
        <p:nvSpPr>
          <p:cNvPr id="17" name="Text 14"/>
          <p:cNvSpPr/>
          <p:nvPr/>
        </p:nvSpPr>
        <p:spPr>
          <a:xfrm>
            <a:off x="6400800" y="279725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8" name="Text 15"/>
          <p:cNvSpPr/>
          <p:nvPr/>
        </p:nvSpPr>
        <p:spPr>
          <a:xfrm>
            <a:off x="6858000" y="2778966"/>
            <a:ext cx="478231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件数が表示される</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「新築データ 60行（10物件）／中古データ 188行」など</a:t>
            </a:r>
            <a:endParaRPr lang="en-US" sz="1400" dirty="0"/>
          </a:p>
        </p:txBody>
      </p:sp>
      <p:sp>
        <p:nvSpPr>
          <p:cNvPr id="19" name="Shape 16"/>
          <p:cNvSpPr/>
          <p:nvPr/>
        </p:nvSpPr>
        <p:spPr>
          <a:xfrm>
            <a:off x="6400800" y="4023360"/>
            <a:ext cx="5239512" cy="868680"/>
          </a:xfrm>
          <a:prstGeom prst="roundRect">
            <a:avLst>
              <a:gd name="adj" fmla="val 6316"/>
            </a:avLst>
          </a:prstGeom>
          <a:solidFill>
            <a:srgbClr val="EAF4EE"/>
          </a:solidFill>
          <a:ln/>
        </p:spPr>
      </p:sp>
      <p:sp>
        <p:nvSpPr>
          <p:cNvPr id="20" name="Shape 17"/>
          <p:cNvSpPr/>
          <p:nvPr/>
        </p:nvSpPr>
        <p:spPr>
          <a:xfrm>
            <a:off x="6400800" y="4023360"/>
            <a:ext cx="73152" cy="868680"/>
          </a:xfrm>
          <a:prstGeom prst="rect">
            <a:avLst/>
          </a:prstGeom>
          <a:solidFill>
            <a:srgbClr val="2F7D5B"/>
          </a:solidFill>
          <a:ln/>
        </p:spPr>
      </p:sp>
      <p:sp>
        <p:nvSpPr>
          <p:cNvPr id="21" name="Text 18"/>
          <p:cNvSpPr/>
          <p:nvPr/>
        </p:nvSpPr>
        <p:spPr>
          <a:xfrm>
            <a:off x="6629400" y="4023360"/>
            <a:ext cx="4873752" cy="868680"/>
          </a:xfrm>
          <a:prstGeom prst="rect">
            <a:avLst/>
          </a:prstGeom>
          <a:noFill/>
          <a:ln/>
        </p:spPr>
        <p:txBody>
          <a:bodyPr wrap="square" lIns="0" tIns="0" rIns="0" bIns="0" rtlCol="0" anchor="ctr"/>
          <a:lstStyle/>
          <a:p>
            <a:pPr indent="0" marL="0">
              <a:lnSpc>
                <a:spcPct val="110000"/>
              </a:lnSpc>
              <a:buNone/>
            </a:pPr>
            <a:r>
              <a:rPr lang="en-US" sz="1200" b="1" dirty="0">
                <a:solidFill>
                  <a:srgbClr val="2F7D5B"/>
                </a:solidFill>
                <a:latin typeface="Yu Gothic" pitchFamily="34" charset="0"/>
                <a:ea typeface="Yu Gothic" pitchFamily="34" charset="-122"/>
                <a:cs typeface="Yu Gothic" pitchFamily="34" charset="-120"/>
              </a:rPr>
              <a:t>✓ 確認ポイント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見た目は左と多少違ってもOK。ボタン・グラフ・件数がそろっていれば成功です</a:t>
            </a:r>
            <a:endParaRPr lang="en-US" sz="1200" dirty="0"/>
          </a:p>
        </p:txBody>
      </p:sp>
      <p:sp>
        <p:nvSpPr>
          <p:cNvPr id="22" name="Shape 19"/>
          <p:cNvSpPr/>
          <p:nvPr/>
        </p:nvSpPr>
        <p:spPr>
          <a:xfrm>
            <a:off x="6400800" y="5029200"/>
            <a:ext cx="5239512" cy="1188720"/>
          </a:xfrm>
          <a:prstGeom prst="roundRect">
            <a:avLst>
              <a:gd name="adj" fmla="val 4615"/>
            </a:avLst>
          </a:prstGeom>
          <a:solidFill>
            <a:srgbClr val="FBEFEC"/>
          </a:solidFill>
          <a:ln/>
        </p:spPr>
      </p:sp>
      <p:sp>
        <p:nvSpPr>
          <p:cNvPr id="23" name="Shape 20"/>
          <p:cNvSpPr/>
          <p:nvPr/>
        </p:nvSpPr>
        <p:spPr>
          <a:xfrm>
            <a:off x="6400800" y="5029200"/>
            <a:ext cx="73152" cy="1188720"/>
          </a:xfrm>
          <a:prstGeom prst="rect">
            <a:avLst/>
          </a:prstGeom>
          <a:solidFill>
            <a:srgbClr val="9A4A3A"/>
          </a:solidFill>
          <a:ln/>
        </p:spPr>
      </p:sp>
      <p:sp>
        <p:nvSpPr>
          <p:cNvPr id="24" name="Text 21"/>
          <p:cNvSpPr/>
          <p:nvPr/>
        </p:nvSpPr>
        <p:spPr>
          <a:xfrm>
            <a:off x="6629400" y="5029200"/>
            <a:ext cx="4873752" cy="1188720"/>
          </a:xfrm>
          <a:prstGeom prst="rect">
            <a:avLst/>
          </a:prstGeom>
          <a:noFill/>
          <a:ln/>
        </p:spPr>
        <p:txBody>
          <a:bodyPr wrap="square" lIns="0" tIns="0" rIns="0" bIns="0" rtlCol="0" anchor="ctr"/>
          <a:lstStyle/>
          <a:p>
            <a:pPr indent="0" marL="0">
              <a:lnSpc>
                <a:spcPct val="110000"/>
              </a:lnSpc>
              <a:buNone/>
            </a:pPr>
            <a:r>
              <a:rPr lang="en-US" sz="1200" b="1" dirty="0">
                <a:solidFill>
                  <a:srgbClr val="9A4A3A"/>
                </a:solidFill>
                <a:latin typeface="Yu Gothic" pitchFamily="34" charset="0"/>
                <a:ea typeface="Yu Gothic" pitchFamily="34" charset="-122"/>
                <a:cs typeface="Yu Gothic" pitchFamily="34" charset="-120"/>
              </a:rPr>
              <a:t>⚠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何も出ない・エラーになるときは → 第5部「うまく動かないとき」のプロンプトで Claude に直してもらう</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13</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プロンプト②：物件一覧と絞り込みを追加する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同じセッションの入力欄に続けて貼るか、新しく始める場合もリポジトリを確認</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31</a:t>
            </a:r>
            <a:endParaRPr lang="en-US" sz="900" dirty="0"/>
          </a:p>
        </p:txBody>
      </p:sp>
      <p:sp>
        <p:nvSpPr>
          <p:cNvPr id="8" name="Shape 6"/>
          <p:cNvSpPr/>
          <p:nvPr/>
        </p:nvSpPr>
        <p:spPr>
          <a:xfrm>
            <a:off x="548640" y="1554480"/>
            <a:ext cx="6766560" cy="4526280"/>
          </a:xfrm>
          <a:prstGeom prst="roundRect">
            <a:avLst>
              <a:gd name="adj" fmla="val 1616"/>
            </a:avLst>
          </a:prstGeom>
          <a:solidFill>
            <a:srgbClr val="1E293B"/>
          </a:solidFill>
          <a:ln/>
        </p:spPr>
      </p:sp>
      <p:sp>
        <p:nvSpPr>
          <p:cNvPr id="9" name="Text 7"/>
          <p:cNvSpPr/>
          <p:nvPr/>
        </p:nvSpPr>
        <p:spPr>
          <a:xfrm>
            <a:off x="777240" y="1664208"/>
            <a:ext cx="6309360" cy="256032"/>
          </a:xfrm>
          <a:prstGeom prst="rect">
            <a:avLst/>
          </a:prstGeom>
          <a:noFill/>
          <a:ln/>
        </p:spPr>
        <p:txBody>
          <a:bodyPr wrap="square" lIns="0" tIns="0" rIns="0" bIns="0" rtlCol="0" anchor="t"/>
          <a:lstStyle/>
          <a:p>
            <a:pPr indent="0" marL="0">
              <a:buNone/>
            </a:pPr>
            <a:r>
              <a:rPr lang="en-US" sz="1050" b="1" dirty="0">
                <a:solidFill>
                  <a:srgbClr val="CBB07A"/>
                </a:solidFill>
                <a:latin typeface="Yu Gothic" pitchFamily="34" charset="0"/>
                <a:ea typeface="Yu Gothic" pitchFamily="34" charset="-122"/>
                <a:cs typeface="Yu Gothic" pitchFamily="34" charset="-120"/>
              </a:rPr>
              <a:t>📋 コピーして Claude の入力欄に貼り付け</a:t>
            </a:r>
            <a:endParaRPr lang="en-US" sz="1050" dirty="0"/>
          </a:p>
        </p:txBody>
      </p:sp>
      <p:sp>
        <p:nvSpPr>
          <p:cNvPr id="10" name="Text 8"/>
          <p:cNvSpPr/>
          <p:nvPr/>
        </p:nvSpPr>
        <p:spPr>
          <a:xfrm>
            <a:off x="777240" y="1993392"/>
            <a:ext cx="6309360" cy="3977640"/>
          </a:xfrm>
          <a:prstGeom prst="rect">
            <a:avLst/>
          </a:prstGeom>
          <a:noFill/>
          <a:ln/>
        </p:spPr>
        <p:txBody>
          <a:bodyPr wrap="square" lIns="0" tIns="0" rIns="0" bIns="0" rtlCol="0" anchor="t"/>
          <a:lstStyle/>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いま作ったツールに、次の機能を追加してください。</a:t>
            </a:r>
            <a:endParaRPr lang="en-US" sz="1020" dirty="0"/>
          </a:p>
          <a:p>
            <a:pPr indent="0" marL="0">
              <a:lnSpc>
                <a:spcPct val="112000"/>
              </a:lnSpc>
              <a:buNone/>
            </a:pPr>
            <a:endParaRPr lang="en-US" sz="1020" dirty="0"/>
          </a:p>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【対象物件一覧】</a:t>
            </a:r>
            <a:endParaRPr lang="en-US" sz="1020" dirty="0"/>
          </a:p>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・グラフの下に表を追加する。列：マンション名／区／竣工年／借地期限年／現在の残存年数／総戸数／最寄駅と駅徒歩分／新築比／データ件数</a:t>
            </a:r>
            <a:endParaRPr lang="en-US" sz="1020" dirty="0"/>
          </a:p>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・新築比は色分けする（100%以上＝緑、80〜100%＝黄、80%未満＝赤）</a:t>
            </a:r>
            <a:endParaRPr lang="en-US" sz="1020" dirty="0"/>
          </a:p>
          <a:p>
            <a:pPr indent="0" marL="0">
              <a:lnSpc>
                <a:spcPct val="112000"/>
              </a:lnSpc>
              <a:buNone/>
            </a:pPr>
            <a:endParaRPr lang="en-US" sz="1020" dirty="0"/>
          </a:p>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【絞り込み】</a:t>
            </a:r>
            <a:endParaRPr lang="en-US" sz="1020" dirty="0"/>
          </a:p>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・画面上部に「エリア（区）」のプルダウンを置く（「全体」＋データにある区）</a:t>
            </a:r>
            <a:endParaRPr lang="en-US" sz="1020" dirty="0"/>
          </a:p>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・その横に「駅徒歩」のボタンを置く：全て／5分以内／6〜9分／10分以上。各ボタンに該当する物件数を表示する</a:t>
            </a:r>
            <a:endParaRPr lang="en-US" sz="1020" dirty="0"/>
          </a:p>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・駅徒歩分が空欄の物件は「全て」のときだけ表示する</a:t>
            </a:r>
            <a:endParaRPr lang="en-US" sz="1020" dirty="0"/>
          </a:p>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・絞り込むと、2つのグラフと一覧表の両方が同じ条件で計算し直されるようにする</a:t>
            </a:r>
            <a:endParaRPr lang="en-US" sz="1020" dirty="0"/>
          </a:p>
          <a:p>
            <a:pPr indent="0" marL="0">
              <a:lnSpc>
                <a:spcPct val="112000"/>
              </a:lnSpc>
              <a:buNone/>
            </a:pPr>
            <a:endParaRPr lang="en-US" sz="1020" dirty="0"/>
          </a:p>
          <a:p>
            <a:pPr indent="0" marL="0">
              <a:lnSpc>
                <a:spcPct val="112000"/>
              </a:lnSpc>
              <a:buNone/>
            </a:pPr>
            <a:r>
              <a:rPr lang="en-US" sz="1020" dirty="0">
                <a:solidFill>
                  <a:srgbClr val="F1F5F9"/>
                </a:solidFill>
                <a:latin typeface="Yu Gothic" pitchFamily="34" charset="0"/>
                <a:ea typeface="Yu Gothic" pitchFamily="34" charset="-122"/>
                <a:cs typeface="Yu Gothic" pitchFamily="34" charset="-120"/>
              </a:rPr>
              <a:t>最後に、変更したファイルと確かめ方を日本語で説明してください。</a:t>
            </a:r>
            <a:endParaRPr lang="en-US" sz="1020" dirty="0"/>
          </a:p>
        </p:txBody>
      </p:sp>
      <p:pic>
        <p:nvPicPr>
          <p:cNvPr id="11" name="Image 0" descr="../shots/c_le5.png">    </p:cNvPr>
          <p:cNvPicPr>
            <a:picLocks noChangeAspect="1"/>
          </p:cNvPicPr>
          <p:nvPr/>
        </p:nvPicPr>
        <p:blipFill>
          <a:blip r:embed="rId1"/>
          <a:stretch>
            <a:fillRect/>
          </a:stretch>
        </p:blipFill>
        <p:spPr>
          <a:xfrm>
            <a:off x="7589520" y="1554480"/>
            <a:ext cx="4050792" cy="1841269"/>
          </a:xfrm>
          <a:prstGeom prst="rect">
            <a:avLst/>
          </a:prstGeom>
        </p:spPr>
      </p:pic>
      <p:sp>
        <p:nvSpPr>
          <p:cNvPr id="12" name="Shape 9"/>
          <p:cNvSpPr/>
          <p:nvPr/>
        </p:nvSpPr>
        <p:spPr>
          <a:xfrm>
            <a:off x="7589520" y="1554480"/>
            <a:ext cx="4050792" cy="1841269"/>
          </a:xfrm>
          <a:prstGeom prst="rect">
            <a:avLst/>
          </a:prstGeom>
          <a:ln w="12700">
            <a:solidFill>
              <a:srgbClr val="E4DFD4"/>
            </a:solidFill>
            <a:prstDash val="solid"/>
          </a:ln>
        </p:spPr>
      </p:sp>
      <p:sp>
        <p:nvSpPr>
          <p:cNvPr id="13" name="Text 10"/>
          <p:cNvSpPr/>
          <p:nvPr/>
        </p:nvSpPr>
        <p:spPr>
          <a:xfrm>
            <a:off x="7589520" y="3429000"/>
            <a:ext cx="4050792" cy="274320"/>
          </a:xfrm>
          <a:prstGeom prst="rect">
            <a:avLst/>
          </a:prstGeom>
          <a:noFill/>
          <a:ln/>
        </p:spPr>
        <p:txBody>
          <a:bodyPr wrap="square" lIns="0" tIns="0" rIns="0" bIns="0" rtlCol="0" anchor="t"/>
          <a:lstStyle/>
          <a:p>
            <a:pPr indent="0" marL="0">
              <a:buNone/>
            </a:pPr>
            <a:r>
              <a:rPr lang="en-US" sz="1000" dirty="0">
                <a:solidFill>
                  <a:srgbClr val="7A756B"/>
                </a:solidFill>
                <a:latin typeface="Yu Gothic" pitchFamily="34" charset="0"/>
                <a:ea typeface="Yu Gothic" pitchFamily="34" charset="-122"/>
                <a:cs typeface="Yu Gothic" pitchFamily="34" charset="-120"/>
              </a:rPr>
              <a:t>↑ 完成イメージ：駅徒歩「5分以内」で絞り込んだところ</a:t>
            </a:r>
            <a:endParaRPr lang="en-US" sz="1000" dirty="0"/>
          </a:p>
        </p:txBody>
      </p:sp>
      <p:sp>
        <p:nvSpPr>
          <p:cNvPr id="14" name="Shape 11"/>
          <p:cNvSpPr/>
          <p:nvPr/>
        </p:nvSpPr>
        <p:spPr>
          <a:xfrm>
            <a:off x="7589520" y="3886200"/>
            <a:ext cx="4050792" cy="2194560"/>
          </a:xfrm>
          <a:prstGeom prst="roundRect">
            <a:avLst>
              <a:gd name="adj" fmla="val 3333"/>
            </a:avLst>
          </a:prstGeom>
          <a:solidFill>
            <a:srgbClr val="FBF9F4"/>
          </a:solidFill>
          <a:ln w="12700">
            <a:solidFill>
              <a:srgbClr val="E4DFD4"/>
            </a:solidFill>
            <a:prstDash val="solid"/>
          </a:ln>
        </p:spPr>
      </p:sp>
      <p:sp>
        <p:nvSpPr>
          <p:cNvPr id="15" name="Text 12"/>
          <p:cNvSpPr/>
          <p:nvPr/>
        </p:nvSpPr>
        <p:spPr>
          <a:xfrm>
            <a:off x="7790688" y="4032504"/>
            <a:ext cx="364845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送信したあとは</a:t>
            </a:r>
            <a:endParaRPr lang="en-US" sz="1500" dirty="0"/>
          </a:p>
        </p:txBody>
      </p:sp>
      <p:sp>
        <p:nvSpPr>
          <p:cNvPr id="16" name="Text 13"/>
          <p:cNvSpPr/>
          <p:nvPr/>
        </p:nvSpPr>
        <p:spPr>
          <a:xfrm>
            <a:off x="7790688" y="4434840"/>
            <a:ext cx="3648456" cy="1536192"/>
          </a:xfrm>
          <a:prstGeom prst="rect">
            <a:avLst/>
          </a:prstGeom>
          <a:noFill/>
          <a:ln/>
        </p:spPr>
        <p:txBody>
          <a:bodyPr wrap="square" lIns="0" tIns="0" rIns="0" bIns="0" rtlCol="0" anchor="t"/>
          <a:lstStyle/>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STEP 11〜12 と同じです</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① 変更の数字 →「Create PR」</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② GitHub で Merge → Confirm</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③ Download ZIP → 展開 → index.html</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14</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プロンプト③：物件ごとの詳細画面を追加する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一覧のマンション名をクリックすると、その物件の推移が見られるようにします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32</a:t>
            </a:r>
            <a:endParaRPr lang="en-US" sz="900" dirty="0"/>
          </a:p>
        </p:txBody>
      </p:sp>
      <p:sp>
        <p:nvSpPr>
          <p:cNvPr id="8" name="Shape 6"/>
          <p:cNvSpPr/>
          <p:nvPr/>
        </p:nvSpPr>
        <p:spPr>
          <a:xfrm>
            <a:off x="548640" y="1554480"/>
            <a:ext cx="6766560" cy="3566160"/>
          </a:xfrm>
          <a:prstGeom prst="roundRect">
            <a:avLst>
              <a:gd name="adj" fmla="val 2051"/>
            </a:avLst>
          </a:prstGeom>
          <a:solidFill>
            <a:srgbClr val="1E293B"/>
          </a:solidFill>
          <a:ln/>
        </p:spPr>
      </p:sp>
      <p:sp>
        <p:nvSpPr>
          <p:cNvPr id="9" name="Text 7"/>
          <p:cNvSpPr/>
          <p:nvPr/>
        </p:nvSpPr>
        <p:spPr>
          <a:xfrm>
            <a:off x="777240" y="1664208"/>
            <a:ext cx="6309360" cy="256032"/>
          </a:xfrm>
          <a:prstGeom prst="rect">
            <a:avLst/>
          </a:prstGeom>
          <a:noFill/>
          <a:ln/>
        </p:spPr>
        <p:txBody>
          <a:bodyPr wrap="square" lIns="0" tIns="0" rIns="0" bIns="0" rtlCol="0" anchor="t"/>
          <a:lstStyle/>
          <a:p>
            <a:pPr indent="0" marL="0">
              <a:buNone/>
            </a:pPr>
            <a:r>
              <a:rPr lang="en-US" sz="1050" b="1" dirty="0">
                <a:solidFill>
                  <a:srgbClr val="CBB07A"/>
                </a:solidFill>
                <a:latin typeface="Yu Gothic" pitchFamily="34" charset="0"/>
                <a:ea typeface="Yu Gothic" pitchFamily="34" charset="-122"/>
                <a:cs typeface="Yu Gothic" pitchFamily="34" charset="-120"/>
              </a:rPr>
              <a:t>📋 コピーして Claude の入力欄に貼り付け</a:t>
            </a:r>
            <a:endParaRPr lang="en-US" sz="1050" dirty="0"/>
          </a:p>
        </p:txBody>
      </p:sp>
      <p:sp>
        <p:nvSpPr>
          <p:cNvPr id="10" name="Text 8"/>
          <p:cNvSpPr/>
          <p:nvPr/>
        </p:nvSpPr>
        <p:spPr>
          <a:xfrm>
            <a:off x="777240" y="1993392"/>
            <a:ext cx="6309360" cy="3017520"/>
          </a:xfrm>
          <a:prstGeom prst="rect">
            <a:avLst/>
          </a:prstGeom>
          <a:noFill/>
          <a:ln/>
        </p:spPr>
        <p:txBody>
          <a:bodyPr wrap="square" lIns="0" tIns="0" rIns="0" bIns="0" rtlCol="0" anchor="t"/>
          <a:lstStyle/>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対象物件一覧のマンション名をクリックすると、その物件の詳細画面に切り替わるようにしてください。</a:t>
            </a:r>
            <a:endParaRPr lang="en-US" sz="1050" dirty="0"/>
          </a:p>
          <a:p>
            <a:pPr indent="0" marL="0">
              <a:lnSpc>
                <a:spcPct val="112000"/>
              </a:lnSpc>
              <a:buNone/>
            </a:pP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【詳細画面】</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・物件名、区、最寄駅と駅徒歩分、竣工年、借地期限年</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・数字のカード：データ件数／新築時坪単価／最新の成約坪単価／新築比（中央値）</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・グラフ：横軸を残存年数（1年刻み）にして成約坪単価の中央値を折れ線で表示し、新築時坪単価を点線で重ねる</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 一覧に戻る」ボタンで元の画面に戻る</a:t>
            </a:r>
            <a:endParaRPr lang="en-US" sz="1050" dirty="0"/>
          </a:p>
          <a:p>
            <a:pPr indent="0" marL="0">
              <a:lnSpc>
                <a:spcPct val="112000"/>
              </a:lnSpc>
              <a:buNone/>
            </a:pP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最後に、変更したファイルと確かめ方を日本語で説明してください。</a:t>
            </a:r>
            <a:endParaRPr lang="en-US" sz="1050" dirty="0"/>
          </a:p>
        </p:txBody>
      </p:sp>
      <p:pic>
        <p:nvPicPr>
          <p:cNvPr id="11" name="Image 0" descr="../shots/c_detail.png">    </p:cNvPr>
          <p:cNvPicPr>
            <a:picLocks noChangeAspect="1"/>
          </p:cNvPicPr>
          <p:nvPr/>
        </p:nvPicPr>
        <p:blipFill>
          <a:blip r:embed="rId1"/>
          <a:stretch>
            <a:fillRect/>
          </a:stretch>
        </p:blipFill>
        <p:spPr>
          <a:xfrm>
            <a:off x="7589520" y="1554480"/>
            <a:ext cx="4050792" cy="2393650"/>
          </a:xfrm>
          <a:prstGeom prst="rect">
            <a:avLst/>
          </a:prstGeom>
        </p:spPr>
      </p:pic>
      <p:sp>
        <p:nvSpPr>
          <p:cNvPr id="12" name="Shape 9"/>
          <p:cNvSpPr/>
          <p:nvPr/>
        </p:nvSpPr>
        <p:spPr>
          <a:xfrm>
            <a:off x="7589520" y="1554480"/>
            <a:ext cx="4050792" cy="2393650"/>
          </a:xfrm>
          <a:prstGeom prst="rect">
            <a:avLst/>
          </a:prstGeom>
          <a:ln w="12700">
            <a:solidFill>
              <a:srgbClr val="E4DFD4"/>
            </a:solidFill>
            <a:prstDash val="solid"/>
          </a:ln>
        </p:spPr>
      </p:sp>
      <p:sp>
        <p:nvSpPr>
          <p:cNvPr id="13" name="Text 10"/>
          <p:cNvSpPr/>
          <p:nvPr/>
        </p:nvSpPr>
        <p:spPr>
          <a:xfrm>
            <a:off x="7589520" y="4069080"/>
            <a:ext cx="4050792" cy="274320"/>
          </a:xfrm>
          <a:prstGeom prst="rect">
            <a:avLst/>
          </a:prstGeom>
          <a:noFill/>
          <a:ln/>
        </p:spPr>
        <p:txBody>
          <a:bodyPr wrap="square" lIns="0" tIns="0" rIns="0" bIns="0" rtlCol="0" anchor="t"/>
          <a:lstStyle/>
          <a:p>
            <a:pPr indent="0" marL="0">
              <a:buNone/>
            </a:pPr>
            <a:r>
              <a:rPr lang="en-US" sz="1000" dirty="0">
                <a:solidFill>
                  <a:srgbClr val="7A756B"/>
                </a:solidFill>
                <a:latin typeface="Yu Gothic" pitchFamily="34" charset="0"/>
                <a:ea typeface="Yu Gothic" pitchFamily="34" charset="-122"/>
                <a:cs typeface="Yu Gothic" pitchFamily="34" charset="-120"/>
              </a:rPr>
              <a:t>↑ 完成イメージ：物件の詳細画面</a:t>
            </a:r>
            <a:endParaRPr lang="en-US" sz="1000" dirty="0"/>
          </a:p>
        </p:txBody>
      </p:sp>
      <p:sp>
        <p:nvSpPr>
          <p:cNvPr id="14" name="Shape 11"/>
          <p:cNvSpPr/>
          <p:nvPr/>
        </p:nvSpPr>
        <p:spPr>
          <a:xfrm>
            <a:off x="548640" y="5349240"/>
            <a:ext cx="11091672" cy="548640"/>
          </a:xfrm>
          <a:prstGeom prst="roundRect">
            <a:avLst>
              <a:gd name="adj" fmla="val 10000"/>
            </a:avLst>
          </a:prstGeom>
          <a:solidFill>
            <a:srgbClr val="EAF4EE"/>
          </a:solidFill>
          <a:ln/>
        </p:spPr>
      </p:sp>
      <p:sp>
        <p:nvSpPr>
          <p:cNvPr id="15" name="Shape 12"/>
          <p:cNvSpPr/>
          <p:nvPr/>
        </p:nvSpPr>
        <p:spPr>
          <a:xfrm>
            <a:off x="548640" y="5349240"/>
            <a:ext cx="73152" cy="548640"/>
          </a:xfrm>
          <a:prstGeom prst="rect">
            <a:avLst/>
          </a:prstGeom>
          <a:solidFill>
            <a:srgbClr val="2F7D5B"/>
          </a:solidFill>
          <a:ln/>
        </p:spPr>
      </p:sp>
      <p:sp>
        <p:nvSpPr>
          <p:cNvPr id="16" name="Text 13"/>
          <p:cNvSpPr/>
          <p:nvPr/>
        </p:nvSpPr>
        <p:spPr>
          <a:xfrm>
            <a:off x="777240" y="5349240"/>
            <a:ext cx="10725912" cy="548640"/>
          </a:xfrm>
          <a:prstGeom prst="rect">
            <a:avLst/>
          </a:prstGeom>
          <a:noFill/>
          <a:ln/>
        </p:spPr>
        <p:txBody>
          <a:bodyPr wrap="square" lIns="0" tIns="0" rIns="0" bIns="0" rtlCol="0" anchor="ctr"/>
          <a:lstStyle/>
          <a:p>
            <a:pPr indent="0" marL="0">
              <a:lnSpc>
                <a:spcPct val="110000"/>
              </a:lnSpc>
              <a:buNone/>
            </a:pPr>
            <a:r>
              <a:rPr lang="en-US" sz="1250" b="1" dirty="0">
                <a:solidFill>
                  <a:srgbClr val="2F7D5B"/>
                </a:solidFill>
                <a:latin typeface="Yu Gothic" pitchFamily="34" charset="0"/>
                <a:ea typeface="Yu Gothic" pitchFamily="34" charset="-122"/>
                <a:cs typeface="Yu Gothic" pitchFamily="34" charset="-120"/>
              </a:rPr>
              <a:t>✓ 確認ポイント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一覧でマンション名を押す → 詳細が出る →「← 一覧に戻る」で戻れる。これで完成です！</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第3部　STEP 15</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2回目以降の直し方は、いつも同じ5ステップ</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機能を足すときも、見た目を直すときも、この順番です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33</a:t>
            </a:r>
            <a:endParaRPr lang="en-US" sz="900" dirty="0"/>
          </a:p>
        </p:txBody>
      </p:sp>
      <p:sp>
        <p:nvSpPr>
          <p:cNvPr id="8" name="Shape 6"/>
          <p:cNvSpPr/>
          <p:nvPr/>
        </p:nvSpPr>
        <p:spPr>
          <a:xfrm>
            <a:off x="594360" y="1828800"/>
            <a:ext cx="1965960" cy="1828800"/>
          </a:xfrm>
          <a:prstGeom prst="roundRect">
            <a:avLst>
              <a:gd name="adj" fmla="val 5000"/>
            </a:avLst>
          </a:prstGeom>
          <a:solidFill>
            <a:srgbClr val="FBF9F4"/>
          </a:solidFill>
          <a:ln w="19050">
            <a:solidFill>
              <a:srgbClr val="B08D47"/>
            </a:solidFill>
            <a:prstDash val="solid"/>
          </a:ln>
        </p:spPr>
      </p:sp>
      <p:sp>
        <p:nvSpPr>
          <p:cNvPr id="9" name="Shape 7"/>
          <p:cNvSpPr/>
          <p:nvPr/>
        </p:nvSpPr>
        <p:spPr>
          <a:xfrm>
            <a:off x="1303020" y="2011680"/>
            <a:ext cx="548640" cy="548640"/>
          </a:xfrm>
          <a:prstGeom prst="ellipse">
            <a:avLst/>
          </a:prstGeom>
          <a:solidFill>
            <a:srgbClr val="B08D47"/>
          </a:solidFill>
          <a:ln/>
        </p:spPr>
      </p:sp>
      <p:sp>
        <p:nvSpPr>
          <p:cNvPr id="10" name="Text 8"/>
          <p:cNvSpPr/>
          <p:nvPr/>
        </p:nvSpPr>
        <p:spPr>
          <a:xfrm>
            <a:off x="1303020" y="2011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1" name="Text 9"/>
          <p:cNvSpPr/>
          <p:nvPr/>
        </p:nvSpPr>
        <p:spPr>
          <a:xfrm>
            <a:off x="685800" y="2697480"/>
            <a:ext cx="1783080" cy="457200"/>
          </a:xfrm>
          <a:prstGeom prst="rect">
            <a:avLst/>
          </a:prstGeom>
          <a:noFill/>
          <a:ln/>
        </p:spPr>
        <p:txBody>
          <a:bodyPr wrap="square" lIns="0" tIns="0" rIns="0" bIns="0" rtlCol="0" anchor="ctr"/>
          <a:lstStyle/>
          <a:p>
            <a:pPr algn="ctr" indent="0" marL="0">
              <a:buNone/>
            </a:pPr>
            <a:r>
              <a:rPr lang="en-US" sz="1500" b="1" dirty="0">
                <a:solidFill>
                  <a:srgbClr val="1F2A28"/>
                </a:solidFill>
                <a:latin typeface="Yu Gothic" pitchFamily="34" charset="0"/>
                <a:ea typeface="Yu Gothic" pitchFamily="34" charset="-122"/>
                <a:cs typeface="Yu Gothic" pitchFamily="34" charset="-120"/>
              </a:rPr>
              <a:t>プロンプトを送る</a:t>
            </a:r>
            <a:endParaRPr lang="en-US" sz="1500" dirty="0"/>
          </a:p>
        </p:txBody>
      </p:sp>
      <p:sp>
        <p:nvSpPr>
          <p:cNvPr id="12" name="Text 10"/>
          <p:cNvSpPr/>
          <p:nvPr/>
        </p:nvSpPr>
        <p:spPr>
          <a:xfrm>
            <a:off x="685800" y="3154680"/>
            <a:ext cx="1783080" cy="320040"/>
          </a:xfrm>
          <a:prstGeom prst="rect">
            <a:avLst/>
          </a:prstGeom>
          <a:noFill/>
          <a:ln/>
        </p:spPr>
        <p:txBody>
          <a:bodyPr wrap="square" lIns="0" tIns="0" rIns="0" bIns="0" rtlCol="0" anchor="t"/>
          <a:lstStyle/>
          <a:p>
            <a:pPr algn="ctr" indent="0" marL="0">
              <a:buNone/>
            </a:pPr>
            <a:r>
              <a:rPr lang="en-US" sz="1100" dirty="0">
                <a:solidFill>
                  <a:srgbClr val="7A756B"/>
                </a:solidFill>
                <a:latin typeface="Yu Gothic" pitchFamily="34" charset="0"/>
                <a:ea typeface="Yu Gothic" pitchFamily="34" charset="-122"/>
                <a:cs typeface="Yu Gothic" pitchFamily="34" charset="-120"/>
              </a:rPr>
              <a:t>Claude Code</a:t>
            </a:r>
            <a:endParaRPr lang="en-US" sz="1100" dirty="0"/>
          </a:p>
        </p:txBody>
      </p:sp>
      <p:sp>
        <p:nvSpPr>
          <p:cNvPr id="13" name="Text 11"/>
          <p:cNvSpPr/>
          <p:nvPr/>
        </p:nvSpPr>
        <p:spPr>
          <a:xfrm>
            <a:off x="2560320" y="2514600"/>
            <a:ext cx="274320" cy="457200"/>
          </a:xfrm>
          <a:prstGeom prst="rect">
            <a:avLst/>
          </a:prstGeom>
          <a:noFill/>
          <a:ln/>
        </p:spPr>
        <p:txBody>
          <a:bodyPr wrap="square" lIns="0" tIns="0" rIns="0" bIns="0" rtlCol="0" anchor="ctr"/>
          <a:lstStyle/>
          <a:p>
            <a:pPr algn="ctr" indent="0" marL="0">
              <a:buNone/>
            </a:pPr>
            <a:r>
              <a:rPr lang="en-US" sz="1400" dirty="0">
                <a:solidFill>
                  <a:srgbClr val="7A756B"/>
                </a:solidFill>
                <a:latin typeface="Yu Gothic" pitchFamily="34" charset="0"/>
                <a:ea typeface="Yu Gothic" pitchFamily="34" charset="-122"/>
                <a:cs typeface="Yu Gothic" pitchFamily="34" charset="-120"/>
              </a:rPr>
              <a:t>▶</a:t>
            </a:r>
            <a:endParaRPr lang="en-US" sz="1400" dirty="0"/>
          </a:p>
        </p:txBody>
      </p:sp>
      <p:sp>
        <p:nvSpPr>
          <p:cNvPr id="14" name="Shape 12"/>
          <p:cNvSpPr/>
          <p:nvPr/>
        </p:nvSpPr>
        <p:spPr>
          <a:xfrm>
            <a:off x="2834640" y="1828800"/>
            <a:ext cx="1965960" cy="1828800"/>
          </a:xfrm>
          <a:prstGeom prst="roundRect">
            <a:avLst>
              <a:gd name="adj" fmla="val 5000"/>
            </a:avLst>
          </a:prstGeom>
          <a:solidFill>
            <a:srgbClr val="FBF9F4"/>
          </a:solidFill>
          <a:ln w="19050">
            <a:solidFill>
              <a:srgbClr val="B08D47"/>
            </a:solidFill>
            <a:prstDash val="solid"/>
          </a:ln>
        </p:spPr>
      </p:sp>
      <p:sp>
        <p:nvSpPr>
          <p:cNvPr id="15" name="Shape 13"/>
          <p:cNvSpPr/>
          <p:nvPr/>
        </p:nvSpPr>
        <p:spPr>
          <a:xfrm>
            <a:off x="3543300" y="2011680"/>
            <a:ext cx="548640" cy="548640"/>
          </a:xfrm>
          <a:prstGeom prst="ellipse">
            <a:avLst/>
          </a:prstGeom>
          <a:solidFill>
            <a:srgbClr val="B08D47"/>
          </a:solidFill>
          <a:ln/>
        </p:spPr>
      </p:sp>
      <p:sp>
        <p:nvSpPr>
          <p:cNvPr id="16" name="Text 14"/>
          <p:cNvSpPr/>
          <p:nvPr/>
        </p:nvSpPr>
        <p:spPr>
          <a:xfrm>
            <a:off x="3543300" y="2011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7" name="Text 15"/>
          <p:cNvSpPr/>
          <p:nvPr/>
        </p:nvSpPr>
        <p:spPr>
          <a:xfrm>
            <a:off x="2926080" y="2697480"/>
            <a:ext cx="1783080" cy="457200"/>
          </a:xfrm>
          <a:prstGeom prst="rect">
            <a:avLst/>
          </a:prstGeom>
          <a:noFill/>
          <a:ln/>
        </p:spPr>
        <p:txBody>
          <a:bodyPr wrap="square" lIns="0" tIns="0" rIns="0" bIns="0" rtlCol="0" anchor="ctr"/>
          <a:lstStyle/>
          <a:p>
            <a:pPr algn="ctr" indent="0" marL="0">
              <a:buNone/>
            </a:pPr>
            <a:r>
              <a:rPr lang="en-US" sz="1500" b="1" dirty="0">
                <a:solidFill>
                  <a:srgbClr val="1F2A28"/>
                </a:solidFill>
                <a:latin typeface="Yu Gothic" pitchFamily="34" charset="0"/>
                <a:ea typeface="Yu Gothic" pitchFamily="34" charset="-122"/>
                <a:cs typeface="Yu Gothic" pitchFamily="34" charset="-120"/>
              </a:rPr>
              <a:t>Create PR</a:t>
            </a:r>
            <a:endParaRPr lang="en-US" sz="1500" dirty="0"/>
          </a:p>
        </p:txBody>
      </p:sp>
      <p:sp>
        <p:nvSpPr>
          <p:cNvPr id="18" name="Text 16"/>
          <p:cNvSpPr/>
          <p:nvPr/>
        </p:nvSpPr>
        <p:spPr>
          <a:xfrm>
            <a:off x="2926080" y="3154680"/>
            <a:ext cx="1783080" cy="320040"/>
          </a:xfrm>
          <a:prstGeom prst="rect">
            <a:avLst/>
          </a:prstGeom>
          <a:noFill/>
          <a:ln/>
        </p:spPr>
        <p:txBody>
          <a:bodyPr wrap="square" lIns="0" tIns="0" rIns="0" bIns="0" rtlCol="0" anchor="t"/>
          <a:lstStyle/>
          <a:p>
            <a:pPr algn="ctr" indent="0" marL="0">
              <a:buNone/>
            </a:pPr>
            <a:r>
              <a:rPr lang="en-US" sz="1100" dirty="0">
                <a:solidFill>
                  <a:srgbClr val="7A756B"/>
                </a:solidFill>
                <a:latin typeface="Yu Gothic" pitchFamily="34" charset="0"/>
                <a:ea typeface="Yu Gothic" pitchFamily="34" charset="-122"/>
                <a:cs typeface="Yu Gothic" pitchFamily="34" charset="-120"/>
              </a:rPr>
              <a:t>Claude Code</a:t>
            </a:r>
            <a:endParaRPr lang="en-US" sz="1100" dirty="0"/>
          </a:p>
        </p:txBody>
      </p:sp>
      <p:sp>
        <p:nvSpPr>
          <p:cNvPr id="19" name="Text 17"/>
          <p:cNvSpPr/>
          <p:nvPr/>
        </p:nvSpPr>
        <p:spPr>
          <a:xfrm>
            <a:off x="4800600" y="2514600"/>
            <a:ext cx="274320" cy="457200"/>
          </a:xfrm>
          <a:prstGeom prst="rect">
            <a:avLst/>
          </a:prstGeom>
          <a:noFill/>
          <a:ln/>
        </p:spPr>
        <p:txBody>
          <a:bodyPr wrap="square" lIns="0" tIns="0" rIns="0" bIns="0" rtlCol="0" anchor="ctr"/>
          <a:lstStyle/>
          <a:p>
            <a:pPr algn="ctr" indent="0" marL="0">
              <a:buNone/>
            </a:pPr>
            <a:r>
              <a:rPr lang="en-US" sz="1400" dirty="0">
                <a:solidFill>
                  <a:srgbClr val="7A756B"/>
                </a:solidFill>
                <a:latin typeface="Yu Gothic" pitchFamily="34" charset="0"/>
                <a:ea typeface="Yu Gothic" pitchFamily="34" charset="-122"/>
                <a:cs typeface="Yu Gothic" pitchFamily="34" charset="-120"/>
              </a:rPr>
              <a:t>▶</a:t>
            </a:r>
            <a:endParaRPr lang="en-US" sz="1400" dirty="0"/>
          </a:p>
        </p:txBody>
      </p:sp>
      <p:sp>
        <p:nvSpPr>
          <p:cNvPr id="20" name="Shape 18"/>
          <p:cNvSpPr/>
          <p:nvPr/>
        </p:nvSpPr>
        <p:spPr>
          <a:xfrm>
            <a:off x="5074920" y="1828800"/>
            <a:ext cx="1965960" cy="1828800"/>
          </a:xfrm>
          <a:prstGeom prst="roundRect">
            <a:avLst>
              <a:gd name="adj" fmla="val 5000"/>
            </a:avLst>
          </a:prstGeom>
          <a:solidFill>
            <a:srgbClr val="FBF9F4"/>
          </a:solidFill>
          <a:ln w="19050">
            <a:solidFill>
              <a:srgbClr val="B08D47"/>
            </a:solidFill>
            <a:prstDash val="solid"/>
          </a:ln>
        </p:spPr>
      </p:sp>
      <p:sp>
        <p:nvSpPr>
          <p:cNvPr id="21" name="Shape 19"/>
          <p:cNvSpPr/>
          <p:nvPr/>
        </p:nvSpPr>
        <p:spPr>
          <a:xfrm>
            <a:off x="5783580" y="2011680"/>
            <a:ext cx="548640" cy="548640"/>
          </a:xfrm>
          <a:prstGeom prst="ellipse">
            <a:avLst/>
          </a:prstGeom>
          <a:solidFill>
            <a:srgbClr val="B08D47"/>
          </a:solidFill>
          <a:ln/>
        </p:spPr>
      </p:sp>
      <p:sp>
        <p:nvSpPr>
          <p:cNvPr id="22" name="Text 20"/>
          <p:cNvSpPr/>
          <p:nvPr/>
        </p:nvSpPr>
        <p:spPr>
          <a:xfrm>
            <a:off x="5783580" y="2011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3" name="Text 21"/>
          <p:cNvSpPr/>
          <p:nvPr/>
        </p:nvSpPr>
        <p:spPr>
          <a:xfrm>
            <a:off x="5166360" y="2697480"/>
            <a:ext cx="1783080" cy="457200"/>
          </a:xfrm>
          <a:prstGeom prst="rect">
            <a:avLst/>
          </a:prstGeom>
          <a:noFill/>
          <a:ln/>
        </p:spPr>
        <p:txBody>
          <a:bodyPr wrap="square" lIns="0" tIns="0" rIns="0" bIns="0" rtlCol="0" anchor="ctr"/>
          <a:lstStyle/>
          <a:p>
            <a:pPr algn="ctr" indent="0" marL="0">
              <a:buNone/>
            </a:pPr>
            <a:r>
              <a:rPr lang="en-US" sz="1500" b="1" dirty="0">
                <a:solidFill>
                  <a:srgbClr val="1F2A28"/>
                </a:solidFill>
                <a:latin typeface="Yu Gothic" pitchFamily="34" charset="0"/>
                <a:ea typeface="Yu Gothic" pitchFamily="34" charset="-122"/>
                <a:cs typeface="Yu Gothic" pitchFamily="34" charset="-120"/>
              </a:rPr>
              <a:t>Merge → Confirm</a:t>
            </a:r>
            <a:endParaRPr lang="en-US" sz="1500" dirty="0"/>
          </a:p>
        </p:txBody>
      </p:sp>
      <p:sp>
        <p:nvSpPr>
          <p:cNvPr id="24" name="Text 22"/>
          <p:cNvSpPr/>
          <p:nvPr/>
        </p:nvSpPr>
        <p:spPr>
          <a:xfrm>
            <a:off x="5166360" y="3154680"/>
            <a:ext cx="1783080" cy="320040"/>
          </a:xfrm>
          <a:prstGeom prst="rect">
            <a:avLst/>
          </a:prstGeom>
          <a:noFill/>
          <a:ln/>
        </p:spPr>
        <p:txBody>
          <a:bodyPr wrap="square" lIns="0" tIns="0" rIns="0" bIns="0" rtlCol="0" anchor="t"/>
          <a:lstStyle/>
          <a:p>
            <a:pPr algn="ctr" indent="0" marL="0">
              <a:buNone/>
            </a:pPr>
            <a:r>
              <a:rPr lang="en-US" sz="1100" dirty="0">
                <a:solidFill>
                  <a:srgbClr val="7A756B"/>
                </a:solidFill>
                <a:latin typeface="Yu Gothic" pitchFamily="34" charset="0"/>
                <a:ea typeface="Yu Gothic" pitchFamily="34" charset="-122"/>
                <a:cs typeface="Yu Gothic" pitchFamily="34" charset="-120"/>
              </a:rPr>
              <a:t>GitHub</a:t>
            </a:r>
            <a:endParaRPr lang="en-US" sz="1100" dirty="0"/>
          </a:p>
        </p:txBody>
      </p:sp>
      <p:sp>
        <p:nvSpPr>
          <p:cNvPr id="25" name="Text 23"/>
          <p:cNvSpPr/>
          <p:nvPr/>
        </p:nvSpPr>
        <p:spPr>
          <a:xfrm>
            <a:off x="7040880" y="2514600"/>
            <a:ext cx="274320" cy="457200"/>
          </a:xfrm>
          <a:prstGeom prst="rect">
            <a:avLst/>
          </a:prstGeom>
          <a:noFill/>
          <a:ln/>
        </p:spPr>
        <p:txBody>
          <a:bodyPr wrap="square" lIns="0" tIns="0" rIns="0" bIns="0" rtlCol="0" anchor="ctr"/>
          <a:lstStyle/>
          <a:p>
            <a:pPr algn="ctr" indent="0" marL="0">
              <a:buNone/>
            </a:pPr>
            <a:r>
              <a:rPr lang="en-US" sz="1400" dirty="0">
                <a:solidFill>
                  <a:srgbClr val="7A756B"/>
                </a:solidFill>
                <a:latin typeface="Yu Gothic" pitchFamily="34" charset="0"/>
                <a:ea typeface="Yu Gothic" pitchFamily="34" charset="-122"/>
                <a:cs typeface="Yu Gothic" pitchFamily="34" charset="-120"/>
              </a:rPr>
              <a:t>▶</a:t>
            </a:r>
            <a:endParaRPr lang="en-US" sz="1400" dirty="0"/>
          </a:p>
        </p:txBody>
      </p:sp>
      <p:sp>
        <p:nvSpPr>
          <p:cNvPr id="26" name="Shape 24"/>
          <p:cNvSpPr/>
          <p:nvPr/>
        </p:nvSpPr>
        <p:spPr>
          <a:xfrm>
            <a:off x="7315200" y="1828800"/>
            <a:ext cx="1965960" cy="1828800"/>
          </a:xfrm>
          <a:prstGeom prst="roundRect">
            <a:avLst>
              <a:gd name="adj" fmla="val 5000"/>
            </a:avLst>
          </a:prstGeom>
          <a:solidFill>
            <a:srgbClr val="FBF9F4"/>
          </a:solidFill>
          <a:ln w="19050">
            <a:solidFill>
              <a:srgbClr val="B08D47"/>
            </a:solidFill>
            <a:prstDash val="solid"/>
          </a:ln>
        </p:spPr>
      </p:sp>
      <p:sp>
        <p:nvSpPr>
          <p:cNvPr id="27" name="Shape 25"/>
          <p:cNvSpPr/>
          <p:nvPr/>
        </p:nvSpPr>
        <p:spPr>
          <a:xfrm>
            <a:off x="8023860" y="2011680"/>
            <a:ext cx="548640" cy="548640"/>
          </a:xfrm>
          <a:prstGeom prst="ellipse">
            <a:avLst/>
          </a:prstGeom>
          <a:solidFill>
            <a:srgbClr val="B08D47"/>
          </a:solidFill>
          <a:ln/>
        </p:spPr>
      </p:sp>
      <p:sp>
        <p:nvSpPr>
          <p:cNvPr id="28" name="Text 26"/>
          <p:cNvSpPr/>
          <p:nvPr/>
        </p:nvSpPr>
        <p:spPr>
          <a:xfrm>
            <a:off x="8023860" y="2011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9" name="Text 27"/>
          <p:cNvSpPr/>
          <p:nvPr/>
        </p:nvSpPr>
        <p:spPr>
          <a:xfrm>
            <a:off x="7406640" y="2697480"/>
            <a:ext cx="1783080" cy="457200"/>
          </a:xfrm>
          <a:prstGeom prst="rect">
            <a:avLst/>
          </a:prstGeom>
          <a:noFill/>
          <a:ln/>
        </p:spPr>
        <p:txBody>
          <a:bodyPr wrap="square" lIns="0" tIns="0" rIns="0" bIns="0" rtlCol="0" anchor="ctr"/>
          <a:lstStyle/>
          <a:p>
            <a:pPr algn="ctr" indent="0" marL="0">
              <a:buNone/>
            </a:pPr>
            <a:r>
              <a:rPr lang="en-US" sz="1500" b="1" dirty="0">
                <a:solidFill>
                  <a:srgbClr val="1F2A28"/>
                </a:solidFill>
                <a:latin typeface="Yu Gothic" pitchFamily="34" charset="0"/>
                <a:ea typeface="Yu Gothic" pitchFamily="34" charset="-122"/>
                <a:cs typeface="Yu Gothic" pitchFamily="34" charset="-120"/>
              </a:rPr>
              <a:t>Download ZIP</a:t>
            </a:r>
            <a:endParaRPr lang="en-US" sz="1500" dirty="0"/>
          </a:p>
        </p:txBody>
      </p:sp>
      <p:sp>
        <p:nvSpPr>
          <p:cNvPr id="30" name="Text 28"/>
          <p:cNvSpPr/>
          <p:nvPr/>
        </p:nvSpPr>
        <p:spPr>
          <a:xfrm>
            <a:off x="7406640" y="3154680"/>
            <a:ext cx="1783080" cy="320040"/>
          </a:xfrm>
          <a:prstGeom prst="rect">
            <a:avLst/>
          </a:prstGeom>
          <a:noFill/>
          <a:ln/>
        </p:spPr>
        <p:txBody>
          <a:bodyPr wrap="square" lIns="0" tIns="0" rIns="0" bIns="0" rtlCol="0" anchor="t"/>
          <a:lstStyle/>
          <a:p>
            <a:pPr algn="ctr" indent="0" marL="0">
              <a:buNone/>
            </a:pPr>
            <a:r>
              <a:rPr lang="en-US" sz="1100" dirty="0">
                <a:solidFill>
                  <a:srgbClr val="7A756B"/>
                </a:solidFill>
                <a:latin typeface="Yu Gothic" pitchFamily="34" charset="0"/>
                <a:ea typeface="Yu Gothic" pitchFamily="34" charset="-122"/>
                <a:cs typeface="Yu Gothic" pitchFamily="34" charset="-120"/>
              </a:rPr>
              <a:t>GitHub</a:t>
            </a:r>
            <a:endParaRPr lang="en-US" sz="1100" dirty="0"/>
          </a:p>
        </p:txBody>
      </p:sp>
      <p:sp>
        <p:nvSpPr>
          <p:cNvPr id="31" name="Text 29"/>
          <p:cNvSpPr/>
          <p:nvPr/>
        </p:nvSpPr>
        <p:spPr>
          <a:xfrm>
            <a:off x="9281160" y="2514600"/>
            <a:ext cx="274320" cy="457200"/>
          </a:xfrm>
          <a:prstGeom prst="rect">
            <a:avLst/>
          </a:prstGeom>
          <a:noFill/>
          <a:ln/>
        </p:spPr>
        <p:txBody>
          <a:bodyPr wrap="square" lIns="0" tIns="0" rIns="0" bIns="0" rtlCol="0" anchor="ctr"/>
          <a:lstStyle/>
          <a:p>
            <a:pPr algn="ctr" indent="0" marL="0">
              <a:buNone/>
            </a:pPr>
            <a:r>
              <a:rPr lang="en-US" sz="1400" dirty="0">
                <a:solidFill>
                  <a:srgbClr val="7A756B"/>
                </a:solidFill>
                <a:latin typeface="Yu Gothic" pitchFamily="34" charset="0"/>
                <a:ea typeface="Yu Gothic" pitchFamily="34" charset="-122"/>
                <a:cs typeface="Yu Gothic" pitchFamily="34" charset="-120"/>
              </a:rPr>
              <a:t>▶</a:t>
            </a:r>
            <a:endParaRPr lang="en-US" sz="1400" dirty="0"/>
          </a:p>
        </p:txBody>
      </p:sp>
      <p:sp>
        <p:nvSpPr>
          <p:cNvPr id="32" name="Shape 30"/>
          <p:cNvSpPr/>
          <p:nvPr/>
        </p:nvSpPr>
        <p:spPr>
          <a:xfrm>
            <a:off x="9555480" y="1828800"/>
            <a:ext cx="1965960" cy="1828800"/>
          </a:xfrm>
          <a:prstGeom prst="roundRect">
            <a:avLst>
              <a:gd name="adj" fmla="val 5000"/>
            </a:avLst>
          </a:prstGeom>
          <a:solidFill>
            <a:srgbClr val="FBF9F4"/>
          </a:solidFill>
          <a:ln w="19050">
            <a:solidFill>
              <a:srgbClr val="B08D47"/>
            </a:solidFill>
            <a:prstDash val="solid"/>
          </a:ln>
        </p:spPr>
      </p:sp>
      <p:sp>
        <p:nvSpPr>
          <p:cNvPr id="33" name="Shape 31"/>
          <p:cNvSpPr/>
          <p:nvPr/>
        </p:nvSpPr>
        <p:spPr>
          <a:xfrm>
            <a:off x="10264140" y="2011680"/>
            <a:ext cx="548640" cy="548640"/>
          </a:xfrm>
          <a:prstGeom prst="ellipse">
            <a:avLst/>
          </a:prstGeom>
          <a:solidFill>
            <a:srgbClr val="B08D47"/>
          </a:solidFill>
          <a:ln/>
        </p:spPr>
      </p:sp>
      <p:sp>
        <p:nvSpPr>
          <p:cNvPr id="34" name="Text 32"/>
          <p:cNvSpPr/>
          <p:nvPr/>
        </p:nvSpPr>
        <p:spPr>
          <a:xfrm>
            <a:off x="10264140" y="2011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35" name="Text 33"/>
          <p:cNvSpPr/>
          <p:nvPr/>
        </p:nvSpPr>
        <p:spPr>
          <a:xfrm>
            <a:off x="9646920" y="2697480"/>
            <a:ext cx="1783080" cy="457200"/>
          </a:xfrm>
          <a:prstGeom prst="rect">
            <a:avLst/>
          </a:prstGeom>
          <a:noFill/>
          <a:ln/>
        </p:spPr>
        <p:txBody>
          <a:bodyPr wrap="square" lIns="0" tIns="0" rIns="0" bIns="0" rtlCol="0" anchor="ctr"/>
          <a:lstStyle/>
          <a:p>
            <a:pPr algn="ctr" indent="0" marL="0">
              <a:buNone/>
            </a:pPr>
            <a:r>
              <a:rPr lang="en-US" sz="1500" b="1" dirty="0">
                <a:solidFill>
                  <a:srgbClr val="1F2A28"/>
                </a:solidFill>
                <a:latin typeface="Yu Gothic" pitchFamily="34" charset="0"/>
                <a:ea typeface="Yu Gothic" pitchFamily="34" charset="-122"/>
                <a:cs typeface="Yu Gothic" pitchFamily="34" charset="-120"/>
              </a:rPr>
              <a:t>index.html を開く</a:t>
            </a:r>
            <a:endParaRPr lang="en-US" sz="1500" dirty="0"/>
          </a:p>
        </p:txBody>
      </p:sp>
      <p:sp>
        <p:nvSpPr>
          <p:cNvPr id="36" name="Text 34"/>
          <p:cNvSpPr/>
          <p:nvPr/>
        </p:nvSpPr>
        <p:spPr>
          <a:xfrm>
            <a:off x="9646920" y="3154680"/>
            <a:ext cx="1783080" cy="320040"/>
          </a:xfrm>
          <a:prstGeom prst="rect">
            <a:avLst/>
          </a:prstGeom>
          <a:noFill/>
          <a:ln/>
        </p:spPr>
        <p:txBody>
          <a:bodyPr wrap="square" lIns="0" tIns="0" rIns="0" bIns="0" rtlCol="0" anchor="t"/>
          <a:lstStyle/>
          <a:p>
            <a:pPr algn="ctr" indent="0" marL="0">
              <a:buNone/>
            </a:pPr>
            <a:r>
              <a:rPr lang="en-US" sz="1100" dirty="0">
                <a:solidFill>
                  <a:srgbClr val="7A756B"/>
                </a:solidFill>
                <a:latin typeface="Yu Gothic" pitchFamily="34" charset="0"/>
                <a:ea typeface="Yu Gothic" pitchFamily="34" charset="-122"/>
                <a:cs typeface="Yu Gothic" pitchFamily="34" charset="-120"/>
              </a:rPr>
              <a:t>あなたのPC</a:t>
            </a:r>
            <a:endParaRPr lang="en-US" sz="1100" dirty="0"/>
          </a:p>
        </p:txBody>
      </p:sp>
      <p:sp>
        <p:nvSpPr>
          <p:cNvPr id="37" name="Shape 35"/>
          <p:cNvSpPr/>
          <p:nvPr/>
        </p:nvSpPr>
        <p:spPr>
          <a:xfrm>
            <a:off x="548640" y="4023360"/>
            <a:ext cx="11091672" cy="548640"/>
          </a:xfrm>
          <a:prstGeom prst="roundRect">
            <a:avLst>
              <a:gd name="adj" fmla="val 10000"/>
            </a:avLst>
          </a:prstGeom>
          <a:solidFill>
            <a:srgbClr val="FBEFEC"/>
          </a:solidFill>
          <a:ln/>
        </p:spPr>
      </p:sp>
      <p:sp>
        <p:nvSpPr>
          <p:cNvPr id="38" name="Shape 36"/>
          <p:cNvSpPr/>
          <p:nvPr/>
        </p:nvSpPr>
        <p:spPr>
          <a:xfrm>
            <a:off x="548640" y="4023360"/>
            <a:ext cx="73152" cy="548640"/>
          </a:xfrm>
          <a:prstGeom prst="rect">
            <a:avLst/>
          </a:prstGeom>
          <a:solidFill>
            <a:srgbClr val="9A4A3A"/>
          </a:solidFill>
          <a:ln/>
        </p:spPr>
      </p:sp>
      <p:sp>
        <p:nvSpPr>
          <p:cNvPr id="39" name="Text 37"/>
          <p:cNvSpPr/>
          <p:nvPr/>
        </p:nvSpPr>
        <p:spPr>
          <a:xfrm>
            <a:off x="777240" y="4023360"/>
            <a:ext cx="10725912" cy="548640"/>
          </a:xfrm>
          <a:prstGeom prst="rect">
            <a:avLst/>
          </a:prstGeom>
          <a:noFill/>
          <a:ln/>
        </p:spPr>
        <p:txBody>
          <a:bodyPr wrap="square" lIns="0" tIns="0" rIns="0" bIns="0" rtlCol="0" anchor="ctr"/>
          <a:lstStyle/>
          <a:p>
            <a:pPr indent="0" marL="0">
              <a:lnSpc>
                <a:spcPct val="110000"/>
              </a:lnSpc>
              <a:buNone/>
            </a:pPr>
            <a:r>
              <a:rPr lang="en-US" sz="1250" b="1" dirty="0">
                <a:solidFill>
                  <a:srgbClr val="9A4A3A"/>
                </a:solidFill>
                <a:latin typeface="Yu Gothic" pitchFamily="34" charset="0"/>
                <a:ea typeface="Yu Gothic" pitchFamily="34" charset="-122"/>
                <a:cs typeface="Yu Gothic" pitchFamily="34" charset="-120"/>
              </a:rPr>
              <a:t>⚠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ダウンロードし直したら、古いフォルダは削除するか、別の名前にしておくと混ざりません</a:t>
            </a:r>
            <a:endParaRPr lang="en-US" sz="1250" dirty="0"/>
          </a:p>
        </p:txBody>
      </p:sp>
      <p:sp>
        <p:nvSpPr>
          <p:cNvPr id="40" name="Shape 38"/>
          <p:cNvSpPr/>
          <p:nvPr/>
        </p:nvSpPr>
        <p:spPr>
          <a:xfrm>
            <a:off x="548640" y="4754880"/>
            <a:ext cx="11091672" cy="548640"/>
          </a:xfrm>
          <a:prstGeom prst="roundRect">
            <a:avLst>
              <a:gd name="adj" fmla="val 10000"/>
            </a:avLst>
          </a:prstGeom>
          <a:solidFill>
            <a:srgbClr val="F5F2EA"/>
          </a:solidFill>
          <a:ln/>
        </p:spPr>
      </p:sp>
      <p:sp>
        <p:nvSpPr>
          <p:cNvPr id="41" name="Shape 39"/>
          <p:cNvSpPr/>
          <p:nvPr/>
        </p:nvSpPr>
        <p:spPr>
          <a:xfrm>
            <a:off x="548640" y="4754880"/>
            <a:ext cx="73152" cy="548640"/>
          </a:xfrm>
          <a:prstGeom prst="rect">
            <a:avLst/>
          </a:prstGeom>
          <a:solidFill>
            <a:srgbClr val="B08D47"/>
          </a:solidFill>
          <a:ln/>
        </p:spPr>
      </p:sp>
      <p:sp>
        <p:nvSpPr>
          <p:cNvPr id="42" name="Text 40"/>
          <p:cNvSpPr/>
          <p:nvPr/>
        </p:nvSpPr>
        <p:spPr>
          <a:xfrm>
            <a:off x="777240" y="4754880"/>
            <a:ext cx="10725912" cy="548640"/>
          </a:xfrm>
          <a:prstGeom prst="rect">
            <a:avLst/>
          </a:prstGeom>
          <a:noFill/>
          <a:ln/>
        </p:spPr>
        <p:txBody>
          <a:bodyPr wrap="square" lIns="0" tIns="0" rIns="0" bIns="0" rtlCol="0" anchor="ctr"/>
          <a:lstStyle/>
          <a:p>
            <a:pPr indent="0" marL="0">
              <a:lnSpc>
                <a:spcPct val="110000"/>
              </a:lnSpc>
              <a:buNone/>
            </a:pPr>
            <a:r>
              <a:rPr lang="en-US" sz="125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前の作業の続きなら、左側の一覧から同じセッションを開いてお願いすると、話が通じやすくなります</a:t>
            </a:r>
            <a:endParaRPr lang="en-US" sz="1250" dirty="0"/>
          </a:p>
        </p:txBody>
      </p:sp>
      <p:sp>
        <p:nvSpPr>
          <p:cNvPr id="43" name="Shape 41"/>
          <p:cNvSpPr/>
          <p:nvPr/>
        </p:nvSpPr>
        <p:spPr>
          <a:xfrm>
            <a:off x="548640" y="5486400"/>
            <a:ext cx="11091672" cy="548640"/>
          </a:xfrm>
          <a:prstGeom prst="roundRect">
            <a:avLst>
              <a:gd name="adj" fmla="val 10000"/>
            </a:avLst>
          </a:prstGeom>
          <a:solidFill>
            <a:srgbClr val="EAF4EE"/>
          </a:solidFill>
          <a:ln/>
        </p:spPr>
      </p:sp>
      <p:sp>
        <p:nvSpPr>
          <p:cNvPr id="44" name="Shape 42"/>
          <p:cNvSpPr/>
          <p:nvPr/>
        </p:nvSpPr>
        <p:spPr>
          <a:xfrm>
            <a:off x="548640" y="5486400"/>
            <a:ext cx="73152" cy="548640"/>
          </a:xfrm>
          <a:prstGeom prst="rect">
            <a:avLst/>
          </a:prstGeom>
          <a:solidFill>
            <a:srgbClr val="2F7D5B"/>
          </a:solidFill>
          <a:ln/>
        </p:spPr>
      </p:sp>
      <p:sp>
        <p:nvSpPr>
          <p:cNvPr id="45" name="Text 43"/>
          <p:cNvSpPr/>
          <p:nvPr/>
        </p:nvSpPr>
        <p:spPr>
          <a:xfrm>
            <a:off x="777240" y="5486400"/>
            <a:ext cx="10725912" cy="548640"/>
          </a:xfrm>
          <a:prstGeom prst="rect">
            <a:avLst/>
          </a:prstGeom>
          <a:noFill/>
          <a:ln/>
        </p:spPr>
        <p:txBody>
          <a:bodyPr wrap="square" lIns="0" tIns="0" rIns="0" bIns="0" rtlCol="0" anchor="ctr"/>
          <a:lstStyle/>
          <a:p>
            <a:pPr indent="0" marL="0">
              <a:lnSpc>
                <a:spcPct val="110000"/>
              </a:lnSpc>
              <a:buNone/>
            </a:pPr>
            <a:r>
              <a:rPr lang="en-US" sz="1250" b="1" dirty="0">
                <a:solidFill>
                  <a:srgbClr val="2F7D5B"/>
                </a:solidFill>
                <a:latin typeface="Yu Gothic" pitchFamily="34" charset="0"/>
                <a:ea typeface="Yu Gothic" pitchFamily="34" charset="-122"/>
                <a:cs typeface="Yu Gothic" pitchFamily="34" charset="-120"/>
              </a:rPr>
              <a:t>✓ 確認ポイント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1回のお願いは「1つのテーマ」に絞ると、うまくいきやすい（例：一覧を足す → 次に色を変える）</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F2E2B"/>
        </a:solidFill>
      </p:bgPr>
    </p:bg>
    <p:spTree>
      <p:nvGrpSpPr>
        <p:cNvPr id="1" name=""/>
        <p:cNvGrpSpPr/>
        <p:nvPr/>
      </p:nvGrpSpPr>
      <p:grpSpPr>
        <a:xfrm>
          <a:off x="0" y="0"/>
          <a:ext cx="0" cy="0"/>
          <a:chOff x="0" y="0"/>
          <a:chExt cx="0" cy="0"/>
        </a:xfrm>
      </p:grpSpPr>
      <p:sp>
        <p:nvSpPr>
          <p:cNvPr id="2" name="Text 0"/>
          <p:cNvSpPr/>
          <p:nvPr/>
        </p:nvSpPr>
        <p:spPr>
          <a:xfrm>
            <a:off x="914400" y="2194560"/>
            <a:ext cx="5486400" cy="457200"/>
          </a:xfrm>
          <a:prstGeom prst="rect">
            <a:avLst/>
          </a:prstGeom>
          <a:noFill/>
          <a:ln/>
        </p:spPr>
        <p:txBody>
          <a:bodyPr wrap="square" lIns="0" tIns="0" rIns="0" bIns="0" rtlCol="0" anchor="t"/>
          <a:lstStyle/>
          <a:p>
            <a:pPr indent="0" marL="0">
              <a:buNone/>
            </a:pPr>
            <a:r>
              <a:rPr lang="en-US" sz="1800" b="1" dirty="0">
                <a:solidFill>
                  <a:srgbClr val="CBB07A"/>
                </a:solidFill>
                <a:latin typeface="Yu Gothic" pitchFamily="34" charset="0"/>
                <a:ea typeface="Yu Gothic" pitchFamily="34" charset="-122"/>
                <a:cs typeface="Yu Gothic" pitchFamily="34" charset="-120"/>
              </a:rPr>
              <a:t>第4部</a:t>
            </a:r>
            <a:endParaRPr lang="en-US" sz="1800" dirty="0"/>
          </a:p>
        </p:txBody>
      </p:sp>
      <p:sp>
        <p:nvSpPr>
          <p:cNvPr id="3" name="Text 1"/>
          <p:cNvSpPr/>
          <p:nvPr/>
        </p:nvSpPr>
        <p:spPr>
          <a:xfrm>
            <a:off x="914400" y="2697480"/>
            <a:ext cx="10058400" cy="822960"/>
          </a:xfrm>
          <a:prstGeom prst="rect">
            <a:avLst/>
          </a:prstGeom>
          <a:noFill/>
          <a:ln/>
        </p:spPr>
        <p:txBody>
          <a:bodyPr wrap="square" lIns="0" tIns="0" rIns="0" bIns="0" rtlCol="0" anchor="t"/>
          <a:lstStyle/>
          <a:p>
            <a:pPr indent="0" marL="0">
              <a:buNone/>
            </a:pPr>
            <a:r>
              <a:rPr lang="en-US" sz="3600" b="1" dirty="0">
                <a:solidFill>
                  <a:srgbClr val="FFFFFF"/>
                </a:solidFill>
                <a:latin typeface="Yu Gothic" pitchFamily="34" charset="0"/>
                <a:ea typeface="Yu Gothic" pitchFamily="34" charset="-122"/>
                <a:cs typeface="Yu Gothic" pitchFamily="34" charset="-120"/>
              </a:rPr>
              <a:t>自社データを入れる</a:t>
            </a:r>
            <a:endParaRPr lang="en-US" sz="3600" dirty="0"/>
          </a:p>
        </p:txBody>
      </p:sp>
      <p:sp>
        <p:nvSpPr>
          <p:cNvPr id="4" name="Shape 2"/>
          <p:cNvSpPr/>
          <p:nvPr/>
        </p:nvSpPr>
        <p:spPr>
          <a:xfrm>
            <a:off x="914400" y="3657600"/>
            <a:ext cx="1097280" cy="0"/>
          </a:xfrm>
          <a:prstGeom prst="line">
            <a:avLst/>
          </a:prstGeom>
          <a:noFill/>
          <a:ln w="25400">
            <a:solidFill>
              <a:srgbClr val="B08D47"/>
            </a:solidFill>
            <a:prstDash val="solid"/>
          </a:ln>
        </p:spPr>
      </p:sp>
      <p:sp>
        <p:nvSpPr>
          <p:cNvPr id="5" name="Text 3"/>
          <p:cNvSpPr/>
          <p:nvPr/>
        </p:nvSpPr>
        <p:spPr>
          <a:xfrm>
            <a:off x="914400" y="3886200"/>
            <a:ext cx="10058400" cy="822960"/>
          </a:xfrm>
          <a:prstGeom prst="rect">
            <a:avLst/>
          </a:prstGeom>
          <a:noFill/>
          <a:ln/>
        </p:spPr>
        <p:txBody>
          <a:bodyPr wrap="square" lIns="0" tIns="0" rIns="0" bIns="0" rtlCol="0" anchor="t"/>
          <a:lstStyle/>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16　新築データ・中古データを CSV の形にそろえる</a:t>
            </a:r>
            <a:endParaRPr lang="en-US" sz="1500" dirty="0"/>
          </a:p>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17　Excel から CSV で保存する</a:t>
            </a:r>
            <a:endParaRPr lang="en-US" sz="1500" dirty="0"/>
          </a:p>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STEP 18　ツールの画面で読み込む（データはPCの外に出ません）</a:t>
            </a:r>
            <a:endParaRPr lang="en-US" sz="1500" dirty="0"/>
          </a:p>
        </p:txBody>
      </p:sp>
      <p:sp>
        <p:nvSpPr>
          <p:cNvPr id="6" name="Text 4"/>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8C877B"/>
                </a:solidFill>
                <a:latin typeface="Yu Gothic" pitchFamily="34" charset="0"/>
                <a:ea typeface="Yu Gothic" pitchFamily="34" charset="-122"/>
                <a:cs typeface="Yu Gothic"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第4部　STEP 16</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新築データの形（1住戸＝1行）</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1行目（列名）は、この9つを左からこの順番で。2行目からデータです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35</a:t>
            </a:r>
            <a:endParaRPr lang="en-US" sz="900" dirty="0"/>
          </a:p>
        </p:txBody>
      </p:sp>
      <p:sp>
        <p:nvSpPr>
          <p:cNvPr id="8" name="Shape 6"/>
          <p:cNvSpPr/>
          <p:nvPr/>
        </p:nvSpPr>
        <p:spPr>
          <a:xfrm>
            <a:off x="548640" y="1600200"/>
            <a:ext cx="2228464" cy="384048"/>
          </a:xfrm>
          <a:prstGeom prst="rect">
            <a:avLst/>
          </a:prstGeom>
          <a:solidFill>
            <a:srgbClr val="3C5A4F"/>
          </a:solidFill>
          <a:ln w="9525">
            <a:solidFill>
              <a:srgbClr val="FFFFFF"/>
            </a:solidFill>
            <a:prstDash val="solid"/>
          </a:ln>
        </p:spPr>
      </p:sp>
      <p:sp>
        <p:nvSpPr>
          <p:cNvPr id="9" name="Text 7"/>
          <p:cNvSpPr/>
          <p:nvPr/>
        </p:nvSpPr>
        <p:spPr>
          <a:xfrm>
            <a:off x="548640" y="1600200"/>
            <a:ext cx="222846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物件名</a:t>
            </a:r>
            <a:endParaRPr lang="en-US" sz="1100" dirty="0"/>
          </a:p>
        </p:txBody>
      </p:sp>
      <p:sp>
        <p:nvSpPr>
          <p:cNvPr id="10" name="Shape 8"/>
          <p:cNvSpPr/>
          <p:nvPr/>
        </p:nvSpPr>
        <p:spPr>
          <a:xfrm>
            <a:off x="548640" y="1984248"/>
            <a:ext cx="2228464" cy="347472"/>
          </a:xfrm>
          <a:prstGeom prst="rect">
            <a:avLst/>
          </a:prstGeom>
          <a:solidFill>
            <a:srgbClr val="FBF9F4"/>
          </a:solidFill>
          <a:ln w="9525">
            <a:solidFill>
              <a:srgbClr val="E4DFD4"/>
            </a:solidFill>
            <a:prstDash val="solid"/>
          </a:ln>
        </p:spPr>
      </p:sp>
      <p:sp>
        <p:nvSpPr>
          <p:cNvPr id="11" name="Text 9"/>
          <p:cNvSpPr/>
          <p:nvPr/>
        </p:nvSpPr>
        <p:spPr>
          <a:xfrm>
            <a:off x="548640" y="1984248"/>
            <a:ext cx="2228464"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〇〇レジデンス</a:t>
            </a:r>
            <a:endParaRPr lang="en-US" sz="1050" dirty="0"/>
          </a:p>
        </p:txBody>
      </p:sp>
      <p:sp>
        <p:nvSpPr>
          <p:cNvPr id="12" name="Shape 10"/>
          <p:cNvSpPr/>
          <p:nvPr/>
        </p:nvSpPr>
        <p:spPr>
          <a:xfrm>
            <a:off x="548640" y="2331720"/>
            <a:ext cx="2228464" cy="347472"/>
          </a:xfrm>
          <a:prstGeom prst="rect">
            <a:avLst/>
          </a:prstGeom>
          <a:solidFill>
            <a:srgbClr val="FFFFFF"/>
          </a:solidFill>
          <a:ln w="9525">
            <a:solidFill>
              <a:srgbClr val="E4DFD4"/>
            </a:solidFill>
            <a:prstDash val="solid"/>
          </a:ln>
        </p:spPr>
      </p:sp>
      <p:sp>
        <p:nvSpPr>
          <p:cNvPr id="13" name="Text 11"/>
          <p:cNvSpPr/>
          <p:nvPr/>
        </p:nvSpPr>
        <p:spPr>
          <a:xfrm>
            <a:off x="548640" y="2331720"/>
            <a:ext cx="2228464"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〇〇レジデンス</a:t>
            </a:r>
            <a:endParaRPr lang="en-US" sz="1050" dirty="0"/>
          </a:p>
        </p:txBody>
      </p:sp>
      <p:sp>
        <p:nvSpPr>
          <p:cNvPr id="14" name="Shape 12"/>
          <p:cNvSpPr/>
          <p:nvPr/>
        </p:nvSpPr>
        <p:spPr>
          <a:xfrm>
            <a:off x="548640" y="2679192"/>
            <a:ext cx="2228464" cy="347472"/>
          </a:xfrm>
          <a:prstGeom prst="rect">
            <a:avLst/>
          </a:prstGeom>
          <a:solidFill>
            <a:srgbClr val="FBF9F4"/>
          </a:solidFill>
          <a:ln w="9525">
            <a:solidFill>
              <a:srgbClr val="E4DFD4"/>
            </a:solidFill>
            <a:prstDash val="solid"/>
          </a:ln>
        </p:spPr>
      </p:sp>
      <p:sp>
        <p:nvSpPr>
          <p:cNvPr id="15" name="Text 13"/>
          <p:cNvSpPr/>
          <p:nvPr/>
        </p:nvSpPr>
        <p:spPr>
          <a:xfrm>
            <a:off x="548640" y="2679192"/>
            <a:ext cx="2228464"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△△タワー</a:t>
            </a:r>
            <a:endParaRPr lang="en-US" sz="1050" dirty="0"/>
          </a:p>
        </p:txBody>
      </p:sp>
      <p:sp>
        <p:nvSpPr>
          <p:cNvPr id="16" name="Shape 14"/>
          <p:cNvSpPr/>
          <p:nvPr/>
        </p:nvSpPr>
        <p:spPr>
          <a:xfrm>
            <a:off x="2777104" y="1600200"/>
            <a:ext cx="1114232" cy="384048"/>
          </a:xfrm>
          <a:prstGeom prst="rect">
            <a:avLst/>
          </a:prstGeom>
          <a:solidFill>
            <a:srgbClr val="3C5A4F"/>
          </a:solidFill>
          <a:ln w="9525">
            <a:solidFill>
              <a:srgbClr val="FFFFFF"/>
            </a:solidFill>
            <a:prstDash val="solid"/>
          </a:ln>
        </p:spPr>
      </p:sp>
      <p:sp>
        <p:nvSpPr>
          <p:cNvPr id="17" name="Text 15"/>
          <p:cNvSpPr/>
          <p:nvPr/>
        </p:nvSpPr>
        <p:spPr>
          <a:xfrm>
            <a:off x="2777104" y="1600200"/>
            <a:ext cx="111423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区</a:t>
            </a:r>
            <a:endParaRPr lang="en-US" sz="1100" dirty="0"/>
          </a:p>
        </p:txBody>
      </p:sp>
      <p:sp>
        <p:nvSpPr>
          <p:cNvPr id="18" name="Shape 16"/>
          <p:cNvSpPr/>
          <p:nvPr/>
        </p:nvSpPr>
        <p:spPr>
          <a:xfrm>
            <a:off x="2777104" y="1984248"/>
            <a:ext cx="1114232" cy="347472"/>
          </a:xfrm>
          <a:prstGeom prst="rect">
            <a:avLst/>
          </a:prstGeom>
          <a:solidFill>
            <a:srgbClr val="FBF9F4"/>
          </a:solidFill>
          <a:ln w="9525">
            <a:solidFill>
              <a:srgbClr val="E4DFD4"/>
            </a:solidFill>
            <a:prstDash val="solid"/>
          </a:ln>
        </p:spPr>
      </p:sp>
      <p:sp>
        <p:nvSpPr>
          <p:cNvPr id="19" name="Text 17"/>
          <p:cNvSpPr/>
          <p:nvPr/>
        </p:nvSpPr>
        <p:spPr>
          <a:xfrm>
            <a:off x="2777104" y="1984248"/>
            <a:ext cx="1114232"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文京区</a:t>
            </a:r>
            <a:endParaRPr lang="en-US" sz="1050" dirty="0"/>
          </a:p>
        </p:txBody>
      </p:sp>
      <p:sp>
        <p:nvSpPr>
          <p:cNvPr id="20" name="Shape 18"/>
          <p:cNvSpPr/>
          <p:nvPr/>
        </p:nvSpPr>
        <p:spPr>
          <a:xfrm>
            <a:off x="2777104" y="2331720"/>
            <a:ext cx="1114232" cy="347472"/>
          </a:xfrm>
          <a:prstGeom prst="rect">
            <a:avLst/>
          </a:prstGeom>
          <a:solidFill>
            <a:srgbClr val="FFFFFF"/>
          </a:solidFill>
          <a:ln w="9525">
            <a:solidFill>
              <a:srgbClr val="E4DFD4"/>
            </a:solidFill>
            <a:prstDash val="solid"/>
          </a:ln>
        </p:spPr>
      </p:sp>
      <p:sp>
        <p:nvSpPr>
          <p:cNvPr id="21" name="Text 19"/>
          <p:cNvSpPr/>
          <p:nvPr/>
        </p:nvSpPr>
        <p:spPr>
          <a:xfrm>
            <a:off x="2777104" y="2331720"/>
            <a:ext cx="1114232"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文京区</a:t>
            </a:r>
            <a:endParaRPr lang="en-US" sz="1050" dirty="0"/>
          </a:p>
        </p:txBody>
      </p:sp>
      <p:sp>
        <p:nvSpPr>
          <p:cNvPr id="22" name="Shape 20"/>
          <p:cNvSpPr/>
          <p:nvPr/>
        </p:nvSpPr>
        <p:spPr>
          <a:xfrm>
            <a:off x="2777104" y="2679192"/>
            <a:ext cx="1114232" cy="347472"/>
          </a:xfrm>
          <a:prstGeom prst="rect">
            <a:avLst/>
          </a:prstGeom>
          <a:solidFill>
            <a:srgbClr val="FBF9F4"/>
          </a:solidFill>
          <a:ln w="9525">
            <a:solidFill>
              <a:srgbClr val="E4DFD4"/>
            </a:solidFill>
            <a:prstDash val="solid"/>
          </a:ln>
        </p:spPr>
      </p:sp>
      <p:sp>
        <p:nvSpPr>
          <p:cNvPr id="23" name="Text 21"/>
          <p:cNvSpPr/>
          <p:nvPr/>
        </p:nvSpPr>
        <p:spPr>
          <a:xfrm>
            <a:off x="2777104" y="2679192"/>
            <a:ext cx="1114232"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港区</a:t>
            </a:r>
            <a:endParaRPr lang="en-US" sz="1050" dirty="0"/>
          </a:p>
        </p:txBody>
      </p:sp>
      <p:sp>
        <p:nvSpPr>
          <p:cNvPr id="24" name="Shape 22"/>
          <p:cNvSpPr/>
          <p:nvPr/>
        </p:nvSpPr>
        <p:spPr>
          <a:xfrm>
            <a:off x="3891336" y="1600200"/>
            <a:ext cx="1215526" cy="384048"/>
          </a:xfrm>
          <a:prstGeom prst="rect">
            <a:avLst/>
          </a:prstGeom>
          <a:solidFill>
            <a:srgbClr val="3C5A4F"/>
          </a:solidFill>
          <a:ln w="9525">
            <a:solidFill>
              <a:srgbClr val="FFFFFF"/>
            </a:solidFill>
            <a:prstDash val="solid"/>
          </a:ln>
        </p:spPr>
      </p:sp>
      <p:sp>
        <p:nvSpPr>
          <p:cNvPr id="25" name="Text 23"/>
          <p:cNvSpPr/>
          <p:nvPr/>
        </p:nvSpPr>
        <p:spPr>
          <a:xfrm>
            <a:off x="3891336" y="1600200"/>
            <a:ext cx="121552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最寄駅</a:t>
            </a:r>
            <a:endParaRPr lang="en-US" sz="1100" dirty="0"/>
          </a:p>
        </p:txBody>
      </p:sp>
      <p:sp>
        <p:nvSpPr>
          <p:cNvPr id="26" name="Shape 24"/>
          <p:cNvSpPr/>
          <p:nvPr/>
        </p:nvSpPr>
        <p:spPr>
          <a:xfrm>
            <a:off x="3891336" y="1984248"/>
            <a:ext cx="1215526" cy="347472"/>
          </a:xfrm>
          <a:prstGeom prst="rect">
            <a:avLst/>
          </a:prstGeom>
          <a:solidFill>
            <a:srgbClr val="FBF9F4"/>
          </a:solidFill>
          <a:ln w="9525">
            <a:solidFill>
              <a:srgbClr val="E4DFD4"/>
            </a:solidFill>
            <a:prstDash val="solid"/>
          </a:ln>
        </p:spPr>
      </p:sp>
      <p:sp>
        <p:nvSpPr>
          <p:cNvPr id="27" name="Text 25"/>
          <p:cNvSpPr/>
          <p:nvPr/>
        </p:nvSpPr>
        <p:spPr>
          <a:xfrm>
            <a:off x="3891336" y="1984248"/>
            <a:ext cx="1215526"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湯島</a:t>
            </a:r>
            <a:endParaRPr lang="en-US" sz="1050" dirty="0"/>
          </a:p>
        </p:txBody>
      </p:sp>
      <p:sp>
        <p:nvSpPr>
          <p:cNvPr id="28" name="Shape 26"/>
          <p:cNvSpPr/>
          <p:nvPr/>
        </p:nvSpPr>
        <p:spPr>
          <a:xfrm>
            <a:off x="3891336" y="2331720"/>
            <a:ext cx="1215526" cy="347472"/>
          </a:xfrm>
          <a:prstGeom prst="rect">
            <a:avLst/>
          </a:prstGeom>
          <a:solidFill>
            <a:srgbClr val="FFFFFF"/>
          </a:solidFill>
          <a:ln w="9525">
            <a:solidFill>
              <a:srgbClr val="E4DFD4"/>
            </a:solidFill>
            <a:prstDash val="solid"/>
          </a:ln>
        </p:spPr>
      </p:sp>
      <p:sp>
        <p:nvSpPr>
          <p:cNvPr id="29" name="Text 27"/>
          <p:cNvSpPr/>
          <p:nvPr/>
        </p:nvSpPr>
        <p:spPr>
          <a:xfrm>
            <a:off x="3891336" y="2331720"/>
            <a:ext cx="1215526"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湯島</a:t>
            </a:r>
            <a:endParaRPr lang="en-US" sz="1050" dirty="0"/>
          </a:p>
        </p:txBody>
      </p:sp>
      <p:sp>
        <p:nvSpPr>
          <p:cNvPr id="30" name="Shape 28"/>
          <p:cNvSpPr/>
          <p:nvPr/>
        </p:nvSpPr>
        <p:spPr>
          <a:xfrm>
            <a:off x="3891336" y="2679192"/>
            <a:ext cx="1215526" cy="347472"/>
          </a:xfrm>
          <a:prstGeom prst="rect">
            <a:avLst/>
          </a:prstGeom>
          <a:solidFill>
            <a:srgbClr val="FBF9F4"/>
          </a:solidFill>
          <a:ln w="9525">
            <a:solidFill>
              <a:srgbClr val="E4DFD4"/>
            </a:solidFill>
            <a:prstDash val="solid"/>
          </a:ln>
        </p:spPr>
      </p:sp>
      <p:sp>
        <p:nvSpPr>
          <p:cNvPr id="31" name="Text 29"/>
          <p:cNvSpPr/>
          <p:nvPr/>
        </p:nvSpPr>
        <p:spPr>
          <a:xfrm>
            <a:off x="3891336" y="2679192"/>
            <a:ext cx="1215526"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田町</a:t>
            </a:r>
            <a:endParaRPr lang="en-US" sz="1050" dirty="0"/>
          </a:p>
        </p:txBody>
      </p:sp>
      <p:sp>
        <p:nvSpPr>
          <p:cNvPr id="32" name="Shape 30"/>
          <p:cNvSpPr/>
          <p:nvPr/>
        </p:nvSpPr>
        <p:spPr>
          <a:xfrm>
            <a:off x="5106861" y="1600200"/>
            <a:ext cx="1114232" cy="384048"/>
          </a:xfrm>
          <a:prstGeom prst="rect">
            <a:avLst/>
          </a:prstGeom>
          <a:solidFill>
            <a:srgbClr val="3C5A4F"/>
          </a:solidFill>
          <a:ln w="9525">
            <a:solidFill>
              <a:srgbClr val="FFFFFF"/>
            </a:solidFill>
            <a:prstDash val="solid"/>
          </a:ln>
        </p:spPr>
      </p:sp>
      <p:sp>
        <p:nvSpPr>
          <p:cNvPr id="33" name="Text 31"/>
          <p:cNvSpPr/>
          <p:nvPr/>
        </p:nvSpPr>
        <p:spPr>
          <a:xfrm>
            <a:off x="5106861" y="1600200"/>
            <a:ext cx="111423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駅徒歩分</a:t>
            </a:r>
            <a:endParaRPr lang="en-US" sz="1100" dirty="0"/>
          </a:p>
        </p:txBody>
      </p:sp>
      <p:sp>
        <p:nvSpPr>
          <p:cNvPr id="34" name="Shape 32"/>
          <p:cNvSpPr/>
          <p:nvPr/>
        </p:nvSpPr>
        <p:spPr>
          <a:xfrm>
            <a:off x="5106861" y="1984248"/>
            <a:ext cx="1114232" cy="347472"/>
          </a:xfrm>
          <a:prstGeom prst="rect">
            <a:avLst/>
          </a:prstGeom>
          <a:solidFill>
            <a:srgbClr val="FBF9F4"/>
          </a:solidFill>
          <a:ln w="9525">
            <a:solidFill>
              <a:srgbClr val="E4DFD4"/>
            </a:solidFill>
            <a:prstDash val="solid"/>
          </a:ln>
        </p:spPr>
      </p:sp>
      <p:sp>
        <p:nvSpPr>
          <p:cNvPr id="35" name="Text 33"/>
          <p:cNvSpPr/>
          <p:nvPr/>
        </p:nvSpPr>
        <p:spPr>
          <a:xfrm>
            <a:off x="5106861" y="1984248"/>
            <a:ext cx="1114232"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3</a:t>
            </a:r>
            <a:endParaRPr lang="en-US" sz="1050" dirty="0"/>
          </a:p>
        </p:txBody>
      </p:sp>
      <p:sp>
        <p:nvSpPr>
          <p:cNvPr id="36" name="Shape 34"/>
          <p:cNvSpPr/>
          <p:nvPr/>
        </p:nvSpPr>
        <p:spPr>
          <a:xfrm>
            <a:off x="5106861" y="2331720"/>
            <a:ext cx="1114232" cy="347472"/>
          </a:xfrm>
          <a:prstGeom prst="rect">
            <a:avLst/>
          </a:prstGeom>
          <a:solidFill>
            <a:srgbClr val="FFFFFF"/>
          </a:solidFill>
          <a:ln w="9525">
            <a:solidFill>
              <a:srgbClr val="E4DFD4"/>
            </a:solidFill>
            <a:prstDash val="solid"/>
          </a:ln>
        </p:spPr>
      </p:sp>
      <p:sp>
        <p:nvSpPr>
          <p:cNvPr id="37" name="Text 35"/>
          <p:cNvSpPr/>
          <p:nvPr/>
        </p:nvSpPr>
        <p:spPr>
          <a:xfrm>
            <a:off x="5106861" y="2331720"/>
            <a:ext cx="1114232"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3</a:t>
            </a:r>
            <a:endParaRPr lang="en-US" sz="1050" dirty="0"/>
          </a:p>
        </p:txBody>
      </p:sp>
      <p:sp>
        <p:nvSpPr>
          <p:cNvPr id="38" name="Shape 36"/>
          <p:cNvSpPr/>
          <p:nvPr/>
        </p:nvSpPr>
        <p:spPr>
          <a:xfrm>
            <a:off x="5106861" y="2679192"/>
            <a:ext cx="1114232" cy="347472"/>
          </a:xfrm>
          <a:prstGeom prst="rect">
            <a:avLst/>
          </a:prstGeom>
          <a:solidFill>
            <a:srgbClr val="FBF9F4"/>
          </a:solidFill>
          <a:ln w="9525">
            <a:solidFill>
              <a:srgbClr val="E4DFD4"/>
            </a:solidFill>
            <a:prstDash val="solid"/>
          </a:ln>
        </p:spPr>
      </p:sp>
      <p:sp>
        <p:nvSpPr>
          <p:cNvPr id="39" name="Text 37"/>
          <p:cNvSpPr/>
          <p:nvPr/>
        </p:nvSpPr>
        <p:spPr>
          <a:xfrm>
            <a:off x="5106861" y="2679192"/>
            <a:ext cx="1114232"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4</a:t>
            </a:r>
            <a:endParaRPr lang="en-US" sz="1050" dirty="0"/>
          </a:p>
        </p:txBody>
      </p:sp>
      <p:sp>
        <p:nvSpPr>
          <p:cNvPr id="40" name="Shape 38"/>
          <p:cNvSpPr/>
          <p:nvPr/>
        </p:nvSpPr>
        <p:spPr>
          <a:xfrm>
            <a:off x="6221093" y="1600200"/>
            <a:ext cx="1012938" cy="384048"/>
          </a:xfrm>
          <a:prstGeom prst="rect">
            <a:avLst/>
          </a:prstGeom>
          <a:solidFill>
            <a:srgbClr val="3C5A4F"/>
          </a:solidFill>
          <a:ln w="9525">
            <a:solidFill>
              <a:srgbClr val="FFFFFF"/>
            </a:solidFill>
            <a:prstDash val="solid"/>
          </a:ln>
        </p:spPr>
      </p:sp>
      <p:sp>
        <p:nvSpPr>
          <p:cNvPr id="41" name="Text 39"/>
          <p:cNvSpPr/>
          <p:nvPr/>
        </p:nvSpPr>
        <p:spPr>
          <a:xfrm>
            <a:off x="6221093" y="1600200"/>
            <a:ext cx="101293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竣工年</a:t>
            </a:r>
            <a:endParaRPr lang="en-US" sz="1100" dirty="0"/>
          </a:p>
        </p:txBody>
      </p:sp>
      <p:sp>
        <p:nvSpPr>
          <p:cNvPr id="42" name="Shape 40"/>
          <p:cNvSpPr/>
          <p:nvPr/>
        </p:nvSpPr>
        <p:spPr>
          <a:xfrm>
            <a:off x="6221093" y="1984248"/>
            <a:ext cx="1012938" cy="347472"/>
          </a:xfrm>
          <a:prstGeom prst="rect">
            <a:avLst/>
          </a:prstGeom>
          <a:solidFill>
            <a:srgbClr val="FBF9F4"/>
          </a:solidFill>
          <a:ln w="9525">
            <a:solidFill>
              <a:srgbClr val="E4DFD4"/>
            </a:solidFill>
            <a:prstDash val="solid"/>
          </a:ln>
        </p:spPr>
      </p:sp>
      <p:sp>
        <p:nvSpPr>
          <p:cNvPr id="43" name="Text 41"/>
          <p:cNvSpPr/>
          <p:nvPr/>
        </p:nvSpPr>
        <p:spPr>
          <a:xfrm>
            <a:off x="6221093" y="1984248"/>
            <a:ext cx="1012938"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2012</a:t>
            </a:r>
            <a:endParaRPr lang="en-US" sz="1050" dirty="0"/>
          </a:p>
        </p:txBody>
      </p:sp>
      <p:sp>
        <p:nvSpPr>
          <p:cNvPr id="44" name="Shape 42"/>
          <p:cNvSpPr/>
          <p:nvPr/>
        </p:nvSpPr>
        <p:spPr>
          <a:xfrm>
            <a:off x="6221093" y="2331720"/>
            <a:ext cx="1012938" cy="347472"/>
          </a:xfrm>
          <a:prstGeom prst="rect">
            <a:avLst/>
          </a:prstGeom>
          <a:solidFill>
            <a:srgbClr val="FFFFFF"/>
          </a:solidFill>
          <a:ln w="9525">
            <a:solidFill>
              <a:srgbClr val="E4DFD4"/>
            </a:solidFill>
            <a:prstDash val="solid"/>
          </a:ln>
        </p:spPr>
      </p:sp>
      <p:sp>
        <p:nvSpPr>
          <p:cNvPr id="45" name="Text 43"/>
          <p:cNvSpPr/>
          <p:nvPr/>
        </p:nvSpPr>
        <p:spPr>
          <a:xfrm>
            <a:off x="6221093" y="2331720"/>
            <a:ext cx="1012938"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2012</a:t>
            </a:r>
            <a:endParaRPr lang="en-US" sz="1050" dirty="0"/>
          </a:p>
        </p:txBody>
      </p:sp>
      <p:sp>
        <p:nvSpPr>
          <p:cNvPr id="46" name="Shape 44"/>
          <p:cNvSpPr/>
          <p:nvPr/>
        </p:nvSpPr>
        <p:spPr>
          <a:xfrm>
            <a:off x="6221093" y="2679192"/>
            <a:ext cx="1012938" cy="347472"/>
          </a:xfrm>
          <a:prstGeom prst="rect">
            <a:avLst/>
          </a:prstGeom>
          <a:solidFill>
            <a:srgbClr val="FBF9F4"/>
          </a:solidFill>
          <a:ln w="9525">
            <a:solidFill>
              <a:srgbClr val="E4DFD4"/>
            </a:solidFill>
            <a:prstDash val="solid"/>
          </a:ln>
        </p:spPr>
      </p:sp>
      <p:sp>
        <p:nvSpPr>
          <p:cNvPr id="47" name="Text 45"/>
          <p:cNvSpPr/>
          <p:nvPr/>
        </p:nvSpPr>
        <p:spPr>
          <a:xfrm>
            <a:off x="6221093" y="2679192"/>
            <a:ext cx="1012938"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2008</a:t>
            </a:r>
            <a:endParaRPr lang="en-US" sz="1050" dirty="0"/>
          </a:p>
        </p:txBody>
      </p:sp>
      <p:sp>
        <p:nvSpPr>
          <p:cNvPr id="48" name="Shape 46"/>
          <p:cNvSpPr/>
          <p:nvPr/>
        </p:nvSpPr>
        <p:spPr>
          <a:xfrm>
            <a:off x="7234031" y="1600200"/>
            <a:ext cx="1266173" cy="384048"/>
          </a:xfrm>
          <a:prstGeom prst="rect">
            <a:avLst/>
          </a:prstGeom>
          <a:solidFill>
            <a:srgbClr val="3C5A4F"/>
          </a:solidFill>
          <a:ln w="9525">
            <a:solidFill>
              <a:srgbClr val="FFFFFF"/>
            </a:solidFill>
            <a:prstDash val="solid"/>
          </a:ln>
        </p:spPr>
      </p:sp>
      <p:sp>
        <p:nvSpPr>
          <p:cNvPr id="49" name="Text 47"/>
          <p:cNvSpPr/>
          <p:nvPr/>
        </p:nvSpPr>
        <p:spPr>
          <a:xfrm>
            <a:off x="7234031" y="1600200"/>
            <a:ext cx="1266173"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借地期限年</a:t>
            </a:r>
            <a:endParaRPr lang="en-US" sz="1100" dirty="0"/>
          </a:p>
        </p:txBody>
      </p:sp>
      <p:sp>
        <p:nvSpPr>
          <p:cNvPr id="50" name="Shape 48"/>
          <p:cNvSpPr/>
          <p:nvPr/>
        </p:nvSpPr>
        <p:spPr>
          <a:xfrm>
            <a:off x="7234031" y="1984248"/>
            <a:ext cx="1266173" cy="347472"/>
          </a:xfrm>
          <a:prstGeom prst="rect">
            <a:avLst/>
          </a:prstGeom>
          <a:solidFill>
            <a:srgbClr val="FBF9F4"/>
          </a:solidFill>
          <a:ln w="9525">
            <a:solidFill>
              <a:srgbClr val="E4DFD4"/>
            </a:solidFill>
            <a:prstDash val="solid"/>
          </a:ln>
        </p:spPr>
      </p:sp>
      <p:sp>
        <p:nvSpPr>
          <p:cNvPr id="51" name="Text 49"/>
          <p:cNvSpPr/>
          <p:nvPr/>
        </p:nvSpPr>
        <p:spPr>
          <a:xfrm>
            <a:off x="7234031" y="1984248"/>
            <a:ext cx="126617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2082</a:t>
            </a:r>
            <a:endParaRPr lang="en-US" sz="1050" dirty="0"/>
          </a:p>
        </p:txBody>
      </p:sp>
      <p:sp>
        <p:nvSpPr>
          <p:cNvPr id="52" name="Shape 50"/>
          <p:cNvSpPr/>
          <p:nvPr/>
        </p:nvSpPr>
        <p:spPr>
          <a:xfrm>
            <a:off x="7234031" y="2331720"/>
            <a:ext cx="1266173" cy="347472"/>
          </a:xfrm>
          <a:prstGeom prst="rect">
            <a:avLst/>
          </a:prstGeom>
          <a:solidFill>
            <a:srgbClr val="FFFFFF"/>
          </a:solidFill>
          <a:ln w="9525">
            <a:solidFill>
              <a:srgbClr val="E4DFD4"/>
            </a:solidFill>
            <a:prstDash val="solid"/>
          </a:ln>
        </p:spPr>
      </p:sp>
      <p:sp>
        <p:nvSpPr>
          <p:cNvPr id="53" name="Text 51"/>
          <p:cNvSpPr/>
          <p:nvPr/>
        </p:nvSpPr>
        <p:spPr>
          <a:xfrm>
            <a:off x="7234031" y="2331720"/>
            <a:ext cx="126617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2082</a:t>
            </a:r>
            <a:endParaRPr lang="en-US" sz="1050" dirty="0"/>
          </a:p>
        </p:txBody>
      </p:sp>
      <p:sp>
        <p:nvSpPr>
          <p:cNvPr id="54" name="Shape 52"/>
          <p:cNvSpPr/>
          <p:nvPr/>
        </p:nvSpPr>
        <p:spPr>
          <a:xfrm>
            <a:off x="7234031" y="2679192"/>
            <a:ext cx="1266173" cy="347472"/>
          </a:xfrm>
          <a:prstGeom prst="rect">
            <a:avLst/>
          </a:prstGeom>
          <a:solidFill>
            <a:srgbClr val="FBF9F4"/>
          </a:solidFill>
          <a:ln w="9525">
            <a:solidFill>
              <a:srgbClr val="E4DFD4"/>
            </a:solidFill>
            <a:prstDash val="solid"/>
          </a:ln>
        </p:spPr>
      </p:sp>
      <p:sp>
        <p:nvSpPr>
          <p:cNvPr id="55" name="Text 53"/>
          <p:cNvSpPr/>
          <p:nvPr/>
        </p:nvSpPr>
        <p:spPr>
          <a:xfrm>
            <a:off x="7234031" y="2679192"/>
            <a:ext cx="126617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2078</a:t>
            </a:r>
            <a:endParaRPr lang="en-US" sz="1050" dirty="0"/>
          </a:p>
        </p:txBody>
      </p:sp>
      <p:sp>
        <p:nvSpPr>
          <p:cNvPr id="56" name="Shape 54"/>
          <p:cNvSpPr/>
          <p:nvPr/>
        </p:nvSpPr>
        <p:spPr>
          <a:xfrm>
            <a:off x="8500204" y="1600200"/>
            <a:ext cx="1012938" cy="384048"/>
          </a:xfrm>
          <a:prstGeom prst="rect">
            <a:avLst/>
          </a:prstGeom>
          <a:solidFill>
            <a:srgbClr val="3C5A4F"/>
          </a:solidFill>
          <a:ln w="9525">
            <a:solidFill>
              <a:srgbClr val="FFFFFF"/>
            </a:solidFill>
            <a:prstDash val="solid"/>
          </a:ln>
        </p:spPr>
      </p:sp>
      <p:sp>
        <p:nvSpPr>
          <p:cNvPr id="57" name="Text 55"/>
          <p:cNvSpPr/>
          <p:nvPr/>
        </p:nvSpPr>
        <p:spPr>
          <a:xfrm>
            <a:off x="8500204" y="1600200"/>
            <a:ext cx="101293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総戸数</a:t>
            </a:r>
            <a:endParaRPr lang="en-US" sz="1100" dirty="0"/>
          </a:p>
        </p:txBody>
      </p:sp>
      <p:sp>
        <p:nvSpPr>
          <p:cNvPr id="58" name="Shape 56"/>
          <p:cNvSpPr/>
          <p:nvPr/>
        </p:nvSpPr>
        <p:spPr>
          <a:xfrm>
            <a:off x="8500204" y="1984248"/>
            <a:ext cx="1012938" cy="347472"/>
          </a:xfrm>
          <a:prstGeom prst="rect">
            <a:avLst/>
          </a:prstGeom>
          <a:solidFill>
            <a:srgbClr val="FBF9F4"/>
          </a:solidFill>
          <a:ln w="9525">
            <a:solidFill>
              <a:srgbClr val="E4DFD4"/>
            </a:solidFill>
            <a:prstDash val="solid"/>
          </a:ln>
        </p:spPr>
      </p:sp>
      <p:sp>
        <p:nvSpPr>
          <p:cNvPr id="59" name="Text 57"/>
          <p:cNvSpPr/>
          <p:nvPr/>
        </p:nvSpPr>
        <p:spPr>
          <a:xfrm>
            <a:off x="8500204" y="1984248"/>
            <a:ext cx="1012938"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120</a:t>
            </a:r>
            <a:endParaRPr lang="en-US" sz="1050" dirty="0"/>
          </a:p>
        </p:txBody>
      </p:sp>
      <p:sp>
        <p:nvSpPr>
          <p:cNvPr id="60" name="Shape 58"/>
          <p:cNvSpPr/>
          <p:nvPr/>
        </p:nvSpPr>
        <p:spPr>
          <a:xfrm>
            <a:off x="8500204" y="2331720"/>
            <a:ext cx="1012938" cy="347472"/>
          </a:xfrm>
          <a:prstGeom prst="rect">
            <a:avLst/>
          </a:prstGeom>
          <a:solidFill>
            <a:srgbClr val="FFFFFF"/>
          </a:solidFill>
          <a:ln w="9525">
            <a:solidFill>
              <a:srgbClr val="E4DFD4"/>
            </a:solidFill>
            <a:prstDash val="solid"/>
          </a:ln>
        </p:spPr>
      </p:sp>
      <p:sp>
        <p:nvSpPr>
          <p:cNvPr id="61" name="Text 59"/>
          <p:cNvSpPr/>
          <p:nvPr/>
        </p:nvSpPr>
        <p:spPr>
          <a:xfrm>
            <a:off x="8500204" y="2331720"/>
            <a:ext cx="1012938"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120</a:t>
            </a:r>
            <a:endParaRPr lang="en-US" sz="1050" dirty="0"/>
          </a:p>
        </p:txBody>
      </p:sp>
      <p:sp>
        <p:nvSpPr>
          <p:cNvPr id="62" name="Shape 60"/>
          <p:cNvSpPr/>
          <p:nvPr/>
        </p:nvSpPr>
        <p:spPr>
          <a:xfrm>
            <a:off x="8500204" y="2679192"/>
            <a:ext cx="1012938" cy="347472"/>
          </a:xfrm>
          <a:prstGeom prst="rect">
            <a:avLst/>
          </a:prstGeom>
          <a:solidFill>
            <a:srgbClr val="FBF9F4"/>
          </a:solidFill>
          <a:ln w="9525">
            <a:solidFill>
              <a:srgbClr val="E4DFD4"/>
            </a:solidFill>
            <a:prstDash val="solid"/>
          </a:ln>
        </p:spPr>
      </p:sp>
      <p:sp>
        <p:nvSpPr>
          <p:cNvPr id="63" name="Text 61"/>
          <p:cNvSpPr/>
          <p:nvPr/>
        </p:nvSpPr>
        <p:spPr>
          <a:xfrm>
            <a:off x="8500204" y="2679192"/>
            <a:ext cx="1012938"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600</a:t>
            </a:r>
            <a:endParaRPr lang="en-US" sz="1050" dirty="0"/>
          </a:p>
        </p:txBody>
      </p:sp>
      <p:sp>
        <p:nvSpPr>
          <p:cNvPr id="64" name="Shape 62"/>
          <p:cNvSpPr/>
          <p:nvPr/>
        </p:nvSpPr>
        <p:spPr>
          <a:xfrm>
            <a:off x="9513142" y="1600200"/>
            <a:ext cx="1012938" cy="384048"/>
          </a:xfrm>
          <a:prstGeom prst="rect">
            <a:avLst/>
          </a:prstGeom>
          <a:solidFill>
            <a:srgbClr val="3C5A4F"/>
          </a:solidFill>
          <a:ln w="9525">
            <a:solidFill>
              <a:srgbClr val="FFFFFF"/>
            </a:solidFill>
            <a:prstDash val="solid"/>
          </a:ln>
        </p:spPr>
      </p:sp>
      <p:sp>
        <p:nvSpPr>
          <p:cNvPr id="65" name="Text 63"/>
          <p:cNvSpPr/>
          <p:nvPr/>
        </p:nvSpPr>
        <p:spPr>
          <a:xfrm>
            <a:off x="9513142" y="1600200"/>
            <a:ext cx="101293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価格</a:t>
            </a:r>
            <a:endParaRPr lang="en-US" sz="1100" dirty="0"/>
          </a:p>
        </p:txBody>
      </p:sp>
      <p:sp>
        <p:nvSpPr>
          <p:cNvPr id="66" name="Shape 64"/>
          <p:cNvSpPr/>
          <p:nvPr/>
        </p:nvSpPr>
        <p:spPr>
          <a:xfrm>
            <a:off x="9513142" y="1984248"/>
            <a:ext cx="1012938" cy="347472"/>
          </a:xfrm>
          <a:prstGeom prst="rect">
            <a:avLst/>
          </a:prstGeom>
          <a:solidFill>
            <a:srgbClr val="FBF9F4"/>
          </a:solidFill>
          <a:ln w="9525">
            <a:solidFill>
              <a:srgbClr val="E4DFD4"/>
            </a:solidFill>
            <a:prstDash val="solid"/>
          </a:ln>
        </p:spPr>
      </p:sp>
      <p:sp>
        <p:nvSpPr>
          <p:cNvPr id="67" name="Text 65"/>
          <p:cNvSpPr/>
          <p:nvPr/>
        </p:nvSpPr>
        <p:spPr>
          <a:xfrm>
            <a:off x="9513142" y="1984248"/>
            <a:ext cx="1012938"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5800</a:t>
            </a:r>
            <a:endParaRPr lang="en-US" sz="1050" dirty="0"/>
          </a:p>
        </p:txBody>
      </p:sp>
      <p:sp>
        <p:nvSpPr>
          <p:cNvPr id="68" name="Shape 66"/>
          <p:cNvSpPr/>
          <p:nvPr/>
        </p:nvSpPr>
        <p:spPr>
          <a:xfrm>
            <a:off x="9513142" y="2331720"/>
            <a:ext cx="1012938" cy="347472"/>
          </a:xfrm>
          <a:prstGeom prst="rect">
            <a:avLst/>
          </a:prstGeom>
          <a:solidFill>
            <a:srgbClr val="FFFFFF"/>
          </a:solidFill>
          <a:ln w="9525">
            <a:solidFill>
              <a:srgbClr val="E4DFD4"/>
            </a:solidFill>
            <a:prstDash val="solid"/>
          </a:ln>
        </p:spPr>
      </p:sp>
      <p:sp>
        <p:nvSpPr>
          <p:cNvPr id="69" name="Text 67"/>
          <p:cNvSpPr/>
          <p:nvPr/>
        </p:nvSpPr>
        <p:spPr>
          <a:xfrm>
            <a:off x="9513142" y="2331720"/>
            <a:ext cx="1012938"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7450</a:t>
            </a:r>
            <a:endParaRPr lang="en-US" sz="1050" dirty="0"/>
          </a:p>
        </p:txBody>
      </p:sp>
      <p:sp>
        <p:nvSpPr>
          <p:cNvPr id="70" name="Shape 68"/>
          <p:cNvSpPr/>
          <p:nvPr/>
        </p:nvSpPr>
        <p:spPr>
          <a:xfrm>
            <a:off x="9513142" y="2679192"/>
            <a:ext cx="1012938" cy="347472"/>
          </a:xfrm>
          <a:prstGeom prst="rect">
            <a:avLst/>
          </a:prstGeom>
          <a:solidFill>
            <a:srgbClr val="FBF9F4"/>
          </a:solidFill>
          <a:ln w="9525">
            <a:solidFill>
              <a:srgbClr val="E4DFD4"/>
            </a:solidFill>
            <a:prstDash val="solid"/>
          </a:ln>
        </p:spPr>
      </p:sp>
      <p:sp>
        <p:nvSpPr>
          <p:cNvPr id="71" name="Text 69"/>
          <p:cNvSpPr/>
          <p:nvPr/>
        </p:nvSpPr>
        <p:spPr>
          <a:xfrm>
            <a:off x="9513142" y="2679192"/>
            <a:ext cx="1012938"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6900</a:t>
            </a:r>
            <a:endParaRPr lang="en-US" sz="1050" dirty="0"/>
          </a:p>
        </p:txBody>
      </p:sp>
      <p:sp>
        <p:nvSpPr>
          <p:cNvPr id="72" name="Shape 70"/>
          <p:cNvSpPr/>
          <p:nvPr/>
        </p:nvSpPr>
        <p:spPr>
          <a:xfrm>
            <a:off x="10526080" y="1600200"/>
            <a:ext cx="1114232" cy="384048"/>
          </a:xfrm>
          <a:prstGeom prst="rect">
            <a:avLst/>
          </a:prstGeom>
          <a:solidFill>
            <a:srgbClr val="3C5A4F"/>
          </a:solidFill>
          <a:ln w="9525">
            <a:solidFill>
              <a:srgbClr val="FFFFFF"/>
            </a:solidFill>
            <a:prstDash val="solid"/>
          </a:ln>
        </p:spPr>
      </p:sp>
      <p:sp>
        <p:nvSpPr>
          <p:cNvPr id="73" name="Text 71"/>
          <p:cNvSpPr/>
          <p:nvPr/>
        </p:nvSpPr>
        <p:spPr>
          <a:xfrm>
            <a:off x="10526080" y="1600200"/>
            <a:ext cx="111423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専有面積</a:t>
            </a:r>
            <a:endParaRPr lang="en-US" sz="1100" dirty="0"/>
          </a:p>
        </p:txBody>
      </p:sp>
      <p:sp>
        <p:nvSpPr>
          <p:cNvPr id="74" name="Shape 72"/>
          <p:cNvSpPr/>
          <p:nvPr/>
        </p:nvSpPr>
        <p:spPr>
          <a:xfrm>
            <a:off x="10526080" y="1984248"/>
            <a:ext cx="1114232" cy="347472"/>
          </a:xfrm>
          <a:prstGeom prst="rect">
            <a:avLst/>
          </a:prstGeom>
          <a:solidFill>
            <a:srgbClr val="FBF9F4"/>
          </a:solidFill>
          <a:ln w="9525">
            <a:solidFill>
              <a:srgbClr val="E4DFD4"/>
            </a:solidFill>
            <a:prstDash val="solid"/>
          </a:ln>
        </p:spPr>
      </p:sp>
      <p:sp>
        <p:nvSpPr>
          <p:cNvPr id="75" name="Text 73"/>
          <p:cNvSpPr/>
          <p:nvPr/>
        </p:nvSpPr>
        <p:spPr>
          <a:xfrm>
            <a:off x="10526080" y="1984248"/>
            <a:ext cx="1114232"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65.2</a:t>
            </a:r>
            <a:endParaRPr lang="en-US" sz="1050" dirty="0"/>
          </a:p>
        </p:txBody>
      </p:sp>
      <p:sp>
        <p:nvSpPr>
          <p:cNvPr id="76" name="Shape 74"/>
          <p:cNvSpPr/>
          <p:nvPr/>
        </p:nvSpPr>
        <p:spPr>
          <a:xfrm>
            <a:off x="10526080" y="2331720"/>
            <a:ext cx="1114232" cy="347472"/>
          </a:xfrm>
          <a:prstGeom prst="rect">
            <a:avLst/>
          </a:prstGeom>
          <a:solidFill>
            <a:srgbClr val="FFFFFF"/>
          </a:solidFill>
          <a:ln w="9525">
            <a:solidFill>
              <a:srgbClr val="E4DFD4"/>
            </a:solidFill>
            <a:prstDash val="solid"/>
          </a:ln>
        </p:spPr>
      </p:sp>
      <p:sp>
        <p:nvSpPr>
          <p:cNvPr id="77" name="Text 75"/>
          <p:cNvSpPr/>
          <p:nvPr/>
        </p:nvSpPr>
        <p:spPr>
          <a:xfrm>
            <a:off x="10526080" y="2331720"/>
            <a:ext cx="1114232"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78.4</a:t>
            </a:r>
            <a:endParaRPr lang="en-US" sz="1050" dirty="0"/>
          </a:p>
        </p:txBody>
      </p:sp>
      <p:sp>
        <p:nvSpPr>
          <p:cNvPr id="78" name="Shape 76"/>
          <p:cNvSpPr/>
          <p:nvPr/>
        </p:nvSpPr>
        <p:spPr>
          <a:xfrm>
            <a:off x="10526080" y="2679192"/>
            <a:ext cx="1114232" cy="347472"/>
          </a:xfrm>
          <a:prstGeom prst="rect">
            <a:avLst/>
          </a:prstGeom>
          <a:solidFill>
            <a:srgbClr val="FBF9F4"/>
          </a:solidFill>
          <a:ln w="9525">
            <a:solidFill>
              <a:srgbClr val="E4DFD4"/>
            </a:solidFill>
            <a:prstDash val="solid"/>
          </a:ln>
        </p:spPr>
      </p:sp>
      <p:sp>
        <p:nvSpPr>
          <p:cNvPr id="79" name="Text 77"/>
          <p:cNvSpPr/>
          <p:nvPr/>
        </p:nvSpPr>
        <p:spPr>
          <a:xfrm>
            <a:off x="10526080" y="2679192"/>
            <a:ext cx="1114232"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70.1</a:t>
            </a:r>
            <a:endParaRPr lang="en-US" sz="1050" dirty="0"/>
          </a:p>
        </p:txBody>
      </p:sp>
      <p:sp>
        <p:nvSpPr>
          <p:cNvPr id="80" name="Text 78"/>
          <p:cNvSpPr/>
          <p:nvPr/>
        </p:nvSpPr>
        <p:spPr>
          <a:xfrm>
            <a:off x="640080" y="3346704"/>
            <a:ext cx="10908792" cy="365760"/>
          </a:xfrm>
          <a:prstGeom prst="rect">
            <a:avLst/>
          </a:prstGeom>
          <a:noFill/>
          <a:ln/>
        </p:spPr>
        <p:txBody>
          <a:bodyPr wrap="square" lIns="0" tIns="0" rIns="0" bIns="0" rtlCol="0" anchor="ctr"/>
          <a:lstStyle/>
          <a:p>
            <a:pPr indent="0" marL="0">
              <a:buNone/>
            </a:pPr>
            <a:r>
              <a:rPr lang="en-US" sz="1350" b="1" dirty="0">
                <a:solidFill>
                  <a:srgbClr val="3C5A4F"/>
                </a:solidFill>
                <a:latin typeface="Yu Gothic" pitchFamily="34" charset="0"/>
                <a:ea typeface="Yu Gothic" pitchFamily="34" charset="-122"/>
                <a:cs typeface="Yu Gothic" pitchFamily="34" charset="-120"/>
              </a:rPr>
              <a:t>価格　</a:t>
            </a:r>
            <a:pPr indent="0" marL="0">
              <a:buNone/>
            </a:pPr>
            <a:r>
              <a:rPr lang="en-US" sz="1350" dirty="0">
                <a:solidFill>
                  <a:srgbClr val="1F2A28"/>
                </a:solidFill>
                <a:latin typeface="Yu Gothic" pitchFamily="34" charset="0"/>
                <a:ea typeface="Yu Gothic" pitchFamily="34" charset="-122"/>
                <a:cs typeface="Yu Gothic" pitchFamily="34" charset="-120"/>
              </a:rPr>
              <a:t>万円の数字だけ（5,800万円 → 5800）</a:t>
            </a:r>
            <a:endParaRPr lang="en-US" sz="1350" dirty="0"/>
          </a:p>
        </p:txBody>
      </p:sp>
      <p:sp>
        <p:nvSpPr>
          <p:cNvPr id="81" name="Text 79"/>
          <p:cNvSpPr/>
          <p:nvPr/>
        </p:nvSpPr>
        <p:spPr>
          <a:xfrm>
            <a:off x="640080" y="3758184"/>
            <a:ext cx="10908792" cy="365760"/>
          </a:xfrm>
          <a:prstGeom prst="rect">
            <a:avLst/>
          </a:prstGeom>
          <a:noFill/>
          <a:ln/>
        </p:spPr>
        <p:txBody>
          <a:bodyPr wrap="square" lIns="0" tIns="0" rIns="0" bIns="0" rtlCol="0" anchor="ctr"/>
          <a:lstStyle/>
          <a:p>
            <a:pPr indent="0" marL="0">
              <a:buNone/>
            </a:pPr>
            <a:r>
              <a:rPr lang="en-US" sz="1350" b="1" dirty="0">
                <a:solidFill>
                  <a:srgbClr val="3C5A4F"/>
                </a:solidFill>
                <a:latin typeface="Yu Gothic" pitchFamily="34" charset="0"/>
                <a:ea typeface="Yu Gothic" pitchFamily="34" charset="-122"/>
                <a:cs typeface="Yu Gothic" pitchFamily="34" charset="-120"/>
              </a:rPr>
              <a:t>専有面積　</a:t>
            </a:r>
            <a:pPr indent="0" marL="0">
              <a:buNone/>
            </a:pPr>
            <a:r>
              <a:rPr lang="en-US" sz="1350" dirty="0">
                <a:solidFill>
                  <a:srgbClr val="1F2A28"/>
                </a:solidFill>
                <a:latin typeface="Yu Gothic" pitchFamily="34" charset="0"/>
                <a:ea typeface="Yu Gothic" pitchFamily="34" charset="-122"/>
                <a:cs typeface="Yu Gothic" pitchFamily="34" charset="-120"/>
              </a:rPr>
              <a:t>㎡の数字だけ（65.2㎡ → 65.2）</a:t>
            </a:r>
            <a:endParaRPr lang="en-US" sz="1350" dirty="0"/>
          </a:p>
        </p:txBody>
      </p:sp>
      <p:sp>
        <p:nvSpPr>
          <p:cNvPr id="82" name="Text 80"/>
          <p:cNvSpPr/>
          <p:nvPr/>
        </p:nvSpPr>
        <p:spPr>
          <a:xfrm>
            <a:off x="640080" y="4169664"/>
            <a:ext cx="10908792" cy="365760"/>
          </a:xfrm>
          <a:prstGeom prst="rect">
            <a:avLst/>
          </a:prstGeom>
          <a:noFill/>
          <a:ln/>
        </p:spPr>
        <p:txBody>
          <a:bodyPr wrap="square" lIns="0" tIns="0" rIns="0" bIns="0" rtlCol="0" anchor="ctr"/>
          <a:lstStyle/>
          <a:p>
            <a:pPr indent="0" marL="0">
              <a:buNone/>
            </a:pPr>
            <a:r>
              <a:rPr lang="en-US" sz="1350" b="1" dirty="0">
                <a:solidFill>
                  <a:srgbClr val="3C5A4F"/>
                </a:solidFill>
                <a:latin typeface="Yu Gothic" pitchFamily="34" charset="0"/>
                <a:ea typeface="Yu Gothic" pitchFamily="34" charset="-122"/>
                <a:cs typeface="Yu Gothic" pitchFamily="34" charset="-120"/>
              </a:rPr>
              <a:t>駅徒歩分　</a:t>
            </a:r>
            <a:pPr indent="0" marL="0">
              <a:buNone/>
            </a:pPr>
            <a:r>
              <a:rPr lang="en-US" sz="1350" dirty="0">
                <a:solidFill>
                  <a:srgbClr val="1F2A28"/>
                </a:solidFill>
                <a:latin typeface="Yu Gothic" pitchFamily="34" charset="0"/>
                <a:ea typeface="Yu Gothic" pitchFamily="34" charset="-122"/>
                <a:cs typeface="Yu Gothic" pitchFamily="34" charset="-120"/>
              </a:rPr>
              <a:t>分の数字だけ（徒歩3分 → 3）。分からなければ空欄</a:t>
            </a:r>
            <a:endParaRPr lang="en-US" sz="1350" dirty="0"/>
          </a:p>
        </p:txBody>
      </p:sp>
      <p:sp>
        <p:nvSpPr>
          <p:cNvPr id="83" name="Text 81"/>
          <p:cNvSpPr/>
          <p:nvPr/>
        </p:nvSpPr>
        <p:spPr>
          <a:xfrm>
            <a:off x="640080" y="4581144"/>
            <a:ext cx="10908792" cy="365760"/>
          </a:xfrm>
          <a:prstGeom prst="rect">
            <a:avLst/>
          </a:prstGeom>
          <a:noFill/>
          <a:ln/>
        </p:spPr>
        <p:txBody>
          <a:bodyPr wrap="square" lIns="0" tIns="0" rIns="0" bIns="0" rtlCol="0" anchor="ctr"/>
          <a:lstStyle/>
          <a:p>
            <a:pPr indent="0" marL="0">
              <a:buNone/>
            </a:pPr>
            <a:r>
              <a:rPr lang="en-US" sz="1350" b="1" dirty="0">
                <a:solidFill>
                  <a:srgbClr val="3C5A4F"/>
                </a:solidFill>
                <a:latin typeface="Yu Gothic" pitchFamily="34" charset="0"/>
                <a:ea typeface="Yu Gothic" pitchFamily="34" charset="-122"/>
                <a:cs typeface="Yu Gothic" pitchFamily="34" charset="-120"/>
              </a:rPr>
              <a:t>竣工年・借地期限年　</a:t>
            </a:r>
            <a:pPr indent="0" marL="0">
              <a:buNone/>
            </a:pPr>
            <a:r>
              <a:rPr lang="en-US" sz="1350" dirty="0">
                <a:solidFill>
                  <a:srgbClr val="1F2A28"/>
                </a:solidFill>
                <a:latin typeface="Yu Gothic" pitchFamily="34" charset="0"/>
                <a:ea typeface="Yu Gothic" pitchFamily="34" charset="-122"/>
                <a:cs typeface="Yu Gothic" pitchFamily="34" charset="-120"/>
              </a:rPr>
              <a:t>西暦4桁（2012、2082）</a:t>
            </a:r>
            <a:endParaRPr lang="en-US" sz="1350" dirty="0"/>
          </a:p>
        </p:txBody>
      </p:sp>
      <p:sp>
        <p:nvSpPr>
          <p:cNvPr id="84" name="Text 82"/>
          <p:cNvSpPr/>
          <p:nvPr/>
        </p:nvSpPr>
        <p:spPr>
          <a:xfrm>
            <a:off x="640080" y="4992624"/>
            <a:ext cx="10908792" cy="365760"/>
          </a:xfrm>
          <a:prstGeom prst="rect">
            <a:avLst/>
          </a:prstGeom>
          <a:noFill/>
          <a:ln/>
        </p:spPr>
        <p:txBody>
          <a:bodyPr wrap="square" lIns="0" tIns="0" rIns="0" bIns="0" rtlCol="0" anchor="ctr"/>
          <a:lstStyle/>
          <a:p>
            <a:pPr indent="0" marL="0">
              <a:buNone/>
            </a:pPr>
            <a:r>
              <a:rPr lang="en-US" sz="1350" b="1" dirty="0">
                <a:solidFill>
                  <a:srgbClr val="3C5A4F"/>
                </a:solidFill>
                <a:latin typeface="Yu Gothic" pitchFamily="34" charset="0"/>
                <a:ea typeface="Yu Gothic" pitchFamily="34" charset="-122"/>
                <a:cs typeface="Yu Gothic" pitchFamily="34" charset="-120"/>
              </a:rPr>
              <a:t>物件名　</a:t>
            </a:r>
            <a:pPr indent="0" marL="0">
              <a:buNone/>
            </a:pPr>
            <a:r>
              <a:rPr lang="en-US" sz="1350" dirty="0">
                <a:solidFill>
                  <a:srgbClr val="1F2A28"/>
                </a:solidFill>
                <a:latin typeface="Yu Gothic" pitchFamily="34" charset="0"/>
                <a:ea typeface="Yu Gothic" pitchFamily="34" charset="-122"/>
                <a:cs typeface="Yu Gothic" pitchFamily="34" charset="-120"/>
              </a:rPr>
              <a:t>中古データと1文字も違わない名前にそろえる（全角・半角、スペースも）</a:t>
            </a:r>
            <a:endParaRPr lang="en-US" sz="1350" dirty="0"/>
          </a:p>
        </p:txBody>
      </p:sp>
      <p:sp>
        <p:nvSpPr>
          <p:cNvPr id="85" name="Shape 83"/>
          <p:cNvSpPr/>
          <p:nvPr/>
        </p:nvSpPr>
        <p:spPr>
          <a:xfrm>
            <a:off x="548640" y="5760720"/>
            <a:ext cx="11091672" cy="502920"/>
          </a:xfrm>
          <a:prstGeom prst="roundRect">
            <a:avLst>
              <a:gd name="adj" fmla="val 10909"/>
            </a:avLst>
          </a:prstGeom>
          <a:solidFill>
            <a:srgbClr val="F5F2EA"/>
          </a:solidFill>
          <a:ln/>
        </p:spPr>
      </p:sp>
      <p:sp>
        <p:nvSpPr>
          <p:cNvPr id="86" name="Shape 84"/>
          <p:cNvSpPr/>
          <p:nvPr/>
        </p:nvSpPr>
        <p:spPr>
          <a:xfrm>
            <a:off x="548640" y="5760720"/>
            <a:ext cx="73152" cy="502920"/>
          </a:xfrm>
          <a:prstGeom prst="rect">
            <a:avLst/>
          </a:prstGeom>
          <a:solidFill>
            <a:srgbClr val="B08D47"/>
          </a:solidFill>
          <a:ln/>
        </p:spPr>
      </p:sp>
      <p:sp>
        <p:nvSpPr>
          <p:cNvPr id="87" name="Text 85"/>
          <p:cNvSpPr/>
          <p:nvPr/>
        </p:nvSpPr>
        <p:spPr>
          <a:xfrm>
            <a:off x="777240" y="5760720"/>
            <a:ext cx="10725912" cy="50292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物件の「区・駅・年・戸数」は全住戸で同じ値を繰り返します。新築坪単価は、その物件の全住戸の平均で計算されます</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第4部　STEP 16</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中古データの形（1成約＝1行）</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1行目（列名）は、この5つを左からこの順番で</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36</a:t>
            </a:r>
            <a:endParaRPr lang="en-US" sz="900" dirty="0"/>
          </a:p>
        </p:txBody>
      </p:sp>
      <p:sp>
        <p:nvSpPr>
          <p:cNvPr id="8" name="Shape 6"/>
          <p:cNvSpPr/>
          <p:nvPr/>
        </p:nvSpPr>
        <p:spPr>
          <a:xfrm>
            <a:off x="548640" y="1600200"/>
            <a:ext cx="3604793" cy="384048"/>
          </a:xfrm>
          <a:prstGeom prst="rect">
            <a:avLst/>
          </a:prstGeom>
          <a:solidFill>
            <a:srgbClr val="3C5A4F"/>
          </a:solidFill>
          <a:ln w="9525">
            <a:solidFill>
              <a:srgbClr val="FFFFFF"/>
            </a:solidFill>
            <a:prstDash val="solid"/>
          </a:ln>
        </p:spPr>
      </p:sp>
      <p:sp>
        <p:nvSpPr>
          <p:cNvPr id="9" name="Text 7"/>
          <p:cNvSpPr/>
          <p:nvPr/>
        </p:nvSpPr>
        <p:spPr>
          <a:xfrm>
            <a:off x="548640" y="1600200"/>
            <a:ext cx="3604793"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物件名</a:t>
            </a:r>
            <a:endParaRPr lang="en-US" sz="1100" dirty="0"/>
          </a:p>
        </p:txBody>
      </p:sp>
      <p:sp>
        <p:nvSpPr>
          <p:cNvPr id="10" name="Shape 8"/>
          <p:cNvSpPr/>
          <p:nvPr/>
        </p:nvSpPr>
        <p:spPr>
          <a:xfrm>
            <a:off x="548640" y="1984248"/>
            <a:ext cx="3604793" cy="347472"/>
          </a:xfrm>
          <a:prstGeom prst="rect">
            <a:avLst/>
          </a:prstGeom>
          <a:solidFill>
            <a:srgbClr val="FBF9F4"/>
          </a:solidFill>
          <a:ln w="9525">
            <a:solidFill>
              <a:srgbClr val="E4DFD4"/>
            </a:solidFill>
            <a:prstDash val="solid"/>
          </a:ln>
        </p:spPr>
      </p:sp>
      <p:sp>
        <p:nvSpPr>
          <p:cNvPr id="11" name="Text 9"/>
          <p:cNvSpPr/>
          <p:nvPr/>
        </p:nvSpPr>
        <p:spPr>
          <a:xfrm>
            <a:off x="548640" y="1984248"/>
            <a:ext cx="360479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〇〇レジデンス</a:t>
            </a:r>
            <a:endParaRPr lang="en-US" sz="1050" dirty="0"/>
          </a:p>
        </p:txBody>
      </p:sp>
      <p:sp>
        <p:nvSpPr>
          <p:cNvPr id="12" name="Shape 10"/>
          <p:cNvSpPr/>
          <p:nvPr/>
        </p:nvSpPr>
        <p:spPr>
          <a:xfrm>
            <a:off x="548640" y="2331720"/>
            <a:ext cx="3604793" cy="347472"/>
          </a:xfrm>
          <a:prstGeom prst="rect">
            <a:avLst/>
          </a:prstGeom>
          <a:solidFill>
            <a:srgbClr val="FFFFFF"/>
          </a:solidFill>
          <a:ln w="9525">
            <a:solidFill>
              <a:srgbClr val="E4DFD4"/>
            </a:solidFill>
            <a:prstDash val="solid"/>
          </a:ln>
        </p:spPr>
      </p:sp>
      <p:sp>
        <p:nvSpPr>
          <p:cNvPr id="13" name="Text 11"/>
          <p:cNvSpPr/>
          <p:nvPr/>
        </p:nvSpPr>
        <p:spPr>
          <a:xfrm>
            <a:off x="548640" y="2331720"/>
            <a:ext cx="360479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〇〇レジデンス</a:t>
            </a:r>
            <a:endParaRPr lang="en-US" sz="1050" dirty="0"/>
          </a:p>
        </p:txBody>
      </p:sp>
      <p:sp>
        <p:nvSpPr>
          <p:cNvPr id="14" name="Shape 12"/>
          <p:cNvSpPr/>
          <p:nvPr/>
        </p:nvSpPr>
        <p:spPr>
          <a:xfrm>
            <a:off x="548640" y="2679192"/>
            <a:ext cx="3604793" cy="347472"/>
          </a:xfrm>
          <a:prstGeom prst="rect">
            <a:avLst/>
          </a:prstGeom>
          <a:solidFill>
            <a:srgbClr val="FBF9F4"/>
          </a:solidFill>
          <a:ln w="9525">
            <a:solidFill>
              <a:srgbClr val="E4DFD4"/>
            </a:solidFill>
            <a:prstDash val="solid"/>
          </a:ln>
        </p:spPr>
      </p:sp>
      <p:sp>
        <p:nvSpPr>
          <p:cNvPr id="15" name="Text 13"/>
          <p:cNvSpPr/>
          <p:nvPr/>
        </p:nvSpPr>
        <p:spPr>
          <a:xfrm>
            <a:off x="548640" y="2679192"/>
            <a:ext cx="360479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△△タワー</a:t>
            </a:r>
            <a:endParaRPr lang="en-US" sz="1050" dirty="0"/>
          </a:p>
        </p:txBody>
      </p:sp>
      <p:sp>
        <p:nvSpPr>
          <p:cNvPr id="16" name="Shape 14"/>
          <p:cNvSpPr/>
          <p:nvPr/>
        </p:nvSpPr>
        <p:spPr>
          <a:xfrm>
            <a:off x="4153433" y="1600200"/>
            <a:ext cx="2218334" cy="384048"/>
          </a:xfrm>
          <a:prstGeom prst="rect">
            <a:avLst/>
          </a:prstGeom>
          <a:solidFill>
            <a:srgbClr val="3C5A4F"/>
          </a:solidFill>
          <a:ln w="9525">
            <a:solidFill>
              <a:srgbClr val="FFFFFF"/>
            </a:solidFill>
            <a:prstDash val="solid"/>
          </a:ln>
        </p:spPr>
      </p:sp>
      <p:sp>
        <p:nvSpPr>
          <p:cNvPr id="17" name="Text 15"/>
          <p:cNvSpPr/>
          <p:nvPr/>
        </p:nvSpPr>
        <p:spPr>
          <a:xfrm>
            <a:off x="4153433" y="1600200"/>
            <a:ext cx="221833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成約年月</a:t>
            </a:r>
            <a:endParaRPr lang="en-US" sz="1100" dirty="0"/>
          </a:p>
        </p:txBody>
      </p:sp>
      <p:sp>
        <p:nvSpPr>
          <p:cNvPr id="18" name="Shape 16"/>
          <p:cNvSpPr/>
          <p:nvPr/>
        </p:nvSpPr>
        <p:spPr>
          <a:xfrm>
            <a:off x="4153433" y="1984248"/>
            <a:ext cx="2218334" cy="347472"/>
          </a:xfrm>
          <a:prstGeom prst="rect">
            <a:avLst/>
          </a:prstGeom>
          <a:solidFill>
            <a:srgbClr val="FBF9F4"/>
          </a:solidFill>
          <a:ln w="9525">
            <a:solidFill>
              <a:srgbClr val="E4DFD4"/>
            </a:solidFill>
            <a:prstDash val="solid"/>
          </a:ln>
        </p:spPr>
      </p:sp>
      <p:sp>
        <p:nvSpPr>
          <p:cNvPr id="19" name="Text 17"/>
          <p:cNvSpPr/>
          <p:nvPr/>
        </p:nvSpPr>
        <p:spPr>
          <a:xfrm>
            <a:off x="4153433" y="1984248"/>
            <a:ext cx="2218334"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2024/05</a:t>
            </a:r>
            <a:endParaRPr lang="en-US" sz="1050" dirty="0"/>
          </a:p>
        </p:txBody>
      </p:sp>
      <p:sp>
        <p:nvSpPr>
          <p:cNvPr id="20" name="Shape 18"/>
          <p:cNvSpPr/>
          <p:nvPr/>
        </p:nvSpPr>
        <p:spPr>
          <a:xfrm>
            <a:off x="4153433" y="2331720"/>
            <a:ext cx="2218334" cy="347472"/>
          </a:xfrm>
          <a:prstGeom prst="rect">
            <a:avLst/>
          </a:prstGeom>
          <a:solidFill>
            <a:srgbClr val="FFFFFF"/>
          </a:solidFill>
          <a:ln w="9525">
            <a:solidFill>
              <a:srgbClr val="E4DFD4"/>
            </a:solidFill>
            <a:prstDash val="solid"/>
          </a:ln>
        </p:spPr>
      </p:sp>
      <p:sp>
        <p:nvSpPr>
          <p:cNvPr id="21" name="Text 19"/>
          <p:cNvSpPr/>
          <p:nvPr/>
        </p:nvSpPr>
        <p:spPr>
          <a:xfrm>
            <a:off x="4153433" y="2331720"/>
            <a:ext cx="2218334"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2025/02</a:t>
            </a:r>
            <a:endParaRPr lang="en-US" sz="1050" dirty="0"/>
          </a:p>
        </p:txBody>
      </p:sp>
      <p:sp>
        <p:nvSpPr>
          <p:cNvPr id="22" name="Shape 20"/>
          <p:cNvSpPr/>
          <p:nvPr/>
        </p:nvSpPr>
        <p:spPr>
          <a:xfrm>
            <a:off x="4153433" y="2679192"/>
            <a:ext cx="2218334" cy="347472"/>
          </a:xfrm>
          <a:prstGeom prst="rect">
            <a:avLst/>
          </a:prstGeom>
          <a:solidFill>
            <a:srgbClr val="FBF9F4"/>
          </a:solidFill>
          <a:ln w="9525">
            <a:solidFill>
              <a:srgbClr val="E4DFD4"/>
            </a:solidFill>
            <a:prstDash val="solid"/>
          </a:ln>
        </p:spPr>
      </p:sp>
      <p:sp>
        <p:nvSpPr>
          <p:cNvPr id="23" name="Text 21"/>
          <p:cNvSpPr/>
          <p:nvPr/>
        </p:nvSpPr>
        <p:spPr>
          <a:xfrm>
            <a:off x="4153433" y="2679192"/>
            <a:ext cx="2218334"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2023/11</a:t>
            </a:r>
            <a:endParaRPr lang="en-US" sz="1050" dirty="0"/>
          </a:p>
        </p:txBody>
      </p:sp>
      <p:sp>
        <p:nvSpPr>
          <p:cNvPr id="24" name="Shape 22"/>
          <p:cNvSpPr/>
          <p:nvPr/>
        </p:nvSpPr>
        <p:spPr>
          <a:xfrm>
            <a:off x="6371768" y="1600200"/>
            <a:ext cx="1941043" cy="384048"/>
          </a:xfrm>
          <a:prstGeom prst="rect">
            <a:avLst/>
          </a:prstGeom>
          <a:solidFill>
            <a:srgbClr val="3C5A4F"/>
          </a:solidFill>
          <a:ln w="9525">
            <a:solidFill>
              <a:srgbClr val="FFFFFF"/>
            </a:solidFill>
            <a:prstDash val="solid"/>
          </a:ln>
        </p:spPr>
      </p:sp>
      <p:sp>
        <p:nvSpPr>
          <p:cNvPr id="25" name="Text 23"/>
          <p:cNvSpPr/>
          <p:nvPr/>
        </p:nvSpPr>
        <p:spPr>
          <a:xfrm>
            <a:off x="6371768" y="1600200"/>
            <a:ext cx="1941043"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価格</a:t>
            </a:r>
            <a:endParaRPr lang="en-US" sz="1100" dirty="0"/>
          </a:p>
        </p:txBody>
      </p:sp>
      <p:sp>
        <p:nvSpPr>
          <p:cNvPr id="26" name="Shape 24"/>
          <p:cNvSpPr/>
          <p:nvPr/>
        </p:nvSpPr>
        <p:spPr>
          <a:xfrm>
            <a:off x="6371768" y="1984248"/>
            <a:ext cx="1941043" cy="347472"/>
          </a:xfrm>
          <a:prstGeom prst="rect">
            <a:avLst/>
          </a:prstGeom>
          <a:solidFill>
            <a:srgbClr val="FBF9F4"/>
          </a:solidFill>
          <a:ln w="9525">
            <a:solidFill>
              <a:srgbClr val="E4DFD4"/>
            </a:solidFill>
            <a:prstDash val="solid"/>
          </a:ln>
        </p:spPr>
      </p:sp>
      <p:sp>
        <p:nvSpPr>
          <p:cNvPr id="27" name="Text 25"/>
          <p:cNvSpPr/>
          <p:nvPr/>
        </p:nvSpPr>
        <p:spPr>
          <a:xfrm>
            <a:off x="6371768" y="1984248"/>
            <a:ext cx="194104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6200</a:t>
            </a:r>
            <a:endParaRPr lang="en-US" sz="1050" dirty="0"/>
          </a:p>
        </p:txBody>
      </p:sp>
      <p:sp>
        <p:nvSpPr>
          <p:cNvPr id="28" name="Shape 26"/>
          <p:cNvSpPr/>
          <p:nvPr/>
        </p:nvSpPr>
        <p:spPr>
          <a:xfrm>
            <a:off x="6371768" y="2331720"/>
            <a:ext cx="1941043" cy="347472"/>
          </a:xfrm>
          <a:prstGeom prst="rect">
            <a:avLst/>
          </a:prstGeom>
          <a:solidFill>
            <a:srgbClr val="FFFFFF"/>
          </a:solidFill>
          <a:ln w="9525">
            <a:solidFill>
              <a:srgbClr val="E4DFD4"/>
            </a:solidFill>
            <a:prstDash val="solid"/>
          </a:ln>
        </p:spPr>
      </p:sp>
      <p:sp>
        <p:nvSpPr>
          <p:cNvPr id="29" name="Text 27"/>
          <p:cNvSpPr/>
          <p:nvPr/>
        </p:nvSpPr>
        <p:spPr>
          <a:xfrm>
            <a:off x="6371768" y="2331720"/>
            <a:ext cx="194104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8100</a:t>
            </a:r>
            <a:endParaRPr lang="en-US" sz="1050" dirty="0"/>
          </a:p>
        </p:txBody>
      </p:sp>
      <p:sp>
        <p:nvSpPr>
          <p:cNvPr id="30" name="Shape 28"/>
          <p:cNvSpPr/>
          <p:nvPr/>
        </p:nvSpPr>
        <p:spPr>
          <a:xfrm>
            <a:off x="6371768" y="2679192"/>
            <a:ext cx="1941043" cy="347472"/>
          </a:xfrm>
          <a:prstGeom prst="rect">
            <a:avLst/>
          </a:prstGeom>
          <a:solidFill>
            <a:srgbClr val="FBF9F4"/>
          </a:solidFill>
          <a:ln w="9525">
            <a:solidFill>
              <a:srgbClr val="E4DFD4"/>
            </a:solidFill>
            <a:prstDash val="solid"/>
          </a:ln>
        </p:spPr>
      </p:sp>
      <p:sp>
        <p:nvSpPr>
          <p:cNvPr id="31" name="Text 29"/>
          <p:cNvSpPr/>
          <p:nvPr/>
        </p:nvSpPr>
        <p:spPr>
          <a:xfrm>
            <a:off x="6371768" y="2679192"/>
            <a:ext cx="194104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7300</a:t>
            </a:r>
            <a:endParaRPr lang="en-US" sz="1050" dirty="0"/>
          </a:p>
        </p:txBody>
      </p:sp>
      <p:sp>
        <p:nvSpPr>
          <p:cNvPr id="32" name="Shape 30"/>
          <p:cNvSpPr/>
          <p:nvPr/>
        </p:nvSpPr>
        <p:spPr>
          <a:xfrm>
            <a:off x="8312810" y="1600200"/>
            <a:ext cx="1941043" cy="384048"/>
          </a:xfrm>
          <a:prstGeom prst="rect">
            <a:avLst/>
          </a:prstGeom>
          <a:solidFill>
            <a:srgbClr val="3C5A4F"/>
          </a:solidFill>
          <a:ln w="9525">
            <a:solidFill>
              <a:srgbClr val="FFFFFF"/>
            </a:solidFill>
            <a:prstDash val="solid"/>
          </a:ln>
        </p:spPr>
      </p:sp>
      <p:sp>
        <p:nvSpPr>
          <p:cNvPr id="33" name="Text 31"/>
          <p:cNvSpPr/>
          <p:nvPr/>
        </p:nvSpPr>
        <p:spPr>
          <a:xfrm>
            <a:off x="8312810" y="1600200"/>
            <a:ext cx="1941043"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専有面積</a:t>
            </a:r>
            <a:endParaRPr lang="en-US" sz="1100" dirty="0"/>
          </a:p>
        </p:txBody>
      </p:sp>
      <p:sp>
        <p:nvSpPr>
          <p:cNvPr id="34" name="Shape 32"/>
          <p:cNvSpPr/>
          <p:nvPr/>
        </p:nvSpPr>
        <p:spPr>
          <a:xfrm>
            <a:off x="8312810" y="1984248"/>
            <a:ext cx="1941043" cy="347472"/>
          </a:xfrm>
          <a:prstGeom prst="rect">
            <a:avLst/>
          </a:prstGeom>
          <a:solidFill>
            <a:srgbClr val="FBF9F4"/>
          </a:solidFill>
          <a:ln w="9525">
            <a:solidFill>
              <a:srgbClr val="E4DFD4"/>
            </a:solidFill>
            <a:prstDash val="solid"/>
          </a:ln>
        </p:spPr>
      </p:sp>
      <p:sp>
        <p:nvSpPr>
          <p:cNvPr id="35" name="Text 33"/>
          <p:cNvSpPr/>
          <p:nvPr/>
        </p:nvSpPr>
        <p:spPr>
          <a:xfrm>
            <a:off x="8312810" y="1984248"/>
            <a:ext cx="194104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65.2</a:t>
            </a:r>
            <a:endParaRPr lang="en-US" sz="1050" dirty="0"/>
          </a:p>
        </p:txBody>
      </p:sp>
      <p:sp>
        <p:nvSpPr>
          <p:cNvPr id="36" name="Shape 34"/>
          <p:cNvSpPr/>
          <p:nvPr/>
        </p:nvSpPr>
        <p:spPr>
          <a:xfrm>
            <a:off x="8312810" y="2331720"/>
            <a:ext cx="1941043" cy="347472"/>
          </a:xfrm>
          <a:prstGeom prst="rect">
            <a:avLst/>
          </a:prstGeom>
          <a:solidFill>
            <a:srgbClr val="FFFFFF"/>
          </a:solidFill>
          <a:ln w="9525">
            <a:solidFill>
              <a:srgbClr val="E4DFD4"/>
            </a:solidFill>
            <a:prstDash val="solid"/>
          </a:ln>
        </p:spPr>
      </p:sp>
      <p:sp>
        <p:nvSpPr>
          <p:cNvPr id="37" name="Text 35"/>
          <p:cNvSpPr/>
          <p:nvPr/>
        </p:nvSpPr>
        <p:spPr>
          <a:xfrm>
            <a:off x="8312810" y="2331720"/>
            <a:ext cx="194104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78.4</a:t>
            </a:r>
            <a:endParaRPr lang="en-US" sz="1050" dirty="0"/>
          </a:p>
        </p:txBody>
      </p:sp>
      <p:sp>
        <p:nvSpPr>
          <p:cNvPr id="38" name="Shape 36"/>
          <p:cNvSpPr/>
          <p:nvPr/>
        </p:nvSpPr>
        <p:spPr>
          <a:xfrm>
            <a:off x="8312810" y="2679192"/>
            <a:ext cx="1941043" cy="347472"/>
          </a:xfrm>
          <a:prstGeom prst="rect">
            <a:avLst/>
          </a:prstGeom>
          <a:solidFill>
            <a:srgbClr val="FBF9F4"/>
          </a:solidFill>
          <a:ln w="9525">
            <a:solidFill>
              <a:srgbClr val="E4DFD4"/>
            </a:solidFill>
            <a:prstDash val="solid"/>
          </a:ln>
        </p:spPr>
      </p:sp>
      <p:sp>
        <p:nvSpPr>
          <p:cNvPr id="39" name="Text 37"/>
          <p:cNvSpPr/>
          <p:nvPr/>
        </p:nvSpPr>
        <p:spPr>
          <a:xfrm>
            <a:off x="8312810" y="2679192"/>
            <a:ext cx="1941043"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70.1</a:t>
            </a:r>
            <a:endParaRPr lang="en-US" sz="1050" dirty="0"/>
          </a:p>
        </p:txBody>
      </p:sp>
      <p:sp>
        <p:nvSpPr>
          <p:cNvPr id="40" name="Shape 38"/>
          <p:cNvSpPr/>
          <p:nvPr/>
        </p:nvSpPr>
        <p:spPr>
          <a:xfrm>
            <a:off x="10253853" y="1600200"/>
            <a:ext cx="1386459" cy="384048"/>
          </a:xfrm>
          <a:prstGeom prst="rect">
            <a:avLst/>
          </a:prstGeom>
          <a:solidFill>
            <a:srgbClr val="3C5A4F"/>
          </a:solidFill>
          <a:ln w="9525">
            <a:solidFill>
              <a:srgbClr val="FFFFFF"/>
            </a:solidFill>
            <a:prstDash val="solid"/>
          </a:ln>
        </p:spPr>
      </p:sp>
      <p:sp>
        <p:nvSpPr>
          <p:cNvPr id="41" name="Text 39"/>
          <p:cNvSpPr/>
          <p:nvPr/>
        </p:nvSpPr>
        <p:spPr>
          <a:xfrm>
            <a:off x="10253853" y="1600200"/>
            <a:ext cx="1386459"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階</a:t>
            </a:r>
            <a:endParaRPr lang="en-US" sz="1100" dirty="0"/>
          </a:p>
        </p:txBody>
      </p:sp>
      <p:sp>
        <p:nvSpPr>
          <p:cNvPr id="42" name="Shape 40"/>
          <p:cNvSpPr/>
          <p:nvPr/>
        </p:nvSpPr>
        <p:spPr>
          <a:xfrm>
            <a:off x="10253853" y="1984248"/>
            <a:ext cx="1386459" cy="347472"/>
          </a:xfrm>
          <a:prstGeom prst="rect">
            <a:avLst/>
          </a:prstGeom>
          <a:solidFill>
            <a:srgbClr val="FBF9F4"/>
          </a:solidFill>
          <a:ln w="9525">
            <a:solidFill>
              <a:srgbClr val="E4DFD4"/>
            </a:solidFill>
            <a:prstDash val="solid"/>
          </a:ln>
        </p:spPr>
      </p:sp>
      <p:sp>
        <p:nvSpPr>
          <p:cNvPr id="43" name="Text 41"/>
          <p:cNvSpPr/>
          <p:nvPr/>
        </p:nvSpPr>
        <p:spPr>
          <a:xfrm>
            <a:off x="10253853" y="1984248"/>
            <a:ext cx="1386459"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7</a:t>
            </a:r>
            <a:endParaRPr lang="en-US" sz="1050" dirty="0"/>
          </a:p>
        </p:txBody>
      </p:sp>
      <p:sp>
        <p:nvSpPr>
          <p:cNvPr id="44" name="Shape 42"/>
          <p:cNvSpPr/>
          <p:nvPr/>
        </p:nvSpPr>
        <p:spPr>
          <a:xfrm>
            <a:off x="10253853" y="2331720"/>
            <a:ext cx="1386459" cy="347472"/>
          </a:xfrm>
          <a:prstGeom prst="rect">
            <a:avLst/>
          </a:prstGeom>
          <a:solidFill>
            <a:srgbClr val="FFFFFF"/>
          </a:solidFill>
          <a:ln w="9525">
            <a:solidFill>
              <a:srgbClr val="E4DFD4"/>
            </a:solidFill>
            <a:prstDash val="solid"/>
          </a:ln>
        </p:spPr>
      </p:sp>
      <p:sp>
        <p:nvSpPr>
          <p:cNvPr id="45" name="Text 43"/>
          <p:cNvSpPr/>
          <p:nvPr/>
        </p:nvSpPr>
        <p:spPr>
          <a:xfrm>
            <a:off x="10253853" y="2331720"/>
            <a:ext cx="1386459"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12</a:t>
            </a:r>
            <a:endParaRPr lang="en-US" sz="1050" dirty="0"/>
          </a:p>
        </p:txBody>
      </p:sp>
      <p:sp>
        <p:nvSpPr>
          <p:cNvPr id="46" name="Shape 44"/>
          <p:cNvSpPr/>
          <p:nvPr/>
        </p:nvSpPr>
        <p:spPr>
          <a:xfrm>
            <a:off x="10253853" y="2679192"/>
            <a:ext cx="1386459" cy="347472"/>
          </a:xfrm>
          <a:prstGeom prst="rect">
            <a:avLst/>
          </a:prstGeom>
          <a:solidFill>
            <a:srgbClr val="FBF9F4"/>
          </a:solidFill>
          <a:ln w="9525">
            <a:solidFill>
              <a:srgbClr val="E4DFD4"/>
            </a:solidFill>
            <a:prstDash val="solid"/>
          </a:ln>
        </p:spPr>
      </p:sp>
      <p:sp>
        <p:nvSpPr>
          <p:cNvPr id="47" name="Text 45"/>
          <p:cNvSpPr/>
          <p:nvPr/>
        </p:nvSpPr>
        <p:spPr>
          <a:xfrm>
            <a:off x="10253853" y="2679192"/>
            <a:ext cx="1386459" cy="347472"/>
          </a:xfrm>
          <a:prstGeom prst="rect">
            <a:avLst/>
          </a:prstGeom>
          <a:noFill/>
          <a:ln/>
        </p:spPr>
        <p:txBody>
          <a:bodyPr wrap="square" lIns="0" tIns="0" rIns="0" bIns="0" rtlCol="0" anchor="ctr"/>
          <a:lstStyle/>
          <a:p>
            <a:pPr algn="ctr" indent="0" marL="0">
              <a:buNone/>
            </a:pPr>
            <a:r>
              <a:rPr lang="en-US" sz="1050" dirty="0">
                <a:solidFill>
                  <a:srgbClr val="3E3E3B"/>
                </a:solidFill>
                <a:latin typeface="Yu Gothic" pitchFamily="34" charset="0"/>
                <a:ea typeface="Yu Gothic" pitchFamily="34" charset="-122"/>
                <a:cs typeface="Yu Gothic" pitchFamily="34" charset="-120"/>
              </a:rPr>
              <a:t>21</a:t>
            </a:r>
            <a:endParaRPr lang="en-US" sz="1050" dirty="0"/>
          </a:p>
        </p:txBody>
      </p:sp>
      <p:sp>
        <p:nvSpPr>
          <p:cNvPr id="48" name="Text 46"/>
          <p:cNvSpPr/>
          <p:nvPr/>
        </p:nvSpPr>
        <p:spPr>
          <a:xfrm>
            <a:off x="640080" y="3346704"/>
            <a:ext cx="10908792" cy="365760"/>
          </a:xfrm>
          <a:prstGeom prst="rect">
            <a:avLst/>
          </a:prstGeom>
          <a:noFill/>
          <a:ln/>
        </p:spPr>
        <p:txBody>
          <a:bodyPr wrap="square" lIns="0" tIns="0" rIns="0" bIns="0" rtlCol="0" anchor="ctr"/>
          <a:lstStyle/>
          <a:p>
            <a:pPr indent="0" marL="0">
              <a:buNone/>
            </a:pPr>
            <a:r>
              <a:rPr lang="en-US" sz="1350" b="1" dirty="0">
                <a:solidFill>
                  <a:srgbClr val="3C5A4F"/>
                </a:solidFill>
                <a:latin typeface="Yu Gothic" pitchFamily="34" charset="0"/>
                <a:ea typeface="Yu Gothic" pitchFamily="34" charset="-122"/>
                <a:cs typeface="Yu Gothic" pitchFamily="34" charset="-120"/>
              </a:rPr>
              <a:t>物件名　</a:t>
            </a:r>
            <a:pPr indent="0" marL="0">
              <a:buNone/>
            </a:pPr>
            <a:r>
              <a:rPr lang="en-US" sz="1350" dirty="0">
                <a:solidFill>
                  <a:srgbClr val="1F2A28"/>
                </a:solidFill>
                <a:latin typeface="Yu Gothic" pitchFamily="34" charset="0"/>
                <a:ea typeface="Yu Gothic" pitchFamily="34" charset="-122"/>
                <a:cs typeface="Yu Gothic" pitchFamily="34" charset="-120"/>
              </a:rPr>
              <a:t>新築データの物件名と完全に同じ名前（ここで2つのデータをつなぎます）</a:t>
            </a:r>
            <a:endParaRPr lang="en-US" sz="1350" dirty="0"/>
          </a:p>
        </p:txBody>
      </p:sp>
      <p:sp>
        <p:nvSpPr>
          <p:cNvPr id="49" name="Text 47"/>
          <p:cNvSpPr/>
          <p:nvPr/>
        </p:nvSpPr>
        <p:spPr>
          <a:xfrm>
            <a:off x="640080" y="3758184"/>
            <a:ext cx="10908792" cy="365760"/>
          </a:xfrm>
          <a:prstGeom prst="rect">
            <a:avLst/>
          </a:prstGeom>
          <a:noFill/>
          <a:ln/>
        </p:spPr>
        <p:txBody>
          <a:bodyPr wrap="square" lIns="0" tIns="0" rIns="0" bIns="0" rtlCol="0" anchor="ctr"/>
          <a:lstStyle/>
          <a:p>
            <a:pPr indent="0" marL="0">
              <a:buNone/>
            </a:pPr>
            <a:r>
              <a:rPr lang="en-US" sz="1350" b="1" dirty="0">
                <a:solidFill>
                  <a:srgbClr val="3C5A4F"/>
                </a:solidFill>
                <a:latin typeface="Yu Gothic" pitchFamily="34" charset="0"/>
                <a:ea typeface="Yu Gothic" pitchFamily="34" charset="-122"/>
                <a:cs typeface="Yu Gothic" pitchFamily="34" charset="-120"/>
              </a:rPr>
              <a:t>成約年月　</a:t>
            </a:r>
            <a:pPr indent="0" marL="0">
              <a:buNone/>
            </a:pPr>
            <a:r>
              <a:rPr lang="en-US" sz="1350" dirty="0">
                <a:solidFill>
                  <a:srgbClr val="1F2A28"/>
                </a:solidFill>
                <a:latin typeface="Yu Gothic" pitchFamily="34" charset="0"/>
                <a:ea typeface="Yu Gothic" pitchFamily="34" charset="-122"/>
                <a:cs typeface="Yu Gothic" pitchFamily="34" charset="-120"/>
              </a:rPr>
              <a:t>2024/05 の形（年だけが使われます）</a:t>
            </a:r>
            <a:endParaRPr lang="en-US" sz="1350" dirty="0"/>
          </a:p>
        </p:txBody>
      </p:sp>
      <p:sp>
        <p:nvSpPr>
          <p:cNvPr id="50" name="Text 48"/>
          <p:cNvSpPr/>
          <p:nvPr/>
        </p:nvSpPr>
        <p:spPr>
          <a:xfrm>
            <a:off x="640080" y="4169664"/>
            <a:ext cx="10908792" cy="365760"/>
          </a:xfrm>
          <a:prstGeom prst="rect">
            <a:avLst/>
          </a:prstGeom>
          <a:noFill/>
          <a:ln/>
        </p:spPr>
        <p:txBody>
          <a:bodyPr wrap="square" lIns="0" tIns="0" rIns="0" bIns="0" rtlCol="0" anchor="ctr"/>
          <a:lstStyle/>
          <a:p>
            <a:pPr indent="0" marL="0">
              <a:buNone/>
            </a:pPr>
            <a:r>
              <a:rPr lang="en-US" sz="1350" b="1" dirty="0">
                <a:solidFill>
                  <a:srgbClr val="3C5A4F"/>
                </a:solidFill>
                <a:latin typeface="Yu Gothic" pitchFamily="34" charset="0"/>
                <a:ea typeface="Yu Gothic" pitchFamily="34" charset="-122"/>
                <a:cs typeface="Yu Gothic" pitchFamily="34" charset="-120"/>
              </a:rPr>
              <a:t>価格・専有面積　</a:t>
            </a:r>
            <a:pPr indent="0" marL="0">
              <a:buNone/>
            </a:pPr>
            <a:r>
              <a:rPr lang="en-US" sz="1350" dirty="0">
                <a:solidFill>
                  <a:srgbClr val="1F2A28"/>
                </a:solidFill>
                <a:latin typeface="Yu Gothic" pitchFamily="34" charset="0"/>
                <a:ea typeface="Yu Gothic" pitchFamily="34" charset="-122"/>
                <a:cs typeface="Yu Gothic" pitchFamily="34" charset="-120"/>
              </a:rPr>
              <a:t>新築データと同じく、万円・㎡の数字だけ</a:t>
            </a:r>
            <a:endParaRPr lang="en-US" sz="1350" dirty="0"/>
          </a:p>
        </p:txBody>
      </p:sp>
      <p:sp>
        <p:nvSpPr>
          <p:cNvPr id="51" name="Text 49"/>
          <p:cNvSpPr/>
          <p:nvPr/>
        </p:nvSpPr>
        <p:spPr>
          <a:xfrm>
            <a:off x="640080" y="4581144"/>
            <a:ext cx="10908792" cy="365760"/>
          </a:xfrm>
          <a:prstGeom prst="rect">
            <a:avLst/>
          </a:prstGeom>
          <a:noFill/>
          <a:ln/>
        </p:spPr>
        <p:txBody>
          <a:bodyPr wrap="square" lIns="0" tIns="0" rIns="0" bIns="0" rtlCol="0" anchor="ctr"/>
          <a:lstStyle/>
          <a:p>
            <a:pPr indent="0" marL="0">
              <a:buNone/>
            </a:pPr>
            <a:r>
              <a:rPr lang="en-US" sz="1350" b="1" dirty="0">
                <a:solidFill>
                  <a:srgbClr val="3C5A4F"/>
                </a:solidFill>
                <a:latin typeface="Yu Gothic" pitchFamily="34" charset="0"/>
                <a:ea typeface="Yu Gothic" pitchFamily="34" charset="-122"/>
                <a:cs typeface="Yu Gothic" pitchFamily="34" charset="-120"/>
              </a:rPr>
              <a:t>階　</a:t>
            </a:r>
            <a:pPr indent="0" marL="0">
              <a:buNone/>
            </a:pPr>
            <a:r>
              <a:rPr lang="en-US" sz="1350" dirty="0">
                <a:solidFill>
                  <a:srgbClr val="1F2A28"/>
                </a:solidFill>
                <a:latin typeface="Yu Gothic" pitchFamily="34" charset="0"/>
                <a:ea typeface="Yu Gothic" pitchFamily="34" charset="-122"/>
                <a:cs typeface="Yu Gothic" pitchFamily="34" charset="-120"/>
              </a:rPr>
              <a:t>分からなければ空欄でOK（今回の計算には使いません）</a:t>
            </a:r>
            <a:endParaRPr lang="en-US" sz="1350" dirty="0"/>
          </a:p>
        </p:txBody>
      </p:sp>
      <p:sp>
        <p:nvSpPr>
          <p:cNvPr id="52" name="Shape 50"/>
          <p:cNvSpPr/>
          <p:nvPr/>
        </p:nvSpPr>
        <p:spPr>
          <a:xfrm>
            <a:off x="548640" y="5532120"/>
            <a:ext cx="11091672" cy="685800"/>
          </a:xfrm>
          <a:prstGeom prst="roundRect">
            <a:avLst>
              <a:gd name="adj" fmla="val 8000"/>
            </a:avLst>
          </a:prstGeom>
          <a:solidFill>
            <a:srgbClr val="FBEFEC"/>
          </a:solidFill>
          <a:ln/>
        </p:spPr>
      </p:sp>
      <p:sp>
        <p:nvSpPr>
          <p:cNvPr id="53" name="Shape 51"/>
          <p:cNvSpPr/>
          <p:nvPr/>
        </p:nvSpPr>
        <p:spPr>
          <a:xfrm>
            <a:off x="548640" y="5532120"/>
            <a:ext cx="73152" cy="685800"/>
          </a:xfrm>
          <a:prstGeom prst="rect">
            <a:avLst/>
          </a:prstGeom>
          <a:solidFill>
            <a:srgbClr val="9A4A3A"/>
          </a:solidFill>
          <a:ln/>
        </p:spPr>
      </p:sp>
      <p:sp>
        <p:nvSpPr>
          <p:cNvPr id="54" name="Text 52"/>
          <p:cNvSpPr/>
          <p:nvPr/>
        </p:nvSpPr>
        <p:spPr>
          <a:xfrm>
            <a:off x="777240" y="5532120"/>
            <a:ext cx="10725912" cy="685800"/>
          </a:xfrm>
          <a:prstGeom prst="rect">
            <a:avLst/>
          </a:prstGeom>
          <a:noFill/>
          <a:ln/>
        </p:spPr>
        <p:txBody>
          <a:bodyPr wrap="square" lIns="0" tIns="0" rIns="0" bIns="0" rtlCol="0" anchor="ctr"/>
          <a:lstStyle/>
          <a:p>
            <a:pPr indent="0" marL="0">
              <a:lnSpc>
                <a:spcPct val="110000"/>
              </a:lnSpc>
              <a:buNone/>
            </a:pPr>
            <a:r>
              <a:rPr lang="en-US" sz="1200" b="1" dirty="0">
                <a:solidFill>
                  <a:srgbClr val="9A4A3A"/>
                </a:solidFill>
                <a:latin typeface="Yu Gothic" pitchFamily="34" charset="0"/>
                <a:ea typeface="Yu Gothic" pitchFamily="34" charset="-122"/>
                <a:cs typeface="Yu Gothic" pitchFamily="34" charset="-120"/>
              </a:rPr>
              <a:t>⚠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自社データの列名や単位が違う場合は、無理に作り直さず「列名が違うとき」のプロンプト（第4部の最後）でツールを合わせられます</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第4部　STEP 17</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Excel から CSV で保存する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いちばん簡単なのは、ツールの「テンプレートCSV」ボタンでひな形をもらう方法です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37</a:t>
            </a:r>
            <a:endParaRPr lang="en-US" sz="900" dirty="0"/>
          </a:p>
        </p:txBody>
      </p:sp>
      <p:sp>
        <p:nvSpPr>
          <p:cNvPr id="8" name="Shape 6"/>
          <p:cNvSpPr/>
          <p:nvPr/>
        </p:nvSpPr>
        <p:spPr>
          <a:xfrm>
            <a:off x="548640" y="1554480"/>
            <a:ext cx="6949440" cy="4526280"/>
          </a:xfrm>
          <a:prstGeom prst="roundRect">
            <a:avLst>
              <a:gd name="adj" fmla="val 1616"/>
            </a:avLst>
          </a:prstGeom>
          <a:solidFill>
            <a:srgbClr val="FFFFFF"/>
          </a:solidFill>
          <a:ln w="12700">
            <a:solidFill>
              <a:srgbClr val="C9CED6"/>
            </a:solidFill>
            <a:prstDash val="solid"/>
          </a:ln>
        </p:spPr>
      </p:sp>
      <p:sp>
        <p:nvSpPr>
          <p:cNvPr id="9" name="Shape 7"/>
          <p:cNvSpPr/>
          <p:nvPr/>
        </p:nvSpPr>
        <p:spPr>
          <a:xfrm>
            <a:off x="566928" y="1572768"/>
            <a:ext cx="6912864" cy="329184"/>
          </a:xfrm>
          <a:prstGeom prst="rect">
            <a:avLst/>
          </a:prstGeom>
          <a:solidFill>
            <a:srgbClr val="EEF0F3"/>
          </a:solidFill>
          <a:ln/>
        </p:spPr>
      </p:sp>
      <p:sp>
        <p:nvSpPr>
          <p:cNvPr id="10" name="Shape 8"/>
          <p:cNvSpPr/>
          <p:nvPr/>
        </p:nvSpPr>
        <p:spPr>
          <a:xfrm>
            <a:off x="676656" y="1673352"/>
            <a:ext cx="109728" cy="109728"/>
          </a:xfrm>
          <a:prstGeom prst="ellipse">
            <a:avLst/>
          </a:prstGeom>
          <a:solidFill>
            <a:srgbClr val="FF5F57"/>
          </a:solidFill>
          <a:ln/>
        </p:spPr>
      </p:sp>
      <p:sp>
        <p:nvSpPr>
          <p:cNvPr id="11" name="Shape 9"/>
          <p:cNvSpPr/>
          <p:nvPr/>
        </p:nvSpPr>
        <p:spPr>
          <a:xfrm>
            <a:off x="859536" y="1673352"/>
            <a:ext cx="109728" cy="109728"/>
          </a:xfrm>
          <a:prstGeom prst="ellipse">
            <a:avLst/>
          </a:prstGeom>
          <a:solidFill>
            <a:srgbClr val="FEBC2E"/>
          </a:solidFill>
          <a:ln/>
        </p:spPr>
      </p:sp>
      <p:sp>
        <p:nvSpPr>
          <p:cNvPr id="12" name="Shape 10"/>
          <p:cNvSpPr/>
          <p:nvPr/>
        </p:nvSpPr>
        <p:spPr>
          <a:xfrm>
            <a:off x="1042416" y="1673352"/>
            <a:ext cx="109728" cy="109728"/>
          </a:xfrm>
          <a:prstGeom prst="ellipse">
            <a:avLst/>
          </a:prstGeom>
          <a:solidFill>
            <a:srgbClr val="28C840"/>
          </a:solidFill>
          <a:ln/>
        </p:spPr>
      </p:sp>
      <p:sp>
        <p:nvSpPr>
          <p:cNvPr id="13" name="Shape 11"/>
          <p:cNvSpPr/>
          <p:nvPr/>
        </p:nvSpPr>
        <p:spPr>
          <a:xfrm>
            <a:off x="1325880" y="1618488"/>
            <a:ext cx="6035040" cy="219456"/>
          </a:xfrm>
          <a:prstGeom prst="roundRect">
            <a:avLst>
              <a:gd name="adj" fmla="val 41667"/>
            </a:avLst>
          </a:prstGeom>
          <a:solidFill>
            <a:srgbClr val="FFFFFF"/>
          </a:solidFill>
          <a:ln w="6350">
            <a:solidFill>
              <a:srgbClr val="D8DCE2"/>
            </a:solidFill>
            <a:prstDash val="solid"/>
          </a:ln>
        </p:spPr>
      </p:sp>
      <p:sp>
        <p:nvSpPr>
          <p:cNvPr id="14" name="Text 12"/>
          <p:cNvSpPr/>
          <p:nvPr/>
        </p:nvSpPr>
        <p:spPr>
          <a:xfrm>
            <a:off x="1463040" y="1627632"/>
            <a:ext cx="5760720" cy="201168"/>
          </a:xfrm>
          <a:prstGeom prst="rect">
            <a:avLst/>
          </a:prstGeom>
          <a:noFill/>
          <a:ln/>
        </p:spPr>
        <p:txBody>
          <a:bodyPr wrap="square" lIns="0" tIns="0" rIns="0" bIns="0" rtlCol="0" anchor="ctr"/>
          <a:lstStyle/>
          <a:p>
            <a:pPr indent="0" marL="0">
              <a:buNone/>
            </a:pPr>
            <a:r>
              <a:rPr lang="en-US" sz="950" dirty="0">
                <a:solidFill>
                  <a:srgbClr val="5B6470"/>
                </a:solidFill>
                <a:latin typeface="Yu Gothic" pitchFamily="34" charset="0"/>
                <a:ea typeface="Yu Gothic" pitchFamily="34" charset="-122"/>
                <a:cs typeface="Yu Gothic" pitchFamily="34" charset="-120"/>
              </a:rPr>
              <a:t>Excel ─ 名前を付けて保存</a:t>
            </a:r>
            <a:endParaRPr lang="en-US" sz="950" dirty="0"/>
          </a:p>
        </p:txBody>
      </p:sp>
      <p:sp>
        <p:nvSpPr>
          <p:cNvPr id="15" name="Text 13"/>
          <p:cNvSpPr/>
          <p:nvPr/>
        </p:nvSpPr>
        <p:spPr>
          <a:xfrm>
            <a:off x="548640" y="6117336"/>
            <a:ext cx="6949440" cy="201168"/>
          </a:xfrm>
          <a:prstGeom prst="rect">
            <a:avLst/>
          </a:prstGeom>
          <a:noFill/>
          <a:ln/>
        </p:spPr>
        <p:txBody>
          <a:bodyPr wrap="square" lIns="0" tIns="0" rIns="0" bIns="0" rtlCol="0" anchor="t"/>
          <a:lstStyle/>
          <a:p>
            <a:pPr algn="r" indent="0" marL="0">
              <a:buNone/>
            </a:pPr>
            <a:r>
              <a:rPr lang="en-US" sz="850" dirty="0">
                <a:solidFill>
                  <a:srgbClr val="7A756B"/>
                </a:solidFill>
                <a:latin typeface="Yu Gothic" pitchFamily="34" charset="0"/>
                <a:ea typeface="Yu Gothic" pitchFamily="34" charset="-122"/>
                <a:cs typeface="Yu Gothic" pitchFamily="34" charset="-120"/>
              </a:rPr>
              <a:t>イメージ図（実際の画面と細部が異なることがあります）</a:t>
            </a:r>
            <a:endParaRPr lang="en-US" sz="850" dirty="0"/>
          </a:p>
        </p:txBody>
      </p:sp>
      <p:sp>
        <p:nvSpPr>
          <p:cNvPr id="16" name="Text 14"/>
          <p:cNvSpPr/>
          <p:nvPr/>
        </p:nvSpPr>
        <p:spPr>
          <a:xfrm>
            <a:off x="731520" y="2057400"/>
            <a:ext cx="3657600" cy="365760"/>
          </a:xfrm>
          <a:prstGeom prst="rect">
            <a:avLst/>
          </a:prstGeom>
          <a:noFill/>
          <a:ln/>
        </p:spPr>
        <p:txBody>
          <a:bodyPr wrap="square" lIns="0" tIns="0" rIns="0" bIns="0" rtlCol="0" anchor="t"/>
          <a:lstStyle/>
          <a:p>
            <a:pPr indent="0" marL="0">
              <a:buNone/>
            </a:pPr>
            <a:r>
              <a:rPr lang="en-US" sz="1400" b="1" dirty="0">
                <a:solidFill>
                  <a:srgbClr val="1F1F1F"/>
                </a:solidFill>
                <a:latin typeface="Yu Gothic" pitchFamily="34" charset="0"/>
                <a:ea typeface="Yu Gothic" pitchFamily="34" charset="-122"/>
                <a:cs typeface="Yu Gothic" pitchFamily="34" charset="-120"/>
              </a:rPr>
              <a:t>名前を付けて保存</a:t>
            </a:r>
            <a:endParaRPr lang="en-US" sz="1400" dirty="0"/>
          </a:p>
        </p:txBody>
      </p:sp>
      <p:sp>
        <p:nvSpPr>
          <p:cNvPr id="17" name="Text 15"/>
          <p:cNvSpPr/>
          <p:nvPr/>
        </p:nvSpPr>
        <p:spPr>
          <a:xfrm>
            <a:off x="731520" y="2606040"/>
            <a:ext cx="1828800" cy="228600"/>
          </a:xfrm>
          <a:prstGeom prst="rect">
            <a:avLst/>
          </a:prstGeom>
          <a:noFill/>
          <a:ln/>
        </p:spPr>
        <p:txBody>
          <a:bodyPr wrap="square" lIns="0" tIns="0" rIns="0" bIns="0" rtlCol="0" anchor="t"/>
          <a:lstStyle/>
          <a:p>
            <a:pPr indent="0" marL="0">
              <a:buNone/>
            </a:pPr>
            <a:r>
              <a:rPr lang="en-US" sz="950" dirty="0">
                <a:solidFill>
                  <a:srgbClr val="57606A"/>
                </a:solidFill>
                <a:latin typeface="Yu Gothic" pitchFamily="34" charset="0"/>
                <a:ea typeface="Yu Gothic" pitchFamily="34" charset="-122"/>
                <a:cs typeface="Yu Gothic" pitchFamily="34" charset="-120"/>
              </a:rPr>
              <a:t>ファイル名</a:t>
            </a:r>
            <a:endParaRPr lang="en-US" sz="950" dirty="0"/>
          </a:p>
        </p:txBody>
      </p:sp>
      <p:sp>
        <p:nvSpPr>
          <p:cNvPr id="18" name="Shape 16"/>
          <p:cNvSpPr/>
          <p:nvPr/>
        </p:nvSpPr>
        <p:spPr>
          <a:xfrm>
            <a:off x="731520" y="2852928"/>
            <a:ext cx="4206240" cy="347472"/>
          </a:xfrm>
          <a:prstGeom prst="roundRect">
            <a:avLst>
              <a:gd name="adj" fmla="val 15789"/>
            </a:avLst>
          </a:prstGeom>
          <a:solidFill>
            <a:srgbClr val="FFFFFF"/>
          </a:solidFill>
          <a:ln w="9525">
            <a:solidFill>
              <a:srgbClr val="C9CED6"/>
            </a:solidFill>
            <a:prstDash val="solid"/>
          </a:ln>
        </p:spPr>
      </p:sp>
      <p:sp>
        <p:nvSpPr>
          <p:cNvPr id="19" name="Text 17"/>
          <p:cNvSpPr/>
          <p:nvPr/>
        </p:nvSpPr>
        <p:spPr>
          <a:xfrm>
            <a:off x="786384" y="2852928"/>
            <a:ext cx="4096512" cy="347472"/>
          </a:xfrm>
          <a:prstGeom prst="rect">
            <a:avLst/>
          </a:prstGeom>
          <a:noFill/>
          <a:ln/>
        </p:spPr>
        <p:txBody>
          <a:bodyPr wrap="square" lIns="0" tIns="0" rIns="0" bIns="0" rtlCol="0" anchor="ctr"/>
          <a:lstStyle/>
          <a:p>
            <a:pPr algn="l" indent="0" marL="0">
              <a:buNone/>
            </a:pPr>
            <a:r>
              <a:rPr lang="en-US" sz="1100" dirty="0">
                <a:solidFill>
                  <a:srgbClr val="24292F"/>
                </a:solidFill>
                <a:latin typeface="Yu Gothic" pitchFamily="34" charset="0"/>
                <a:ea typeface="Yu Gothic" pitchFamily="34" charset="-122"/>
                <a:cs typeface="Yu Gothic" pitchFamily="34" charset="-120"/>
              </a:rPr>
              <a:t>shinchiku.csv</a:t>
            </a:r>
            <a:endParaRPr lang="en-US" sz="1100" dirty="0"/>
          </a:p>
        </p:txBody>
      </p:sp>
      <p:sp>
        <p:nvSpPr>
          <p:cNvPr id="20" name="Shape 18"/>
          <p:cNvSpPr/>
          <p:nvPr/>
        </p:nvSpPr>
        <p:spPr>
          <a:xfrm>
            <a:off x="685800" y="2807208"/>
            <a:ext cx="4297680" cy="438912"/>
          </a:xfrm>
          <a:prstGeom prst="roundRect">
            <a:avLst>
              <a:gd name="adj" fmla="val 12500"/>
            </a:avLst>
          </a:prstGeom>
          <a:ln w="31750">
            <a:solidFill>
              <a:srgbClr val="E5484D"/>
            </a:solidFill>
            <a:prstDash val="solid"/>
          </a:ln>
        </p:spPr>
      </p:sp>
      <p:sp>
        <p:nvSpPr>
          <p:cNvPr id="21" name="Shape 19"/>
          <p:cNvSpPr/>
          <p:nvPr/>
        </p:nvSpPr>
        <p:spPr>
          <a:xfrm>
            <a:off x="5010912" y="2871216"/>
            <a:ext cx="310896" cy="310896"/>
          </a:xfrm>
          <a:prstGeom prst="ellipse">
            <a:avLst/>
          </a:prstGeom>
          <a:solidFill>
            <a:srgbClr val="E5484D"/>
          </a:solidFill>
          <a:ln w="12700">
            <a:solidFill>
              <a:srgbClr val="FFFFFF"/>
            </a:solidFill>
            <a:prstDash val="solid"/>
          </a:ln>
        </p:spPr>
      </p:sp>
      <p:sp>
        <p:nvSpPr>
          <p:cNvPr id="22" name="Text 20"/>
          <p:cNvSpPr/>
          <p:nvPr/>
        </p:nvSpPr>
        <p:spPr>
          <a:xfrm>
            <a:off x="5010912" y="28712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23" name="Text 21"/>
          <p:cNvSpPr/>
          <p:nvPr/>
        </p:nvSpPr>
        <p:spPr>
          <a:xfrm>
            <a:off x="731520" y="3429000"/>
            <a:ext cx="1828800" cy="228600"/>
          </a:xfrm>
          <a:prstGeom prst="rect">
            <a:avLst/>
          </a:prstGeom>
          <a:noFill/>
          <a:ln/>
        </p:spPr>
        <p:txBody>
          <a:bodyPr wrap="square" lIns="0" tIns="0" rIns="0" bIns="0" rtlCol="0" anchor="t"/>
          <a:lstStyle/>
          <a:p>
            <a:pPr indent="0" marL="0">
              <a:buNone/>
            </a:pPr>
            <a:r>
              <a:rPr lang="en-US" sz="950" dirty="0">
                <a:solidFill>
                  <a:srgbClr val="57606A"/>
                </a:solidFill>
                <a:latin typeface="Yu Gothic" pitchFamily="34" charset="0"/>
                <a:ea typeface="Yu Gothic" pitchFamily="34" charset="-122"/>
                <a:cs typeface="Yu Gothic" pitchFamily="34" charset="-120"/>
              </a:rPr>
              <a:t>ファイルの種類</a:t>
            </a:r>
            <a:endParaRPr lang="en-US" sz="950" dirty="0"/>
          </a:p>
        </p:txBody>
      </p:sp>
      <p:sp>
        <p:nvSpPr>
          <p:cNvPr id="24" name="Shape 22"/>
          <p:cNvSpPr/>
          <p:nvPr/>
        </p:nvSpPr>
        <p:spPr>
          <a:xfrm>
            <a:off x="731520" y="3675888"/>
            <a:ext cx="4206240" cy="347472"/>
          </a:xfrm>
          <a:prstGeom prst="roundRect">
            <a:avLst>
              <a:gd name="adj" fmla="val 15789"/>
            </a:avLst>
          </a:prstGeom>
          <a:solidFill>
            <a:srgbClr val="FFFFFF"/>
          </a:solidFill>
          <a:ln w="9525">
            <a:solidFill>
              <a:srgbClr val="C9CED6"/>
            </a:solidFill>
            <a:prstDash val="solid"/>
          </a:ln>
        </p:spPr>
      </p:sp>
      <p:sp>
        <p:nvSpPr>
          <p:cNvPr id="25" name="Text 23"/>
          <p:cNvSpPr/>
          <p:nvPr/>
        </p:nvSpPr>
        <p:spPr>
          <a:xfrm>
            <a:off x="786384" y="3675888"/>
            <a:ext cx="4096512" cy="347472"/>
          </a:xfrm>
          <a:prstGeom prst="rect">
            <a:avLst/>
          </a:prstGeom>
          <a:noFill/>
          <a:ln/>
        </p:spPr>
        <p:txBody>
          <a:bodyPr wrap="square" lIns="0" tIns="0" rIns="0" bIns="0" rtlCol="0" anchor="ctr"/>
          <a:lstStyle/>
          <a:p>
            <a:pPr algn="l" indent="0" marL="0">
              <a:buNone/>
            </a:pPr>
            <a:r>
              <a:rPr lang="en-US" sz="1100" b="1" dirty="0">
                <a:solidFill>
                  <a:srgbClr val="24292F"/>
                </a:solidFill>
                <a:latin typeface="Yu Gothic" pitchFamily="34" charset="0"/>
                <a:ea typeface="Yu Gothic" pitchFamily="34" charset="-122"/>
                <a:cs typeface="Yu Gothic" pitchFamily="34" charset="-120"/>
              </a:rPr>
              <a:t>CSV UTF-8 (コンマ区切り) (*.csv) ▾</a:t>
            </a:r>
            <a:endParaRPr lang="en-US" sz="1100" dirty="0"/>
          </a:p>
        </p:txBody>
      </p:sp>
      <p:sp>
        <p:nvSpPr>
          <p:cNvPr id="26" name="Shape 24"/>
          <p:cNvSpPr/>
          <p:nvPr/>
        </p:nvSpPr>
        <p:spPr>
          <a:xfrm>
            <a:off x="685800" y="3630168"/>
            <a:ext cx="4297680" cy="438912"/>
          </a:xfrm>
          <a:prstGeom prst="roundRect">
            <a:avLst>
              <a:gd name="adj" fmla="val 12500"/>
            </a:avLst>
          </a:prstGeom>
          <a:ln w="31750">
            <a:solidFill>
              <a:srgbClr val="E5484D"/>
            </a:solidFill>
            <a:prstDash val="solid"/>
          </a:ln>
        </p:spPr>
      </p:sp>
      <p:sp>
        <p:nvSpPr>
          <p:cNvPr id="27" name="Shape 25"/>
          <p:cNvSpPr/>
          <p:nvPr/>
        </p:nvSpPr>
        <p:spPr>
          <a:xfrm>
            <a:off x="5010912" y="3694176"/>
            <a:ext cx="310896" cy="310896"/>
          </a:xfrm>
          <a:prstGeom prst="ellipse">
            <a:avLst/>
          </a:prstGeom>
          <a:solidFill>
            <a:srgbClr val="E5484D"/>
          </a:solidFill>
          <a:ln w="12700">
            <a:solidFill>
              <a:srgbClr val="FFFFFF"/>
            </a:solidFill>
            <a:prstDash val="solid"/>
          </a:ln>
        </p:spPr>
      </p:sp>
      <p:sp>
        <p:nvSpPr>
          <p:cNvPr id="28" name="Text 26"/>
          <p:cNvSpPr/>
          <p:nvPr/>
        </p:nvSpPr>
        <p:spPr>
          <a:xfrm>
            <a:off x="5010912" y="36941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29" name="Shape 27"/>
          <p:cNvSpPr/>
          <p:nvPr/>
        </p:nvSpPr>
        <p:spPr>
          <a:xfrm>
            <a:off x="6035040" y="5166360"/>
            <a:ext cx="1280160" cy="365760"/>
          </a:xfrm>
          <a:prstGeom prst="roundRect">
            <a:avLst>
              <a:gd name="adj" fmla="val 15000"/>
            </a:avLst>
          </a:prstGeom>
          <a:solidFill>
            <a:srgbClr val="107C41"/>
          </a:solidFill>
          <a:ln w="9525">
            <a:solidFill>
              <a:srgbClr val="107C41"/>
            </a:solidFill>
            <a:prstDash val="solid"/>
          </a:ln>
        </p:spPr>
      </p:sp>
      <p:sp>
        <p:nvSpPr>
          <p:cNvPr id="30" name="Text 28"/>
          <p:cNvSpPr/>
          <p:nvPr/>
        </p:nvSpPr>
        <p:spPr>
          <a:xfrm>
            <a:off x="6089904" y="5166360"/>
            <a:ext cx="1170432"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保存</a:t>
            </a:r>
            <a:endParaRPr lang="en-US" sz="1000" dirty="0"/>
          </a:p>
        </p:txBody>
      </p:sp>
      <p:sp>
        <p:nvSpPr>
          <p:cNvPr id="31" name="Shape 29"/>
          <p:cNvSpPr/>
          <p:nvPr/>
        </p:nvSpPr>
        <p:spPr>
          <a:xfrm>
            <a:off x="5989320" y="5120640"/>
            <a:ext cx="1371600" cy="457200"/>
          </a:xfrm>
          <a:prstGeom prst="roundRect">
            <a:avLst>
              <a:gd name="adj" fmla="val 12000"/>
            </a:avLst>
          </a:prstGeom>
          <a:ln w="31750">
            <a:solidFill>
              <a:srgbClr val="E5484D"/>
            </a:solidFill>
            <a:prstDash val="solid"/>
          </a:ln>
        </p:spPr>
      </p:sp>
      <p:sp>
        <p:nvSpPr>
          <p:cNvPr id="32" name="Shape 30"/>
          <p:cNvSpPr/>
          <p:nvPr/>
        </p:nvSpPr>
        <p:spPr>
          <a:xfrm>
            <a:off x="5833872" y="4965192"/>
            <a:ext cx="310896" cy="310896"/>
          </a:xfrm>
          <a:prstGeom prst="ellipse">
            <a:avLst/>
          </a:prstGeom>
          <a:solidFill>
            <a:srgbClr val="E5484D"/>
          </a:solidFill>
          <a:ln w="12700">
            <a:solidFill>
              <a:srgbClr val="FFFFFF"/>
            </a:solidFill>
            <a:prstDash val="solid"/>
          </a:ln>
        </p:spPr>
      </p:sp>
      <p:sp>
        <p:nvSpPr>
          <p:cNvPr id="33" name="Text 31"/>
          <p:cNvSpPr/>
          <p:nvPr/>
        </p:nvSpPr>
        <p:spPr>
          <a:xfrm>
            <a:off x="5833872" y="4965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34" name="Shape 32"/>
          <p:cNvSpPr/>
          <p:nvPr/>
        </p:nvSpPr>
        <p:spPr>
          <a:xfrm>
            <a:off x="7818120" y="1618488"/>
            <a:ext cx="329184" cy="329184"/>
          </a:xfrm>
          <a:prstGeom prst="ellipse">
            <a:avLst/>
          </a:prstGeom>
          <a:solidFill>
            <a:srgbClr val="E5484D"/>
          </a:solidFill>
          <a:ln/>
        </p:spPr>
      </p:sp>
      <p:sp>
        <p:nvSpPr>
          <p:cNvPr id="35" name="Text 33"/>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36" name="Text 34"/>
          <p:cNvSpPr/>
          <p:nvPr/>
        </p:nvSpPr>
        <p:spPr>
          <a:xfrm>
            <a:off x="8275320" y="1600200"/>
            <a:ext cx="3364992" cy="757698"/>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Excel で「ファイル」→「名前を付けて保存」</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Mac は「ファイル」→「名前を付けて保存…」</a:t>
            </a:r>
            <a:endParaRPr lang="en-US" sz="1400" dirty="0"/>
          </a:p>
        </p:txBody>
      </p:sp>
      <p:sp>
        <p:nvSpPr>
          <p:cNvPr id="37" name="Shape 35"/>
          <p:cNvSpPr/>
          <p:nvPr/>
        </p:nvSpPr>
        <p:spPr>
          <a:xfrm>
            <a:off x="7818120" y="2522490"/>
            <a:ext cx="329184" cy="329184"/>
          </a:xfrm>
          <a:prstGeom prst="ellipse">
            <a:avLst/>
          </a:prstGeom>
          <a:solidFill>
            <a:srgbClr val="E5484D"/>
          </a:solidFill>
          <a:ln/>
        </p:spPr>
      </p:sp>
      <p:sp>
        <p:nvSpPr>
          <p:cNvPr id="38" name="Text 36"/>
          <p:cNvSpPr/>
          <p:nvPr/>
        </p:nvSpPr>
        <p:spPr>
          <a:xfrm>
            <a:off x="7818120" y="252249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39" name="Text 37"/>
          <p:cNvSpPr/>
          <p:nvPr/>
        </p:nvSpPr>
        <p:spPr>
          <a:xfrm>
            <a:off x="8275320" y="2504202"/>
            <a:ext cx="3364992" cy="712057"/>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ファイル名を半角英数字で</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新築：shinchiku.csv</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中古：chuko.csv</a:t>
            </a:r>
            <a:endParaRPr lang="en-US" sz="1400" dirty="0"/>
          </a:p>
        </p:txBody>
      </p:sp>
      <p:sp>
        <p:nvSpPr>
          <p:cNvPr id="40" name="Shape 38"/>
          <p:cNvSpPr/>
          <p:nvPr/>
        </p:nvSpPr>
        <p:spPr>
          <a:xfrm>
            <a:off x="7818120" y="3380851"/>
            <a:ext cx="329184" cy="329184"/>
          </a:xfrm>
          <a:prstGeom prst="ellipse">
            <a:avLst/>
          </a:prstGeom>
          <a:solidFill>
            <a:srgbClr val="E5484D"/>
          </a:solidFill>
          <a:ln/>
        </p:spPr>
      </p:sp>
      <p:sp>
        <p:nvSpPr>
          <p:cNvPr id="41" name="Text 39"/>
          <p:cNvSpPr/>
          <p:nvPr/>
        </p:nvSpPr>
        <p:spPr>
          <a:xfrm>
            <a:off x="7818120" y="3380851"/>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42" name="Text 40"/>
          <p:cNvSpPr/>
          <p:nvPr/>
        </p:nvSpPr>
        <p:spPr>
          <a:xfrm>
            <a:off x="8275320" y="3362563"/>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種類「CSV UTF-8（コンマ区切り）」</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ふつうの「CSV（コンマ区切り）」でも読めます</a:t>
            </a:r>
            <a:endParaRPr lang="en-US" sz="1400" dirty="0"/>
          </a:p>
        </p:txBody>
      </p:sp>
      <p:sp>
        <p:nvSpPr>
          <p:cNvPr id="43" name="Shape 41"/>
          <p:cNvSpPr/>
          <p:nvPr/>
        </p:nvSpPr>
        <p:spPr>
          <a:xfrm>
            <a:off x="7818120" y="4029266"/>
            <a:ext cx="329184" cy="329184"/>
          </a:xfrm>
          <a:prstGeom prst="ellipse">
            <a:avLst/>
          </a:prstGeom>
          <a:solidFill>
            <a:srgbClr val="E5484D"/>
          </a:solidFill>
          <a:ln/>
        </p:spPr>
      </p:sp>
      <p:sp>
        <p:nvSpPr>
          <p:cNvPr id="44" name="Text 42"/>
          <p:cNvSpPr/>
          <p:nvPr/>
        </p:nvSpPr>
        <p:spPr>
          <a:xfrm>
            <a:off x="7818120" y="402926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45" name="Text 43"/>
          <p:cNvSpPr/>
          <p:nvPr/>
        </p:nvSpPr>
        <p:spPr>
          <a:xfrm>
            <a:off x="8275320" y="4010978"/>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「保存」を押す</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警告が出たら「はい」「このまま保存」</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第4部　STEP 18</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ツールの画面で、自社データを読み込む</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ここで初めて自社データを使います。データはこのPCの中だけで処理されます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38</a:t>
            </a:r>
            <a:endParaRPr lang="en-US" sz="900" dirty="0"/>
          </a:p>
        </p:txBody>
      </p:sp>
      <p:pic>
        <p:nvPicPr>
          <p:cNvPr id="8" name="Image 0" descr="../shots/c_top.png">    </p:cNvPr>
          <p:cNvPicPr>
            <a:picLocks noChangeAspect="1"/>
          </p:cNvPicPr>
          <p:nvPr/>
        </p:nvPicPr>
        <p:blipFill>
          <a:blip r:embed="rId1"/>
          <a:stretch>
            <a:fillRect/>
          </a:stretch>
        </p:blipFill>
        <p:spPr>
          <a:xfrm>
            <a:off x="548640" y="1554480"/>
            <a:ext cx="6949440" cy="2653423"/>
          </a:xfrm>
          <a:prstGeom prst="rect">
            <a:avLst/>
          </a:prstGeom>
        </p:spPr>
      </p:pic>
      <p:sp>
        <p:nvSpPr>
          <p:cNvPr id="9" name="Shape 6"/>
          <p:cNvSpPr/>
          <p:nvPr/>
        </p:nvSpPr>
        <p:spPr>
          <a:xfrm>
            <a:off x="548640" y="1554480"/>
            <a:ext cx="6949440" cy="2653423"/>
          </a:xfrm>
          <a:prstGeom prst="rect">
            <a:avLst/>
          </a:prstGeom>
          <a:ln w="12700">
            <a:solidFill>
              <a:srgbClr val="E4DFD4"/>
            </a:solidFill>
            <a:prstDash val="solid"/>
          </a:ln>
        </p:spPr>
      </p:sp>
      <p:sp>
        <p:nvSpPr>
          <p:cNvPr id="10" name="Shape 7"/>
          <p:cNvSpPr/>
          <p:nvPr/>
        </p:nvSpPr>
        <p:spPr>
          <a:xfrm>
            <a:off x="679815" y="2917601"/>
            <a:ext cx="1146491" cy="331512"/>
          </a:xfrm>
          <a:prstGeom prst="roundRect">
            <a:avLst>
              <a:gd name="adj" fmla="val 16550"/>
            </a:avLst>
          </a:prstGeom>
          <a:ln w="31750">
            <a:solidFill>
              <a:srgbClr val="E5484D"/>
            </a:solidFill>
            <a:prstDash val="solid"/>
          </a:ln>
        </p:spPr>
      </p:sp>
      <p:sp>
        <p:nvSpPr>
          <p:cNvPr id="11" name="Shape 8"/>
          <p:cNvSpPr/>
          <p:nvPr/>
        </p:nvSpPr>
        <p:spPr>
          <a:xfrm>
            <a:off x="524367" y="2762153"/>
            <a:ext cx="310896" cy="310896"/>
          </a:xfrm>
          <a:prstGeom prst="ellipse">
            <a:avLst/>
          </a:prstGeom>
          <a:solidFill>
            <a:srgbClr val="E5484D"/>
          </a:solidFill>
          <a:ln w="12700">
            <a:solidFill>
              <a:srgbClr val="FFFFFF"/>
            </a:solidFill>
            <a:prstDash val="solid"/>
          </a:ln>
        </p:spPr>
      </p:sp>
      <p:sp>
        <p:nvSpPr>
          <p:cNvPr id="12" name="Text 9"/>
          <p:cNvSpPr/>
          <p:nvPr/>
        </p:nvSpPr>
        <p:spPr>
          <a:xfrm>
            <a:off x="524367" y="276215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13" name="Shape 10"/>
          <p:cNvSpPr/>
          <p:nvPr/>
        </p:nvSpPr>
        <p:spPr>
          <a:xfrm>
            <a:off x="1798043" y="2917601"/>
            <a:ext cx="1140174" cy="331512"/>
          </a:xfrm>
          <a:prstGeom prst="roundRect">
            <a:avLst>
              <a:gd name="adj" fmla="val 16550"/>
            </a:avLst>
          </a:prstGeom>
          <a:ln w="31750">
            <a:solidFill>
              <a:srgbClr val="E5484D"/>
            </a:solidFill>
            <a:prstDash val="solid"/>
          </a:ln>
        </p:spPr>
      </p:sp>
      <p:sp>
        <p:nvSpPr>
          <p:cNvPr id="14" name="Shape 11"/>
          <p:cNvSpPr/>
          <p:nvPr/>
        </p:nvSpPr>
        <p:spPr>
          <a:xfrm>
            <a:off x="1642595" y="2762153"/>
            <a:ext cx="310896" cy="310896"/>
          </a:xfrm>
          <a:prstGeom prst="ellipse">
            <a:avLst/>
          </a:prstGeom>
          <a:solidFill>
            <a:srgbClr val="E5484D"/>
          </a:solidFill>
          <a:ln w="12700">
            <a:solidFill>
              <a:srgbClr val="FFFFFF"/>
            </a:solidFill>
            <a:prstDash val="solid"/>
          </a:ln>
        </p:spPr>
      </p:sp>
      <p:sp>
        <p:nvSpPr>
          <p:cNvPr id="15" name="Text 12"/>
          <p:cNvSpPr/>
          <p:nvPr/>
        </p:nvSpPr>
        <p:spPr>
          <a:xfrm>
            <a:off x="1642595" y="2762153"/>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16" name="Shape 13"/>
          <p:cNvSpPr/>
          <p:nvPr/>
        </p:nvSpPr>
        <p:spPr>
          <a:xfrm>
            <a:off x="679815" y="3220849"/>
            <a:ext cx="1860388" cy="205158"/>
          </a:xfrm>
          <a:prstGeom prst="roundRect">
            <a:avLst>
              <a:gd name="adj" fmla="val 26742"/>
            </a:avLst>
          </a:prstGeom>
          <a:ln w="31750">
            <a:solidFill>
              <a:srgbClr val="E5484D"/>
            </a:solidFill>
            <a:prstDash val="solid"/>
          </a:ln>
        </p:spPr>
      </p:sp>
      <p:sp>
        <p:nvSpPr>
          <p:cNvPr id="17" name="Shape 14"/>
          <p:cNvSpPr/>
          <p:nvPr/>
        </p:nvSpPr>
        <p:spPr>
          <a:xfrm>
            <a:off x="2567635" y="3167980"/>
            <a:ext cx="310896" cy="310896"/>
          </a:xfrm>
          <a:prstGeom prst="ellipse">
            <a:avLst/>
          </a:prstGeom>
          <a:solidFill>
            <a:srgbClr val="E5484D"/>
          </a:solidFill>
          <a:ln w="12700">
            <a:solidFill>
              <a:srgbClr val="FFFFFF"/>
            </a:solidFill>
            <a:prstDash val="solid"/>
          </a:ln>
        </p:spPr>
      </p:sp>
      <p:sp>
        <p:nvSpPr>
          <p:cNvPr id="18" name="Text 15"/>
          <p:cNvSpPr/>
          <p:nvPr/>
        </p:nvSpPr>
        <p:spPr>
          <a:xfrm>
            <a:off x="2567635" y="31679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19" name="Text 16"/>
          <p:cNvSpPr/>
          <p:nvPr/>
        </p:nvSpPr>
        <p:spPr>
          <a:xfrm>
            <a:off x="548640" y="4251960"/>
            <a:ext cx="6949440" cy="274320"/>
          </a:xfrm>
          <a:prstGeom prst="rect">
            <a:avLst/>
          </a:prstGeom>
          <a:noFill/>
          <a:ln/>
        </p:spPr>
        <p:txBody>
          <a:bodyPr wrap="square" lIns="0" tIns="0" rIns="0" bIns="0" rtlCol="0" anchor="t"/>
          <a:lstStyle/>
          <a:p>
            <a:pPr indent="0" marL="0">
              <a:buNone/>
            </a:pPr>
            <a:r>
              <a:rPr lang="en-US" sz="1000" dirty="0">
                <a:solidFill>
                  <a:srgbClr val="7A756B"/>
                </a:solidFill>
                <a:latin typeface="Yu Gothic" pitchFamily="34" charset="0"/>
                <a:ea typeface="Yu Gothic" pitchFamily="34" charset="-122"/>
                <a:cs typeface="Yu Gothic" pitchFamily="34" charset="-120"/>
              </a:rPr>
              <a:t>↑ ツールの画面（index.html）</a:t>
            </a:r>
            <a:endParaRPr lang="en-US" sz="1000" dirty="0"/>
          </a:p>
        </p:txBody>
      </p:sp>
      <p:sp>
        <p:nvSpPr>
          <p:cNvPr id="20" name="Shape 17"/>
          <p:cNvSpPr/>
          <p:nvPr/>
        </p:nvSpPr>
        <p:spPr>
          <a:xfrm>
            <a:off x="7818120" y="1618488"/>
            <a:ext cx="329184" cy="329184"/>
          </a:xfrm>
          <a:prstGeom prst="ellipse">
            <a:avLst/>
          </a:prstGeom>
          <a:solidFill>
            <a:srgbClr val="E5484D"/>
          </a:solidFill>
          <a:ln/>
        </p:spPr>
      </p:sp>
      <p:sp>
        <p:nvSpPr>
          <p:cNvPr id="21" name="Text 18"/>
          <p:cNvSpPr/>
          <p:nvPr/>
        </p:nvSpPr>
        <p:spPr>
          <a:xfrm>
            <a:off x="7818120" y="16184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22" name="Text 19"/>
          <p:cNvSpPr/>
          <p:nvPr/>
        </p:nvSpPr>
        <p:spPr>
          <a:xfrm>
            <a:off x="8275320" y="1600200"/>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「新築データを読み込む」</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shinchiku.csv を選んで「開く」</a:t>
            </a:r>
            <a:endParaRPr lang="en-US" sz="1400" dirty="0"/>
          </a:p>
        </p:txBody>
      </p:sp>
      <p:sp>
        <p:nvSpPr>
          <p:cNvPr id="23" name="Shape 20"/>
          <p:cNvSpPr/>
          <p:nvPr/>
        </p:nvSpPr>
        <p:spPr>
          <a:xfrm>
            <a:off x="7818120" y="2266902"/>
            <a:ext cx="329184" cy="329184"/>
          </a:xfrm>
          <a:prstGeom prst="ellipse">
            <a:avLst/>
          </a:prstGeom>
          <a:solidFill>
            <a:srgbClr val="E5484D"/>
          </a:solidFill>
          <a:ln/>
        </p:spPr>
      </p:sp>
      <p:sp>
        <p:nvSpPr>
          <p:cNvPr id="24" name="Text 21"/>
          <p:cNvSpPr/>
          <p:nvPr/>
        </p:nvSpPr>
        <p:spPr>
          <a:xfrm>
            <a:off x="7818120" y="226690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25" name="Text 22"/>
          <p:cNvSpPr/>
          <p:nvPr/>
        </p:nvSpPr>
        <p:spPr>
          <a:xfrm>
            <a:off x="8275320" y="2248614"/>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「中古データを読み込む」</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chuko.csv を選んで「開く」</a:t>
            </a:r>
            <a:endParaRPr lang="en-US" sz="1400" dirty="0"/>
          </a:p>
        </p:txBody>
      </p:sp>
      <p:sp>
        <p:nvSpPr>
          <p:cNvPr id="26" name="Shape 23"/>
          <p:cNvSpPr/>
          <p:nvPr/>
        </p:nvSpPr>
        <p:spPr>
          <a:xfrm>
            <a:off x="7818120" y="2915317"/>
            <a:ext cx="329184" cy="329184"/>
          </a:xfrm>
          <a:prstGeom prst="ellipse">
            <a:avLst/>
          </a:prstGeom>
          <a:solidFill>
            <a:srgbClr val="E5484D"/>
          </a:solidFill>
          <a:ln/>
        </p:spPr>
      </p:sp>
      <p:sp>
        <p:nvSpPr>
          <p:cNvPr id="27" name="Text 24"/>
          <p:cNvSpPr/>
          <p:nvPr/>
        </p:nvSpPr>
        <p:spPr>
          <a:xfrm>
            <a:off x="7818120" y="291531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8" name="Text 25"/>
          <p:cNvSpPr/>
          <p:nvPr/>
        </p:nvSpPr>
        <p:spPr>
          <a:xfrm>
            <a:off x="8275320" y="2897029"/>
            <a:ext cx="3364992" cy="502110"/>
          </a:xfrm>
          <a:prstGeom prst="rect">
            <a:avLst/>
          </a:prstGeom>
          <a:noFill/>
          <a:ln/>
        </p:spPr>
        <p:txBody>
          <a:bodyPr wrap="square" lIns="0" tIns="0" rIns="0" bIns="0" rtlCol="0" anchor="t"/>
          <a:lstStyle/>
          <a:p>
            <a:pPr indent="0" marL="0">
              <a:lnSpc>
                <a:spcPct val="115000"/>
              </a:lnSpc>
              <a:buNone/>
            </a:pPr>
            <a:r>
              <a:rPr lang="en-US" sz="1400" b="1" dirty="0">
                <a:solidFill>
                  <a:srgbClr val="1F2A28"/>
                </a:solidFill>
                <a:latin typeface="Yu Gothic" pitchFamily="34" charset="0"/>
                <a:ea typeface="Yu Gothic" pitchFamily="34" charset="-122"/>
                <a:cs typeface="Yu Gothic" pitchFamily="34" charset="-120"/>
              </a:rPr>
              <a:t>件数の表示を確認</a:t>
            </a:r>
            <a:endParaRPr lang="en-US" sz="1400" dirty="0"/>
          </a:p>
          <a:p>
            <a:pPr indent="0" marL="0">
              <a:lnSpc>
                <a:spcPct val="115000"/>
              </a:lnSpc>
              <a:buNone/>
            </a:pPr>
            <a:r>
              <a:rPr lang="en-US" sz="1150" dirty="0">
                <a:solidFill>
                  <a:srgbClr val="3E3E3B"/>
                </a:solidFill>
                <a:latin typeface="Yu Gothic" pitchFamily="34" charset="0"/>
                <a:ea typeface="Yu Gothic" pitchFamily="34" charset="-122"/>
                <a:cs typeface="Yu Gothic" pitchFamily="34" charset="-120"/>
              </a:rPr>
              <a:t>行数・物件数が、Excel の行数と合っているか</a:t>
            </a:r>
            <a:endParaRPr lang="en-US" sz="1400" dirty="0"/>
          </a:p>
        </p:txBody>
      </p:sp>
      <p:sp>
        <p:nvSpPr>
          <p:cNvPr id="29" name="Shape 26"/>
          <p:cNvSpPr/>
          <p:nvPr/>
        </p:nvSpPr>
        <p:spPr>
          <a:xfrm>
            <a:off x="548640" y="4663440"/>
            <a:ext cx="11091672" cy="548640"/>
          </a:xfrm>
          <a:prstGeom prst="roundRect">
            <a:avLst>
              <a:gd name="adj" fmla="val 10000"/>
            </a:avLst>
          </a:prstGeom>
          <a:solidFill>
            <a:srgbClr val="EAF4EE"/>
          </a:solidFill>
          <a:ln/>
        </p:spPr>
      </p:sp>
      <p:sp>
        <p:nvSpPr>
          <p:cNvPr id="30" name="Shape 27"/>
          <p:cNvSpPr/>
          <p:nvPr/>
        </p:nvSpPr>
        <p:spPr>
          <a:xfrm>
            <a:off x="548640" y="4663440"/>
            <a:ext cx="73152" cy="548640"/>
          </a:xfrm>
          <a:prstGeom prst="rect">
            <a:avLst/>
          </a:prstGeom>
          <a:solidFill>
            <a:srgbClr val="2F7D5B"/>
          </a:solidFill>
          <a:ln/>
        </p:spPr>
      </p:sp>
      <p:sp>
        <p:nvSpPr>
          <p:cNvPr id="31" name="Text 28"/>
          <p:cNvSpPr/>
          <p:nvPr/>
        </p:nvSpPr>
        <p:spPr>
          <a:xfrm>
            <a:off x="777240" y="4663440"/>
            <a:ext cx="10725912" cy="548640"/>
          </a:xfrm>
          <a:prstGeom prst="rect">
            <a:avLst/>
          </a:prstGeom>
          <a:noFill/>
          <a:ln/>
        </p:spPr>
        <p:txBody>
          <a:bodyPr wrap="square" lIns="0" tIns="0" rIns="0" bIns="0" rtlCol="0" anchor="ctr"/>
          <a:lstStyle/>
          <a:p>
            <a:pPr indent="0" marL="0">
              <a:lnSpc>
                <a:spcPct val="110000"/>
              </a:lnSpc>
              <a:buNone/>
            </a:pPr>
            <a:r>
              <a:rPr lang="en-US" sz="1250" b="1" dirty="0">
                <a:solidFill>
                  <a:srgbClr val="2F7D5B"/>
                </a:solidFill>
                <a:latin typeface="Yu Gothic" pitchFamily="34" charset="0"/>
                <a:ea typeface="Yu Gothic" pitchFamily="34" charset="-122"/>
                <a:cs typeface="Yu Gothic" pitchFamily="34" charset="-120"/>
              </a:rPr>
              <a:t>✓ 確認ポイント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グラフ・一覧が自社データに切り替われば完成です。エリアや駅徒歩で絞り込んでみましょう</a:t>
            </a:r>
            <a:endParaRPr lang="en-US" sz="1250" dirty="0"/>
          </a:p>
        </p:txBody>
      </p:sp>
      <p:sp>
        <p:nvSpPr>
          <p:cNvPr id="32" name="Shape 29"/>
          <p:cNvSpPr/>
          <p:nvPr/>
        </p:nvSpPr>
        <p:spPr>
          <a:xfrm>
            <a:off x="548640" y="5349240"/>
            <a:ext cx="11091672" cy="548640"/>
          </a:xfrm>
          <a:prstGeom prst="roundRect">
            <a:avLst>
              <a:gd name="adj" fmla="val 10000"/>
            </a:avLst>
          </a:prstGeom>
          <a:solidFill>
            <a:srgbClr val="F5F2EA"/>
          </a:solidFill>
          <a:ln/>
        </p:spPr>
      </p:sp>
      <p:sp>
        <p:nvSpPr>
          <p:cNvPr id="33" name="Shape 30"/>
          <p:cNvSpPr/>
          <p:nvPr/>
        </p:nvSpPr>
        <p:spPr>
          <a:xfrm>
            <a:off x="548640" y="5349240"/>
            <a:ext cx="73152" cy="548640"/>
          </a:xfrm>
          <a:prstGeom prst="rect">
            <a:avLst/>
          </a:prstGeom>
          <a:solidFill>
            <a:srgbClr val="B08D47"/>
          </a:solidFill>
          <a:ln/>
        </p:spPr>
      </p:sp>
      <p:sp>
        <p:nvSpPr>
          <p:cNvPr id="34" name="Text 31"/>
          <p:cNvSpPr/>
          <p:nvPr/>
        </p:nvSpPr>
        <p:spPr>
          <a:xfrm>
            <a:off x="777240" y="5349240"/>
            <a:ext cx="10725912" cy="548640"/>
          </a:xfrm>
          <a:prstGeom prst="rect">
            <a:avLst/>
          </a:prstGeom>
          <a:noFill/>
          <a:ln/>
        </p:spPr>
        <p:txBody>
          <a:bodyPr wrap="square" lIns="0" tIns="0" rIns="0" bIns="0" rtlCol="0" anchor="ctr"/>
          <a:lstStyle/>
          <a:p>
            <a:pPr indent="0" marL="0">
              <a:lnSpc>
                <a:spcPct val="110000"/>
              </a:lnSpc>
              <a:buNone/>
            </a:pPr>
            <a:r>
              <a:rPr lang="en-US" sz="125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ツールを閉じるとデータは消えます（保存されません）。次に開いたときは、もう一度読み込みます</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第4部　STEP 18</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うまく読み込めないときのチェック</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画面に出るメッセージで、原因が分かります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39</a:t>
            </a:r>
            <a:endParaRPr lang="en-US" sz="900" dirty="0"/>
          </a:p>
        </p:txBody>
      </p:sp>
      <p:sp>
        <p:nvSpPr>
          <p:cNvPr id="8" name="Shape 6"/>
          <p:cNvSpPr/>
          <p:nvPr/>
        </p:nvSpPr>
        <p:spPr>
          <a:xfrm>
            <a:off x="548640" y="1600200"/>
            <a:ext cx="3749040" cy="411480"/>
          </a:xfrm>
          <a:prstGeom prst="rect">
            <a:avLst/>
          </a:prstGeom>
          <a:solidFill>
            <a:srgbClr val="1F2E2B"/>
          </a:solidFill>
          <a:ln w="12700">
            <a:solidFill>
              <a:srgbClr val="FFFFFF"/>
            </a:solidFill>
            <a:prstDash val="solid"/>
          </a:ln>
        </p:spPr>
      </p:sp>
      <p:sp>
        <p:nvSpPr>
          <p:cNvPr id="9" name="Text 7"/>
          <p:cNvSpPr/>
          <p:nvPr/>
        </p:nvSpPr>
        <p:spPr>
          <a:xfrm>
            <a:off x="685800" y="1600200"/>
            <a:ext cx="3474720" cy="41148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画面の表示・症状</a:t>
            </a:r>
            <a:endParaRPr lang="en-US" sz="1300" dirty="0"/>
          </a:p>
        </p:txBody>
      </p:sp>
      <p:sp>
        <p:nvSpPr>
          <p:cNvPr id="10" name="Shape 8"/>
          <p:cNvSpPr/>
          <p:nvPr/>
        </p:nvSpPr>
        <p:spPr>
          <a:xfrm>
            <a:off x="4297680" y="1600200"/>
            <a:ext cx="3108960" cy="411480"/>
          </a:xfrm>
          <a:prstGeom prst="rect">
            <a:avLst/>
          </a:prstGeom>
          <a:solidFill>
            <a:srgbClr val="1F2E2B"/>
          </a:solidFill>
          <a:ln w="12700">
            <a:solidFill>
              <a:srgbClr val="FFFFFF"/>
            </a:solidFill>
            <a:prstDash val="solid"/>
          </a:ln>
        </p:spPr>
      </p:sp>
      <p:sp>
        <p:nvSpPr>
          <p:cNvPr id="11" name="Text 9"/>
          <p:cNvSpPr/>
          <p:nvPr/>
        </p:nvSpPr>
        <p:spPr>
          <a:xfrm>
            <a:off x="4434840" y="1600200"/>
            <a:ext cx="2834640" cy="41148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原因</a:t>
            </a:r>
            <a:endParaRPr lang="en-US" sz="1300" dirty="0"/>
          </a:p>
        </p:txBody>
      </p:sp>
      <p:sp>
        <p:nvSpPr>
          <p:cNvPr id="12" name="Shape 10"/>
          <p:cNvSpPr/>
          <p:nvPr/>
        </p:nvSpPr>
        <p:spPr>
          <a:xfrm>
            <a:off x="7406640" y="1600200"/>
            <a:ext cx="4233672" cy="411480"/>
          </a:xfrm>
          <a:prstGeom prst="rect">
            <a:avLst/>
          </a:prstGeom>
          <a:solidFill>
            <a:srgbClr val="1F2E2B"/>
          </a:solidFill>
          <a:ln w="12700">
            <a:solidFill>
              <a:srgbClr val="FFFFFF"/>
            </a:solidFill>
            <a:prstDash val="solid"/>
          </a:ln>
        </p:spPr>
      </p:sp>
      <p:sp>
        <p:nvSpPr>
          <p:cNvPr id="13" name="Text 11"/>
          <p:cNvSpPr/>
          <p:nvPr/>
        </p:nvSpPr>
        <p:spPr>
          <a:xfrm>
            <a:off x="7543800" y="1600200"/>
            <a:ext cx="3959352" cy="41148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直し方</a:t>
            </a:r>
            <a:endParaRPr lang="en-US" sz="1300" dirty="0"/>
          </a:p>
        </p:txBody>
      </p:sp>
      <p:sp>
        <p:nvSpPr>
          <p:cNvPr id="14" name="Shape 12"/>
          <p:cNvSpPr/>
          <p:nvPr/>
        </p:nvSpPr>
        <p:spPr>
          <a:xfrm>
            <a:off x="548640" y="2011680"/>
            <a:ext cx="3749040" cy="987552"/>
          </a:xfrm>
          <a:prstGeom prst="rect">
            <a:avLst/>
          </a:prstGeom>
          <a:solidFill>
            <a:srgbClr val="FBF9F4"/>
          </a:solidFill>
          <a:ln w="9525">
            <a:solidFill>
              <a:srgbClr val="E4DFD4"/>
            </a:solidFill>
            <a:prstDash val="solid"/>
          </a:ln>
        </p:spPr>
      </p:sp>
      <p:sp>
        <p:nvSpPr>
          <p:cNvPr id="15" name="Text 13"/>
          <p:cNvSpPr/>
          <p:nvPr/>
        </p:nvSpPr>
        <p:spPr>
          <a:xfrm>
            <a:off x="685800" y="2011680"/>
            <a:ext cx="3474720" cy="987552"/>
          </a:xfrm>
          <a:prstGeom prst="rect">
            <a:avLst/>
          </a:prstGeom>
          <a:noFill/>
          <a:ln/>
        </p:spPr>
        <p:txBody>
          <a:bodyPr wrap="square" lIns="0" tIns="0" rIns="0" bIns="0" rtlCol="0" anchor="ctr"/>
          <a:lstStyle/>
          <a:p>
            <a:pPr indent="0" marL="0">
              <a:lnSpc>
                <a:spcPct val="115000"/>
              </a:lnSpc>
              <a:buNone/>
            </a:pPr>
            <a:r>
              <a:rPr lang="en-US" sz="1200" b="1" dirty="0">
                <a:solidFill>
                  <a:srgbClr val="1F2A28"/>
                </a:solidFill>
                <a:latin typeface="Yu Gothic" pitchFamily="34" charset="0"/>
                <a:ea typeface="Yu Gothic" pitchFamily="34" charset="-122"/>
                <a:cs typeface="Yu Gothic" pitchFamily="34" charset="-120"/>
              </a:rPr>
              <a:t>「新築データの列名が足りません：駅徒歩分」</a:t>
            </a:r>
            <a:endParaRPr lang="en-US" sz="1200" dirty="0"/>
          </a:p>
        </p:txBody>
      </p:sp>
      <p:sp>
        <p:nvSpPr>
          <p:cNvPr id="16" name="Shape 14"/>
          <p:cNvSpPr/>
          <p:nvPr/>
        </p:nvSpPr>
        <p:spPr>
          <a:xfrm>
            <a:off x="4297680" y="2011680"/>
            <a:ext cx="3108960" cy="987552"/>
          </a:xfrm>
          <a:prstGeom prst="rect">
            <a:avLst/>
          </a:prstGeom>
          <a:solidFill>
            <a:srgbClr val="FBF9F4"/>
          </a:solidFill>
          <a:ln w="9525">
            <a:solidFill>
              <a:srgbClr val="E4DFD4"/>
            </a:solidFill>
            <a:prstDash val="solid"/>
          </a:ln>
        </p:spPr>
      </p:sp>
      <p:sp>
        <p:nvSpPr>
          <p:cNvPr id="17" name="Text 15"/>
          <p:cNvSpPr/>
          <p:nvPr/>
        </p:nvSpPr>
        <p:spPr>
          <a:xfrm>
            <a:off x="4434840" y="2011680"/>
            <a:ext cx="2834640" cy="987552"/>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1行目の列名がちがう／足りない</a:t>
            </a:r>
            <a:endParaRPr lang="en-US" sz="1200" dirty="0"/>
          </a:p>
        </p:txBody>
      </p:sp>
      <p:sp>
        <p:nvSpPr>
          <p:cNvPr id="18" name="Shape 16"/>
          <p:cNvSpPr/>
          <p:nvPr/>
        </p:nvSpPr>
        <p:spPr>
          <a:xfrm>
            <a:off x="7406640" y="2011680"/>
            <a:ext cx="4233672" cy="987552"/>
          </a:xfrm>
          <a:prstGeom prst="rect">
            <a:avLst/>
          </a:prstGeom>
          <a:solidFill>
            <a:srgbClr val="FBF9F4"/>
          </a:solidFill>
          <a:ln w="9525">
            <a:solidFill>
              <a:srgbClr val="E4DFD4"/>
            </a:solidFill>
            <a:prstDash val="solid"/>
          </a:ln>
        </p:spPr>
      </p:sp>
      <p:sp>
        <p:nvSpPr>
          <p:cNvPr id="19" name="Text 17"/>
          <p:cNvSpPr/>
          <p:nvPr/>
        </p:nvSpPr>
        <p:spPr>
          <a:xfrm>
            <a:off x="7543800" y="2011680"/>
            <a:ext cx="3959352" cy="987552"/>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列名を前のスライドどおりに直す。または次のスライドのプロンプトでツールを合わせる</a:t>
            </a:r>
            <a:endParaRPr lang="en-US" sz="1200" dirty="0"/>
          </a:p>
        </p:txBody>
      </p:sp>
      <p:sp>
        <p:nvSpPr>
          <p:cNvPr id="20" name="Shape 18"/>
          <p:cNvSpPr/>
          <p:nvPr/>
        </p:nvSpPr>
        <p:spPr>
          <a:xfrm>
            <a:off x="548640" y="2999232"/>
            <a:ext cx="3749040" cy="987552"/>
          </a:xfrm>
          <a:prstGeom prst="rect">
            <a:avLst/>
          </a:prstGeom>
          <a:solidFill>
            <a:srgbClr val="FFFFFF"/>
          </a:solidFill>
          <a:ln w="9525">
            <a:solidFill>
              <a:srgbClr val="E4DFD4"/>
            </a:solidFill>
            <a:prstDash val="solid"/>
          </a:ln>
        </p:spPr>
      </p:sp>
      <p:sp>
        <p:nvSpPr>
          <p:cNvPr id="21" name="Text 19"/>
          <p:cNvSpPr/>
          <p:nvPr/>
        </p:nvSpPr>
        <p:spPr>
          <a:xfrm>
            <a:off x="685800" y="2999232"/>
            <a:ext cx="3474720" cy="987552"/>
          </a:xfrm>
          <a:prstGeom prst="rect">
            <a:avLst/>
          </a:prstGeom>
          <a:noFill/>
          <a:ln/>
        </p:spPr>
        <p:txBody>
          <a:bodyPr wrap="square" lIns="0" tIns="0" rIns="0" bIns="0" rtlCol="0" anchor="ctr"/>
          <a:lstStyle/>
          <a:p>
            <a:pPr indent="0" marL="0">
              <a:lnSpc>
                <a:spcPct val="115000"/>
              </a:lnSpc>
              <a:buNone/>
            </a:pPr>
            <a:r>
              <a:rPr lang="en-US" sz="1200" b="1" dirty="0">
                <a:solidFill>
                  <a:srgbClr val="1F2A28"/>
                </a:solidFill>
                <a:latin typeface="Yu Gothic" pitchFamily="34" charset="0"/>
                <a:ea typeface="Yu Gothic" pitchFamily="34" charset="-122"/>
                <a:cs typeface="Yu Gothic" pitchFamily="34" charset="-120"/>
              </a:rPr>
              <a:t>「物件名が新築データと一致しない中古データ ◯行は除外」</a:t>
            </a:r>
            <a:endParaRPr lang="en-US" sz="1200" dirty="0"/>
          </a:p>
        </p:txBody>
      </p:sp>
      <p:sp>
        <p:nvSpPr>
          <p:cNvPr id="22" name="Shape 20"/>
          <p:cNvSpPr/>
          <p:nvPr/>
        </p:nvSpPr>
        <p:spPr>
          <a:xfrm>
            <a:off x="4297680" y="2999232"/>
            <a:ext cx="3108960" cy="987552"/>
          </a:xfrm>
          <a:prstGeom prst="rect">
            <a:avLst/>
          </a:prstGeom>
          <a:solidFill>
            <a:srgbClr val="FFFFFF"/>
          </a:solidFill>
          <a:ln w="9525">
            <a:solidFill>
              <a:srgbClr val="E4DFD4"/>
            </a:solidFill>
            <a:prstDash val="solid"/>
          </a:ln>
        </p:spPr>
      </p:sp>
      <p:sp>
        <p:nvSpPr>
          <p:cNvPr id="23" name="Text 21"/>
          <p:cNvSpPr/>
          <p:nvPr/>
        </p:nvSpPr>
        <p:spPr>
          <a:xfrm>
            <a:off x="4434840" y="2999232"/>
            <a:ext cx="2834640" cy="987552"/>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中古データの物件名が、新築データと少し違う</a:t>
            </a:r>
            <a:endParaRPr lang="en-US" sz="1200" dirty="0"/>
          </a:p>
        </p:txBody>
      </p:sp>
      <p:sp>
        <p:nvSpPr>
          <p:cNvPr id="24" name="Shape 22"/>
          <p:cNvSpPr/>
          <p:nvPr/>
        </p:nvSpPr>
        <p:spPr>
          <a:xfrm>
            <a:off x="7406640" y="2999232"/>
            <a:ext cx="4233672" cy="987552"/>
          </a:xfrm>
          <a:prstGeom prst="rect">
            <a:avLst/>
          </a:prstGeom>
          <a:solidFill>
            <a:srgbClr val="FFFFFF"/>
          </a:solidFill>
          <a:ln w="9525">
            <a:solidFill>
              <a:srgbClr val="E4DFD4"/>
            </a:solidFill>
            <a:prstDash val="solid"/>
          </a:ln>
        </p:spPr>
      </p:sp>
      <p:sp>
        <p:nvSpPr>
          <p:cNvPr id="25" name="Text 23"/>
          <p:cNvSpPr/>
          <p:nvPr/>
        </p:nvSpPr>
        <p:spPr>
          <a:xfrm>
            <a:off x="7543800" y="2999232"/>
            <a:ext cx="3959352" cy="987552"/>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「タワー」と「ﾀﾜｰ」、スペースの有無などをそろえる</a:t>
            </a:r>
            <a:endParaRPr lang="en-US" sz="1200" dirty="0"/>
          </a:p>
        </p:txBody>
      </p:sp>
      <p:sp>
        <p:nvSpPr>
          <p:cNvPr id="26" name="Shape 24"/>
          <p:cNvSpPr/>
          <p:nvPr/>
        </p:nvSpPr>
        <p:spPr>
          <a:xfrm>
            <a:off x="548640" y="3986784"/>
            <a:ext cx="3749040" cy="987552"/>
          </a:xfrm>
          <a:prstGeom prst="rect">
            <a:avLst/>
          </a:prstGeom>
          <a:solidFill>
            <a:srgbClr val="FBF9F4"/>
          </a:solidFill>
          <a:ln w="9525">
            <a:solidFill>
              <a:srgbClr val="E4DFD4"/>
            </a:solidFill>
            <a:prstDash val="solid"/>
          </a:ln>
        </p:spPr>
      </p:sp>
      <p:sp>
        <p:nvSpPr>
          <p:cNvPr id="27" name="Text 25"/>
          <p:cNvSpPr/>
          <p:nvPr/>
        </p:nvSpPr>
        <p:spPr>
          <a:xfrm>
            <a:off x="685800" y="3986784"/>
            <a:ext cx="3474720" cy="987552"/>
          </a:xfrm>
          <a:prstGeom prst="rect">
            <a:avLst/>
          </a:prstGeom>
          <a:noFill/>
          <a:ln/>
        </p:spPr>
        <p:txBody>
          <a:bodyPr wrap="square" lIns="0" tIns="0" rIns="0" bIns="0" rtlCol="0" anchor="ctr"/>
          <a:lstStyle/>
          <a:p>
            <a:pPr indent="0" marL="0">
              <a:lnSpc>
                <a:spcPct val="115000"/>
              </a:lnSpc>
              <a:buNone/>
            </a:pPr>
            <a:r>
              <a:rPr lang="en-US" sz="1200" b="1" dirty="0">
                <a:solidFill>
                  <a:srgbClr val="1F2A28"/>
                </a:solidFill>
                <a:latin typeface="Yu Gothic" pitchFamily="34" charset="0"/>
                <a:ea typeface="Yu Gothic" pitchFamily="34" charset="-122"/>
                <a:cs typeface="Yu Gothic" pitchFamily="34" charset="-120"/>
              </a:rPr>
              <a:t>文字化けする（◆や?が並ぶ）</a:t>
            </a:r>
            <a:endParaRPr lang="en-US" sz="1200" dirty="0"/>
          </a:p>
        </p:txBody>
      </p:sp>
      <p:sp>
        <p:nvSpPr>
          <p:cNvPr id="28" name="Shape 26"/>
          <p:cNvSpPr/>
          <p:nvPr/>
        </p:nvSpPr>
        <p:spPr>
          <a:xfrm>
            <a:off x="4297680" y="3986784"/>
            <a:ext cx="3108960" cy="987552"/>
          </a:xfrm>
          <a:prstGeom prst="rect">
            <a:avLst/>
          </a:prstGeom>
          <a:solidFill>
            <a:srgbClr val="FBF9F4"/>
          </a:solidFill>
          <a:ln w="9525">
            <a:solidFill>
              <a:srgbClr val="E4DFD4"/>
            </a:solidFill>
            <a:prstDash val="solid"/>
          </a:ln>
        </p:spPr>
      </p:sp>
      <p:sp>
        <p:nvSpPr>
          <p:cNvPr id="29" name="Text 27"/>
          <p:cNvSpPr/>
          <p:nvPr/>
        </p:nvSpPr>
        <p:spPr>
          <a:xfrm>
            <a:off x="4434840" y="3986784"/>
            <a:ext cx="2834640" cy="987552"/>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CSV の文字コードが想定外</a:t>
            </a:r>
            <a:endParaRPr lang="en-US" sz="1200" dirty="0"/>
          </a:p>
        </p:txBody>
      </p:sp>
      <p:sp>
        <p:nvSpPr>
          <p:cNvPr id="30" name="Shape 28"/>
          <p:cNvSpPr/>
          <p:nvPr/>
        </p:nvSpPr>
        <p:spPr>
          <a:xfrm>
            <a:off x="7406640" y="3986784"/>
            <a:ext cx="4233672" cy="987552"/>
          </a:xfrm>
          <a:prstGeom prst="rect">
            <a:avLst/>
          </a:prstGeom>
          <a:solidFill>
            <a:srgbClr val="FBF9F4"/>
          </a:solidFill>
          <a:ln w="9525">
            <a:solidFill>
              <a:srgbClr val="E4DFD4"/>
            </a:solidFill>
            <a:prstDash val="solid"/>
          </a:ln>
        </p:spPr>
      </p:sp>
      <p:sp>
        <p:nvSpPr>
          <p:cNvPr id="31" name="Text 29"/>
          <p:cNvSpPr/>
          <p:nvPr/>
        </p:nvSpPr>
        <p:spPr>
          <a:xfrm>
            <a:off x="7543800" y="3986784"/>
            <a:ext cx="3959352" cy="987552"/>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Excel で「CSV UTF-8」を選んで保存し直す</a:t>
            </a:r>
            <a:endParaRPr lang="en-US" sz="1200" dirty="0"/>
          </a:p>
        </p:txBody>
      </p:sp>
      <p:sp>
        <p:nvSpPr>
          <p:cNvPr id="32" name="Shape 30"/>
          <p:cNvSpPr/>
          <p:nvPr/>
        </p:nvSpPr>
        <p:spPr>
          <a:xfrm>
            <a:off x="548640" y="4974336"/>
            <a:ext cx="3749040" cy="987552"/>
          </a:xfrm>
          <a:prstGeom prst="rect">
            <a:avLst/>
          </a:prstGeom>
          <a:solidFill>
            <a:srgbClr val="FFFFFF"/>
          </a:solidFill>
          <a:ln w="9525">
            <a:solidFill>
              <a:srgbClr val="E4DFD4"/>
            </a:solidFill>
            <a:prstDash val="solid"/>
          </a:ln>
        </p:spPr>
      </p:sp>
      <p:sp>
        <p:nvSpPr>
          <p:cNvPr id="33" name="Text 31"/>
          <p:cNvSpPr/>
          <p:nvPr/>
        </p:nvSpPr>
        <p:spPr>
          <a:xfrm>
            <a:off x="685800" y="4974336"/>
            <a:ext cx="3474720" cy="987552"/>
          </a:xfrm>
          <a:prstGeom prst="rect">
            <a:avLst/>
          </a:prstGeom>
          <a:noFill/>
          <a:ln/>
        </p:spPr>
        <p:txBody>
          <a:bodyPr wrap="square" lIns="0" tIns="0" rIns="0" bIns="0" rtlCol="0" anchor="ctr"/>
          <a:lstStyle/>
          <a:p>
            <a:pPr indent="0" marL="0">
              <a:lnSpc>
                <a:spcPct val="115000"/>
              </a:lnSpc>
              <a:buNone/>
            </a:pPr>
            <a:r>
              <a:rPr lang="en-US" sz="1200" b="1" dirty="0">
                <a:solidFill>
                  <a:srgbClr val="1F2A28"/>
                </a:solidFill>
                <a:latin typeface="Yu Gothic" pitchFamily="34" charset="0"/>
                <a:ea typeface="Yu Gothic" pitchFamily="34" charset="-122"/>
                <a:cs typeface="Yu Gothic" pitchFamily="34" charset="-120"/>
              </a:rPr>
              <a:t>グラフが一部しか出ない／件数が少ない</a:t>
            </a:r>
            <a:endParaRPr lang="en-US" sz="1200" dirty="0"/>
          </a:p>
        </p:txBody>
      </p:sp>
      <p:sp>
        <p:nvSpPr>
          <p:cNvPr id="34" name="Shape 32"/>
          <p:cNvSpPr/>
          <p:nvPr/>
        </p:nvSpPr>
        <p:spPr>
          <a:xfrm>
            <a:off x="4297680" y="4974336"/>
            <a:ext cx="3108960" cy="987552"/>
          </a:xfrm>
          <a:prstGeom prst="rect">
            <a:avLst/>
          </a:prstGeom>
          <a:solidFill>
            <a:srgbClr val="FFFFFF"/>
          </a:solidFill>
          <a:ln w="9525">
            <a:solidFill>
              <a:srgbClr val="E4DFD4"/>
            </a:solidFill>
            <a:prstDash val="solid"/>
          </a:ln>
        </p:spPr>
      </p:sp>
      <p:sp>
        <p:nvSpPr>
          <p:cNvPr id="35" name="Text 33"/>
          <p:cNvSpPr/>
          <p:nvPr/>
        </p:nvSpPr>
        <p:spPr>
          <a:xfrm>
            <a:off x="4434840" y="4974336"/>
            <a:ext cx="2834640" cy="987552"/>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価格や面積に「万円」「㎡」以外の文字、空欄がある</a:t>
            </a:r>
            <a:endParaRPr lang="en-US" sz="1200" dirty="0"/>
          </a:p>
        </p:txBody>
      </p:sp>
      <p:sp>
        <p:nvSpPr>
          <p:cNvPr id="36" name="Shape 34"/>
          <p:cNvSpPr/>
          <p:nvPr/>
        </p:nvSpPr>
        <p:spPr>
          <a:xfrm>
            <a:off x="7406640" y="4974336"/>
            <a:ext cx="4233672" cy="987552"/>
          </a:xfrm>
          <a:prstGeom prst="rect">
            <a:avLst/>
          </a:prstGeom>
          <a:solidFill>
            <a:srgbClr val="FFFFFF"/>
          </a:solidFill>
          <a:ln w="9525">
            <a:solidFill>
              <a:srgbClr val="E4DFD4"/>
            </a:solidFill>
            <a:prstDash val="solid"/>
          </a:ln>
        </p:spPr>
      </p:sp>
      <p:sp>
        <p:nvSpPr>
          <p:cNvPr id="37" name="Text 35"/>
          <p:cNvSpPr/>
          <p:nvPr/>
        </p:nvSpPr>
        <p:spPr>
          <a:xfrm>
            <a:off x="7543800" y="4974336"/>
            <a:ext cx="3959352" cy="987552"/>
          </a:xfrm>
          <a:prstGeom prst="rect">
            <a:avLst/>
          </a:prstGeom>
          <a:noFill/>
          <a:ln/>
        </p:spPr>
        <p:txBody>
          <a:bodyPr wrap="square" lIns="0" tIns="0" rIns="0" bIns="0" rtlCol="0" anchor="ctr"/>
          <a:lstStyle/>
          <a:p>
            <a:pPr indent="0" marL="0">
              <a:lnSpc>
                <a:spcPct val="115000"/>
              </a:lnSpc>
              <a:buNone/>
            </a:pPr>
            <a:r>
              <a:rPr lang="en-US" sz="1200" dirty="0">
                <a:solidFill>
                  <a:srgbClr val="3E3E3B"/>
                </a:solidFill>
                <a:latin typeface="Yu Gothic" pitchFamily="34" charset="0"/>
                <a:ea typeface="Yu Gothic" pitchFamily="34" charset="-122"/>
                <a:cs typeface="Yu Gothic" pitchFamily="34" charset="-120"/>
              </a:rPr>
              <a:t>数字だけにする。カンマ区切りの「5,800」もOKだが、全角数字は半角に</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第4部</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自社データの列名が違うときは、ツールの方を合わせる</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CSV の「1行目だけ」を貼ります。2行目以降（物件の中身）は絶対に貼りません</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40</a:t>
            </a:r>
            <a:endParaRPr lang="en-US" sz="900" dirty="0"/>
          </a:p>
        </p:txBody>
      </p:sp>
      <p:sp>
        <p:nvSpPr>
          <p:cNvPr id="8" name="Shape 6"/>
          <p:cNvSpPr/>
          <p:nvPr/>
        </p:nvSpPr>
        <p:spPr>
          <a:xfrm>
            <a:off x="548640" y="1554480"/>
            <a:ext cx="6949440" cy="3291840"/>
          </a:xfrm>
          <a:prstGeom prst="roundRect">
            <a:avLst>
              <a:gd name="adj" fmla="val 2222"/>
            </a:avLst>
          </a:prstGeom>
          <a:solidFill>
            <a:srgbClr val="1E293B"/>
          </a:solidFill>
          <a:ln/>
        </p:spPr>
      </p:sp>
      <p:sp>
        <p:nvSpPr>
          <p:cNvPr id="9" name="Text 7"/>
          <p:cNvSpPr/>
          <p:nvPr/>
        </p:nvSpPr>
        <p:spPr>
          <a:xfrm>
            <a:off x="777240" y="1664208"/>
            <a:ext cx="6492240" cy="256032"/>
          </a:xfrm>
          <a:prstGeom prst="rect">
            <a:avLst/>
          </a:prstGeom>
          <a:noFill/>
          <a:ln/>
        </p:spPr>
        <p:txBody>
          <a:bodyPr wrap="square" lIns="0" tIns="0" rIns="0" bIns="0" rtlCol="0" anchor="t"/>
          <a:lstStyle/>
          <a:p>
            <a:pPr indent="0" marL="0">
              <a:buNone/>
            </a:pPr>
            <a:r>
              <a:rPr lang="en-US" sz="1050" b="1" dirty="0">
                <a:solidFill>
                  <a:srgbClr val="CBB07A"/>
                </a:solidFill>
                <a:latin typeface="Yu Gothic" pitchFamily="34" charset="0"/>
                <a:ea typeface="Yu Gothic" pitchFamily="34" charset="-122"/>
                <a:cs typeface="Yu Gothic" pitchFamily="34" charset="-120"/>
              </a:rPr>
              <a:t>📋 コピーして Claude の入力欄に貼り付け</a:t>
            </a:r>
            <a:endParaRPr lang="en-US" sz="1050" dirty="0"/>
          </a:p>
        </p:txBody>
      </p:sp>
      <p:sp>
        <p:nvSpPr>
          <p:cNvPr id="10" name="Text 8"/>
          <p:cNvSpPr/>
          <p:nvPr/>
        </p:nvSpPr>
        <p:spPr>
          <a:xfrm>
            <a:off x="777240" y="1993392"/>
            <a:ext cx="6492240" cy="2743200"/>
          </a:xfrm>
          <a:prstGeom prst="rect">
            <a:avLst/>
          </a:prstGeom>
          <a:noFill/>
          <a:ln/>
        </p:spPr>
        <p:txBody>
          <a:bodyPr wrap="square" lIns="0" tIns="0" rIns="0" bIns="0" rtlCol="0" anchor="t"/>
          <a:lstStyle/>
          <a:p>
            <a:pPr indent="0" marL="0">
              <a:lnSpc>
                <a:spcPct val="112000"/>
              </a:lnSpc>
              <a:buNone/>
            </a:pPr>
            <a:r>
              <a:rPr lang="en-US" sz="1080" dirty="0">
                <a:solidFill>
                  <a:srgbClr val="F1F5F9"/>
                </a:solidFill>
                <a:latin typeface="Yu Gothic" pitchFamily="34" charset="0"/>
                <a:ea typeface="Yu Gothic" pitchFamily="34" charset="-122"/>
                <a:cs typeface="Yu Gothic" pitchFamily="34" charset="-120"/>
              </a:rPr>
              <a:t>自社のCSVの列名が、ツールの想定と違います。データの中身は貼りません。1行目（列名）だけを書きます。</a:t>
            </a:r>
            <a:endParaRPr lang="en-US" sz="1080" dirty="0"/>
          </a:p>
          <a:p>
            <a:pPr indent="0" marL="0">
              <a:lnSpc>
                <a:spcPct val="112000"/>
              </a:lnSpc>
              <a:buNone/>
            </a:pPr>
            <a:endParaRPr lang="en-US" sz="1080" dirty="0"/>
          </a:p>
          <a:p>
            <a:pPr indent="0" marL="0">
              <a:lnSpc>
                <a:spcPct val="112000"/>
              </a:lnSpc>
              <a:buNone/>
            </a:pPr>
            <a:r>
              <a:rPr lang="en-US" sz="1080" dirty="0">
                <a:solidFill>
                  <a:srgbClr val="F1F5F9"/>
                </a:solidFill>
                <a:latin typeface="Yu Gothic" pitchFamily="34" charset="0"/>
                <a:ea typeface="Yu Gothic" pitchFamily="34" charset="-122"/>
                <a:cs typeface="Yu Gothic" pitchFamily="34" charset="-120"/>
              </a:rPr>
              <a:t>新築データの列名：＜ここに自社CSVの1行目を貼る＞</a:t>
            </a:r>
            <a:endParaRPr lang="en-US" sz="1080" dirty="0"/>
          </a:p>
          <a:p>
            <a:pPr indent="0" marL="0">
              <a:lnSpc>
                <a:spcPct val="112000"/>
              </a:lnSpc>
              <a:buNone/>
            </a:pPr>
            <a:r>
              <a:rPr lang="en-US" sz="1080" dirty="0">
                <a:solidFill>
                  <a:srgbClr val="F1F5F9"/>
                </a:solidFill>
                <a:latin typeface="Yu Gothic" pitchFamily="34" charset="0"/>
                <a:ea typeface="Yu Gothic" pitchFamily="34" charset="-122"/>
                <a:cs typeface="Yu Gothic" pitchFamily="34" charset="-120"/>
              </a:rPr>
              <a:t>中古データの列名：＜ここに自社CSVの1行目を貼る＞</a:t>
            </a:r>
            <a:endParaRPr lang="en-US" sz="1080" dirty="0"/>
          </a:p>
          <a:p>
            <a:pPr indent="0" marL="0">
              <a:lnSpc>
                <a:spcPct val="112000"/>
              </a:lnSpc>
              <a:buNone/>
            </a:pPr>
            <a:endParaRPr lang="en-US" sz="1080" dirty="0"/>
          </a:p>
          <a:p>
            <a:pPr indent="0" marL="0">
              <a:lnSpc>
                <a:spcPct val="112000"/>
              </a:lnSpc>
              <a:buNone/>
            </a:pPr>
            <a:r>
              <a:rPr lang="en-US" sz="1080" dirty="0">
                <a:solidFill>
                  <a:srgbClr val="F1F5F9"/>
                </a:solidFill>
                <a:latin typeface="Yu Gothic" pitchFamily="34" charset="0"/>
                <a:ea typeface="Yu Gothic" pitchFamily="34" charset="-122"/>
                <a:cs typeface="Yu Gothic" pitchFamily="34" charset="-120"/>
              </a:rPr>
              <a:t>この列名のCSVをそのまま読み込めるように、ツールを直してください。</a:t>
            </a:r>
            <a:endParaRPr lang="en-US" sz="1080" dirty="0"/>
          </a:p>
          <a:p>
            <a:pPr indent="0" marL="0">
              <a:lnSpc>
                <a:spcPct val="112000"/>
              </a:lnSpc>
              <a:buNone/>
            </a:pPr>
            <a:r>
              <a:rPr lang="en-US" sz="1080" dirty="0">
                <a:solidFill>
                  <a:srgbClr val="F1F5F9"/>
                </a:solidFill>
                <a:latin typeface="Yu Gothic" pitchFamily="34" charset="0"/>
                <a:ea typeface="Yu Gothic" pitchFamily="34" charset="-122"/>
                <a:cs typeface="Yu Gothic" pitchFamily="34" charset="-120"/>
              </a:rPr>
              <a:t>どの列をどの項目として扱うかを、表にして日本語で説明してください。</a:t>
            </a:r>
            <a:endParaRPr lang="en-US" sz="1080" dirty="0"/>
          </a:p>
          <a:p>
            <a:pPr indent="0" marL="0">
              <a:lnSpc>
                <a:spcPct val="112000"/>
              </a:lnSpc>
              <a:buNone/>
            </a:pPr>
            <a:r>
              <a:rPr lang="en-US" sz="1080" dirty="0">
                <a:solidFill>
                  <a:srgbClr val="F1F5F9"/>
                </a:solidFill>
                <a:latin typeface="Yu Gothic" pitchFamily="34" charset="0"/>
                <a:ea typeface="Yu Gothic" pitchFamily="34" charset="-122"/>
                <a:cs typeface="Yu Gothic" pitchFamily="34" charset="-120"/>
              </a:rPr>
              <a:t>価格の単位が円の場合は万円に、面積が坪の場合は㎡に直して計算してください。</a:t>
            </a:r>
            <a:endParaRPr lang="en-US" sz="1080" dirty="0"/>
          </a:p>
        </p:txBody>
      </p:sp>
      <p:sp>
        <p:nvSpPr>
          <p:cNvPr id="11" name="Shape 9"/>
          <p:cNvSpPr/>
          <p:nvPr/>
        </p:nvSpPr>
        <p:spPr>
          <a:xfrm>
            <a:off x="7818120" y="1554480"/>
            <a:ext cx="3822192" cy="2103120"/>
          </a:xfrm>
          <a:prstGeom prst="roundRect">
            <a:avLst>
              <a:gd name="adj" fmla="val 3478"/>
            </a:avLst>
          </a:prstGeom>
          <a:solidFill>
            <a:srgbClr val="FBF9F4"/>
          </a:solidFill>
          <a:ln w="12700">
            <a:solidFill>
              <a:srgbClr val="E4DFD4"/>
            </a:solidFill>
            <a:prstDash val="solid"/>
          </a:ln>
        </p:spPr>
      </p:sp>
      <p:sp>
        <p:nvSpPr>
          <p:cNvPr id="12" name="Text 10"/>
          <p:cNvSpPr/>
          <p:nvPr/>
        </p:nvSpPr>
        <p:spPr>
          <a:xfrm>
            <a:off x="8019288" y="1700784"/>
            <a:ext cx="341985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1行目だけ、の例</a:t>
            </a:r>
            <a:endParaRPr lang="en-US" sz="1500" dirty="0"/>
          </a:p>
        </p:txBody>
      </p:sp>
      <p:sp>
        <p:nvSpPr>
          <p:cNvPr id="13" name="Text 11"/>
          <p:cNvSpPr/>
          <p:nvPr/>
        </p:nvSpPr>
        <p:spPr>
          <a:xfrm>
            <a:off x="8019288" y="2103120"/>
            <a:ext cx="3419856" cy="1444752"/>
          </a:xfrm>
          <a:prstGeom prst="rect">
            <a:avLst/>
          </a:prstGeom>
          <a:noFill/>
          <a:ln/>
        </p:spPr>
        <p:txBody>
          <a:bodyPr wrap="square" lIns="0" tIns="0" rIns="0" bIns="0" rtlCol="0" anchor="t"/>
          <a:lstStyle/>
          <a:p>
            <a:pPr indent="0" marL="0">
              <a:lnSpc>
                <a:spcPct val="120000"/>
              </a:lnSpc>
              <a:buNone/>
            </a:pPr>
            <a:r>
              <a:rPr lang="en-US" sz="1150" dirty="0">
                <a:solidFill>
                  <a:srgbClr val="3E3E3B"/>
                </a:solidFill>
                <a:latin typeface="Yu Gothic" pitchFamily="34" charset="0"/>
                <a:ea typeface="Yu Gothic" pitchFamily="34" charset="-122"/>
                <a:cs typeface="Yu Gothic" pitchFamily="34" charset="-120"/>
              </a:rPr>
              <a:t>物件名称,所在区,駅,徒歩,竣工,定借満了,戸数,販売価格(円),面積(坪)</a:t>
            </a:r>
            <a:endParaRPr lang="en-US" sz="1150" dirty="0"/>
          </a:p>
          <a:p>
            <a:pPr indent="0" marL="0">
              <a:lnSpc>
                <a:spcPct val="120000"/>
              </a:lnSpc>
              <a:buNone/>
            </a:pPr>
            <a:endParaRPr lang="en-US" sz="1150" dirty="0"/>
          </a:p>
          <a:p>
            <a:pPr indent="0" marL="0">
              <a:lnSpc>
                <a:spcPct val="120000"/>
              </a:lnSpc>
              <a:buNone/>
            </a:pPr>
            <a:r>
              <a:rPr lang="en-US" sz="1150" dirty="0">
                <a:solidFill>
                  <a:srgbClr val="3E3E3B"/>
                </a:solidFill>
                <a:latin typeface="Yu Gothic" pitchFamily="34" charset="0"/>
                <a:ea typeface="Yu Gothic" pitchFamily="34" charset="-122"/>
                <a:cs typeface="Yu Gothic" pitchFamily="34" charset="-120"/>
              </a:rPr>
              <a:t>↑ このような列名の行だけをコピーします</a:t>
            </a:r>
            <a:endParaRPr lang="en-US" sz="1150" dirty="0"/>
          </a:p>
        </p:txBody>
      </p:sp>
      <p:sp>
        <p:nvSpPr>
          <p:cNvPr id="14" name="Shape 12"/>
          <p:cNvSpPr/>
          <p:nvPr/>
        </p:nvSpPr>
        <p:spPr>
          <a:xfrm>
            <a:off x="7818120" y="3794760"/>
            <a:ext cx="3822192" cy="1051560"/>
          </a:xfrm>
          <a:prstGeom prst="roundRect">
            <a:avLst>
              <a:gd name="adj" fmla="val 6957"/>
            </a:avLst>
          </a:prstGeom>
          <a:solidFill>
            <a:srgbClr val="FBF9F4"/>
          </a:solidFill>
          <a:ln w="12700">
            <a:solidFill>
              <a:srgbClr val="E4DFD4"/>
            </a:solidFill>
            <a:prstDash val="solid"/>
          </a:ln>
        </p:spPr>
      </p:sp>
      <p:sp>
        <p:nvSpPr>
          <p:cNvPr id="15" name="Text 13"/>
          <p:cNvSpPr/>
          <p:nvPr/>
        </p:nvSpPr>
        <p:spPr>
          <a:xfrm>
            <a:off x="8019288" y="3941064"/>
            <a:ext cx="341985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そのあとは</a:t>
            </a:r>
            <a:endParaRPr lang="en-US" sz="1500" dirty="0"/>
          </a:p>
        </p:txBody>
      </p:sp>
      <p:sp>
        <p:nvSpPr>
          <p:cNvPr id="16" name="Text 14"/>
          <p:cNvSpPr/>
          <p:nvPr/>
        </p:nvSpPr>
        <p:spPr>
          <a:xfrm>
            <a:off x="8019288" y="4343400"/>
            <a:ext cx="3419856" cy="393192"/>
          </a:xfrm>
          <a:prstGeom prst="rect">
            <a:avLst/>
          </a:prstGeom>
          <a:noFill/>
          <a:ln/>
        </p:spPr>
        <p:txBody>
          <a:bodyPr wrap="square" lIns="0" tIns="0" rIns="0" bIns="0" rtlCol="0" anchor="t"/>
          <a:lstStyle/>
          <a:p>
            <a:pPr indent="0" marL="0">
              <a:lnSpc>
                <a:spcPct val="120000"/>
              </a:lnSpc>
              <a:buNone/>
            </a:pPr>
            <a:r>
              <a:rPr lang="en-US" sz="1150" dirty="0">
                <a:solidFill>
                  <a:srgbClr val="3E3E3B"/>
                </a:solidFill>
                <a:latin typeface="Yu Gothic" pitchFamily="34" charset="0"/>
                <a:ea typeface="Yu Gothic" pitchFamily="34" charset="-122"/>
                <a:cs typeface="Yu Gothic" pitchFamily="34" charset="-120"/>
              </a:rPr>
              <a:t>STEP 15 の5ステップ（Create PR → Merge → Download）</a:t>
            </a:r>
            <a:endParaRPr lang="en-US" sz="1150" dirty="0"/>
          </a:p>
        </p:txBody>
      </p:sp>
      <p:sp>
        <p:nvSpPr>
          <p:cNvPr id="17" name="Shape 15"/>
          <p:cNvSpPr/>
          <p:nvPr/>
        </p:nvSpPr>
        <p:spPr>
          <a:xfrm>
            <a:off x="548640" y="5120640"/>
            <a:ext cx="11091672" cy="594360"/>
          </a:xfrm>
          <a:prstGeom prst="roundRect">
            <a:avLst>
              <a:gd name="adj" fmla="val 9231"/>
            </a:avLst>
          </a:prstGeom>
          <a:solidFill>
            <a:srgbClr val="FBEFEC"/>
          </a:solidFill>
          <a:ln/>
        </p:spPr>
      </p:sp>
      <p:sp>
        <p:nvSpPr>
          <p:cNvPr id="18" name="Shape 16"/>
          <p:cNvSpPr/>
          <p:nvPr/>
        </p:nvSpPr>
        <p:spPr>
          <a:xfrm>
            <a:off x="548640" y="5120640"/>
            <a:ext cx="73152" cy="594360"/>
          </a:xfrm>
          <a:prstGeom prst="rect">
            <a:avLst/>
          </a:prstGeom>
          <a:solidFill>
            <a:srgbClr val="9A4A3A"/>
          </a:solidFill>
          <a:ln/>
        </p:spPr>
      </p:sp>
      <p:sp>
        <p:nvSpPr>
          <p:cNvPr id="19" name="Text 17"/>
          <p:cNvSpPr/>
          <p:nvPr/>
        </p:nvSpPr>
        <p:spPr>
          <a:xfrm>
            <a:off x="777240" y="5120640"/>
            <a:ext cx="10725912" cy="594360"/>
          </a:xfrm>
          <a:prstGeom prst="rect">
            <a:avLst/>
          </a:prstGeom>
          <a:noFill/>
          <a:ln/>
        </p:spPr>
        <p:txBody>
          <a:bodyPr wrap="square" lIns="0" tIns="0" rIns="0" bIns="0" rtlCol="0" anchor="ctr"/>
          <a:lstStyle/>
          <a:p>
            <a:pPr indent="0" marL="0">
              <a:lnSpc>
                <a:spcPct val="110000"/>
              </a:lnSpc>
              <a:buNone/>
            </a:pPr>
            <a:r>
              <a:rPr lang="en-US" sz="1250" b="1" dirty="0">
                <a:solidFill>
                  <a:srgbClr val="9A4A3A"/>
                </a:solidFill>
                <a:latin typeface="Yu Gothic" pitchFamily="34" charset="0"/>
                <a:ea typeface="Yu Gothic" pitchFamily="34" charset="-122"/>
                <a:cs typeface="Yu Gothic" pitchFamily="34" charset="-120"/>
              </a:rPr>
              <a:t>⚠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物件名・価格などのデータの中身を Claude に貼るのは禁止です（はじめにのルール1・2）。迷ったら貼らないでください</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F2E2B"/>
        </a:solidFill>
      </p:bgPr>
    </p:bg>
    <p:spTree>
      <p:nvGrpSpPr>
        <p:cNvPr id="1" name=""/>
        <p:cNvGrpSpPr/>
        <p:nvPr/>
      </p:nvGrpSpPr>
      <p:grpSpPr>
        <a:xfrm>
          <a:off x="0" y="0"/>
          <a:ext cx="0" cy="0"/>
          <a:chOff x="0" y="0"/>
          <a:chExt cx="0" cy="0"/>
        </a:xfrm>
      </p:grpSpPr>
      <p:sp>
        <p:nvSpPr>
          <p:cNvPr id="2" name="Text 0"/>
          <p:cNvSpPr/>
          <p:nvPr/>
        </p:nvSpPr>
        <p:spPr>
          <a:xfrm>
            <a:off x="914400" y="2194560"/>
            <a:ext cx="5486400" cy="457200"/>
          </a:xfrm>
          <a:prstGeom prst="rect">
            <a:avLst/>
          </a:prstGeom>
          <a:noFill/>
          <a:ln/>
        </p:spPr>
        <p:txBody>
          <a:bodyPr wrap="square" lIns="0" tIns="0" rIns="0" bIns="0" rtlCol="0" anchor="t"/>
          <a:lstStyle/>
          <a:p>
            <a:pPr indent="0" marL="0">
              <a:buNone/>
            </a:pPr>
            <a:r>
              <a:rPr lang="en-US" sz="1800" b="1" dirty="0">
                <a:solidFill>
                  <a:srgbClr val="CBB07A"/>
                </a:solidFill>
                <a:latin typeface="Yu Gothic" pitchFamily="34" charset="0"/>
                <a:ea typeface="Yu Gothic" pitchFamily="34" charset="-122"/>
                <a:cs typeface="Yu Gothic" pitchFamily="34" charset="-120"/>
              </a:rPr>
              <a:t>第5部</a:t>
            </a:r>
            <a:endParaRPr lang="en-US" sz="1800" dirty="0"/>
          </a:p>
        </p:txBody>
      </p:sp>
      <p:sp>
        <p:nvSpPr>
          <p:cNvPr id="3" name="Text 1"/>
          <p:cNvSpPr/>
          <p:nvPr/>
        </p:nvSpPr>
        <p:spPr>
          <a:xfrm>
            <a:off x="914400" y="2697480"/>
            <a:ext cx="10058400" cy="822960"/>
          </a:xfrm>
          <a:prstGeom prst="rect">
            <a:avLst/>
          </a:prstGeom>
          <a:noFill/>
          <a:ln/>
        </p:spPr>
        <p:txBody>
          <a:bodyPr wrap="square" lIns="0" tIns="0" rIns="0" bIns="0" rtlCol="0" anchor="t"/>
          <a:lstStyle/>
          <a:p>
            <a:pPr indent="0" marL="0">
              <a:buNone/>
            </a:pPr>
            <a:r>
              <a:rPr lang="en-US" sz="3600" b="1" dirty="0">
                <a:solidFill>
                  <a:srgbClr val="FFFFFF"/>
                </a:solidFill>
                <a:latin typeface="Yu Gothic" pitchFamily="34" charset="0"/>
                <a:ea typeface="Yu Gothic" pitchFamily="34" charset="-122"/>
                <a:cs typeface="Yu Gothic" pitchFamily="34" charset="-120"/>
              </a:rPr>
              <a:t>困ったとき・使いこなす</a:t>
            </a:r>
            <a:endParaRPr lang="en-US" sz="3600" dirty="0"/>
          </a:p>
        </p:txBody>
      </p:sp>
      <p:sp>
        <p:nvSpPr>
          <p:cNvPr id="4" name="Shape 2"/>
          <p:cNvSpPr/>
          <p:nvPr/>
        </p:nvSpPr>
        <p:spPr>
          <a:xfrm>
            <a:off x="914400" y="3657600"/>
            <a:ext cx="1097280" cy="0"/>
          </a:xfrm>
          <a:prstGeom prst="line">
            <a:avLst/>
          </a:prstGeom>
          <a:noFill/>
          <a:ln w="25400">
            <a:solidFill>
              <a:srgbClr val="B08D47"/>
            </a:solidFill>
            <a:prstDash val="solid"/>
          </a:ln>
        </p:spPr>
      </p:sp>
      <p:sp>
        <p:nvSpPr>
          <p:cNvPr id="5" name="Text 3"/>
          <p:cNvSpPr/>
          <p:nvPr/>
        </p:nvSpPr>
        <p:spPr>
          <a:xfrm>
            <a:off x="914400" y="3886200"/>
            <a:ext cx="10058400" cy="822960"/>
          </a:xfrm>
          <a:prstGeom prst="rect">
            <a:avLst/>
          </a:prstGeom>
          <a:noFill/>
          <a:ln/>
        </p:spPr>
        <p:txBody>
          <a:bodyPr wrap="square" lIns="0" tIns="0" rIns="0" bIns="0" rtlCol="0" anchor="t"/>
          <a:lstStyle/>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うまく動かないとき、見た目を変えたいとき、お客様への説明に使うときの</a:t>
            </a:r>
            <a:endParaRPr lang="en-US" sz="1500" dirty="0"/>
          </a:p>
          <a:p>
            <a:pPr indent="0" marL="0">
              <a:lnSpc>
                <a:spcPct val="130000"/>
              </a:lnSpc>
              <a:buNone/>
            </a:pPr>
            <a:r>
              <a:rPr lang="en-US" sz="1500" dirty="0">
                <a:solidFill>
                  <a:srgbClr val="D9D4C7"/>
                </a:solidFill>
                <a:latin typeface="Yu Gothic" pitchFamily="34" charset="0"/>
                <a:ea typeface="Yu Gothic" pitchFamily="34" charset="-122"/>
                <a:cs typeface="Yu Gothic" pitchFamily="34" charset="-120"/>
              </a:rPr>
              <a:t>プロンプトと、グラフの読み方をまとめます</a:t>
            </a:r>
            <a:endParaRPr lang="en-US" sz="1500" dirty="0"/>
          </a:p>
        </p:txBody>
      </p:sp>
      <p:sp>
        <p:nvSpPr>
          <p:cNvPr id="6" name="Text 4"/>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8C877B"/>
                </a:solidFill>
                <a:latin typeface="Yu Gothic" pitchFamily="34" charset="0"/>
                <a:ea typeface="Yu Gothic" pitchFamily="34" charset="-122"/>
                <a:cs typeface="Yu Gothic"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第5部</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困ったときのプロンプト</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　＞の部分を自分の状況に書きかえて送ります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42</a:t>
            </a:r>
            <a:endParaRPr lang="en-US" sz="900" dirty="0"/>
          </a:p>
        </p:txBody>
      </p:sp>
      <p:sp>
        <p:nvSpPr>
          <p:cNvPr id="8" name="Text 6"/>
          <p:cNvSpPr/>
          <p:nvPr/>
        </p:nvSpPr>
        <p:spPr>
          <a:xfrm>
            <a:off x="548640" y="1554480"/>
            <a:ext cx="5408676" cy="32004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うまく動かないとき</a:t>
            </a:r>
            <a:endParaRPr lang="en-US" sz="1500" dirty="0"/>
          </a:p>
        </p:txBody>
      </p:sp>
      <p:sp>
        <p:nvSpPr>
          <p:cNvPr id="9" name="Shape 7"/>
          <p:cNvSpPr/>
          <p:nvPr/>
        </p:nvSpPr>
        <p:spPr>
          <a:xfrm>
            <a:off x="548640" y="1920240"/>
            <a:ext cx="5408676" cy="3566160"/>
          </a:xfrm>
          <a:prstGeom prst="roundRect">
            <a:avLst>
              <a:gd name="adj" fmla="val 2051"/>
            </a:avLst>
          </a:prstGeom>
          <a:solidFill>
            <a:srgbClr val="1E293B"/>
          </a:solidFill>
          <a:ln/>
        </p:spPr>
      </p:sp>
      <p:sp>
        <p:nvSpPr>
          <p:cNvPr id="10" name="Text 8"/>
          <p:cNvSpPr/>
          <p:nvPr/>
        </p:nvSpPr>
        <p:spPr>
          <a:xfrm>
            <a:off x="777240" y="2029968"/>
            <a:ext cx="4951476" cy="256032"/>
          </a:xfrm>
          <a:prstGeom prst="rect">
            <a:avLst/>
          </a:prstGeom>
          <a:noFill/>
          <a:ln/>
        </p:spPr>
        <p:txBody>
          <a:bodyPr wrap="square" lIns="0" tIns="0" rIns="0" bIns="0" rtlCol="0" anchor="t"/>
          <a:lstStyle/>
          <a:p>
            <a:pPr indent="0" marL="0">
              <a:buNone/>
            </a:pPr>
            <a:r>
              <a:rPr lang="en-US" sz="1050" b="1" dirty="0">
                <a:solidFill>
                  <a:srgbClr val="CBB07A"/>
                </a:solidFill>
                <a:latin typeface="Yu Gothic" pitchFamily="34" charset="0"/>
                <a:ea typeface="Yu Gothic" pitchFamily="34" charset="-122"/>
                <a:cs typeface="Yu Gothic" pitchFamily="34" charset="-120"/>
              </a:rPr>
              <a:t>📋 コピーして Claude の入力欄に貼り付け</a:t>
            </a:r>
            <a:endParaRPr lang="en-US" sz="1050" dirty="0"/>
          </a:p>
        </p:txBody>
      </p:sp>
      <p:sp>
        <p:nvSpPr>
          <p:cNvPr id="11" name="Text 9"/>
          <p:cNvSpPr/>
          <p:nvPr/>
        </p:nvSpPr>
        <p:spPr>
          <a:xfrm>
            <a:off x="777240" y="2359152"/>
            <a:ext cx="4951476" cy="3017520"/>
          </a:xfrm>
          <a:prstGeom prst="rect">
            <a:avLst/>
          </a:prstGeom>
          <a:noFill/>
          <a:ln/>
        </p:spPr>
        <p:txBody>
          <a:bodyPr wrap="square" lIns="0" tIns="0" rIns="0" bIns="0" rtlCol="0" anchor="t"/>
          <a:lstStyle/>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ツールが思った通りに動きません。直してください。</a:t>
            </a:r>
            <a:endParaRPr lang="en-US" sz="1050" dirty="0"/>
          </a:p>
          <a:p>
            <a:pPr indent="0" marL="0">
              <a:lnSpc>
                <a:spcPct val="112000"/>
              </a:lnSpc>
              <a:buNone/>
            </a:pP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・やったこと：＜例：「サンプルデータで試す」ボタンを押した＞</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・起きたこと：＜例：グラフが表示されない／画面に「◯◯」と出た＞</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・期待したこと：＜例：2つのグラフが表示される＞</a:t>
            </a:r>
            <a:endParaRPr lang="en-US" sz="1050" dirty="0"/>
          </a:p>
          <a:p>
            <a:pPr indent="0" marL="0">
              <a:lnSpc>
                <a:spcPct val="112000"/>
              </a:lnSpc>
              <a:buNone/>
            </a:pP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原因と直した内容を、日本語でやさしく説明してください。</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（実際の物件データは貼りません）</a:t>
            </a:r>
            <a:endParaRPr lang="en-US" sz="1050" dirty="0"/>
          </a:p>
        </p:txBody>
      </p:sp>
      <p:sp>
        <p:nvSpPr>
          <p:cNvPr id="12" name="Text 10"/>
          <p:cNvSpPr/>
          <p:nvPr/>
        </p:nvSpPr>
        <p:spPr>
          <a:xfrm>
            <a:off x="6231636" y="1554480"/>
            <a:ext cx="5408676" cy="32004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見た目を変えたいとき</a:t>
            </a:r>
            <a:endParaRPr lang="en-US" sz="1500" dirty="0"/>
          </a:p>
        </p:txBody>
      </p:sp>
      <p:sp>
        <p:nvSpPr>
          <p:cNvPr id="13" name="Shape 11"/>
          <p:cNvSpPr/>
          <p:nvPr/>
        </p:nvSpPr>
        <p:spPr>
          <a:xfrm>
            <a:off x="6231636" y="1920240"/>
            <a:ext cx="5408676" cy="3566160"/>
          </a:xfrm>
          <a:prstGeom prst="roundRect">
            <a:avLst>
              <a:gd name="adj" fmla="val 2051"/>
            </a:avLst>
          </a:prstGeom>
          <a:solidFill>
            <a:srgbClr val="1E293B"/>
          </a:solidFill>
          <a:ln/>
        </p:spPr>
      </p:sp>
      <p:sp>
        <p:nvSpPr>
          <p:cNvPr id="14" name="Text 12"/>
          <p:cNvSpPr/>
          <p:nvPr/>
        </p:nvSpPr>
        <p:spPr>
          <a:xfrm>
            <a:off x="6460236" y="2029968"/>
            <a:ext cx="4951476" cy="256032"/>
          </a:xfrm>
          <a:prstGeom prst="rect">
            <a:avLst/>
          </a:prstGeom>
          <a:noFill/>
          <a:ln/>
        </p:spPr>
        <p:txBody>
          <a:bodyPr wrap="square" lIns="0" tIns="0" rIns="0" bIns="0" rtlCol="0" anchor="t"/>
          <a:lstStyle/>
          <a:p>
            <a:pPr indent="0" marL="0">
              <a:buNone/>
            </a:pPr>
            <a:r>
              <a:rPr lang="en-US" sz="1050" b="1" dirty="0">
                <a:solidFill>
                  <a:srgbClr val="CBB07A"/>
                </a:solidFill>
                <a:latin typeface="Yu Gothic" pitchFamily="34" charset="0"/>
                <a:ea typeface="Yu Gothic" pitchFamily="34" charset="-122"/>
                <a:cs typeface="Yu Gothic" pitchFamily="34" charset="-120"/>
              </a:rPr>
              <a:t>📋 コピーして Claude の入力欄に貼り付け</a:t>
            </a:r>
            <a:endParaRPr lang="en-US" sz="1050" dirty="0"/>
          </a:p>
        </p:txBody>
      </p:sp>
      <p:sp>
        <p:nvSpPr>
          <p:cNvPr id="15" name="Text 13"/>
          <p:cNvSpPr/>
          <p:nvPr/>
        </p:nvSpPr>
        <p:spPr>
          <a:xfrm>
            <a:off x="6460236" y="2359152"/>
            <a:ext cx="4951476" cy="3017520"/>
          </a:xfrm>
          <a:prstGeom prst="rect">
            <a:avLst/>
          </a:prstGeom>
          <a:noFill/>
          <a:ln/>
        </p:spPr>
        <p:txBody>
          <a:bodyPr wrap="square" lIns="0" tIns="0" rIns="0" bIns="0" rtlCol="0" anchor="t"/>
          <a:lstStyle/>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画面の見た目を次のように変えてください。</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・＜例：タイトルを「◯◯不動産 定借 資産価値ナビ」にする＞</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・＜例：ボタンとグラフの色を紺色にそろえる＞</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・＜例：スマホでも見やすくする＞</a:t>
            </a:r>
            <a:endParaRPr lang="en-US" sz="1050" dirty="0"/>
          </a:p>
          <a:p>
            <a:pPr indent="0" marL="0">
              <a:lnSpc>
                <a:spcPct val="112000"/>
              </a:lnSpc>
              <a:buNone/>
            </a:pPr>
            <a:r>
              <a:rPr lang="en-US" sz="1050" dirty="0">
                <a:solidFill>
                  <a:srgbClr val="F1F5F9"/>
                </a:solidFill>
                <a:latin typeface="Yu Gothic" pitchFamily="34" charset="0"/>
                <a:ea typeface="Yu Gothic" pitchFamily="34" charset="-122"/>
                <a:cs typeface="Yu Gothic" pitchFamily="34" charset="-120"/>
              </a:rPr>
              <a:t>計算のルールは変えないでください。</a:t>
            </a:r>
            <a:endParaRPr lang="en-US" sz="1050" dirty="0"/>
          </a:p>
        </p:txBody>
      </p:sp>
      <p:sp>
        <p:nvSpPr>
          <p:cNvPr id="16" name="Shape 14"/>
          <p:cNvSpPr/>
          <p:nvPr/>
        </p:nvSpPr>
        <p:spPr>
          <a:xfrm>
            <a:off x="548640" y="5669280"/>
            <a:ext cx="11091672" cy="548640"/>
          </a:xfrm>
          <a:prstGeom prst="roundRect">
            <a:avLst>
              <a:gd name="adj" fmla="val 10000"/>
            </a:avLst>
          </a:prstGeom>
          <a:solidFill>
            <a:srgbClr val="F5F2EA"/>
          </a:solidFill>
          <a:ln/>
        </p:spPr>
      </p:sp>
      <p:sp>
        <p:nvSpPr>
          <p:cNvPr id="17" name="Shape 15"/>
          <p:cNvSpPr/>
          <p:nvPr/>
        </p:nvSpPr>
        <p:spPr>
          <a:xfrm>
            <a:off x="548640" y="5669280"/>
            <a:ext cx="73152" cy="548640"/>
          </a:xfrm>
          <a:prstGeom prst="rect">
            <a:avLst/>
          </a:prstGeom>
          <a:solidFill>
            <a:srgbClr val="B08D47"/>
          </a:solidFill>
          <a:ln/>
        </p:spPr>
      </p:sp>
      <p:sp>
        <p:nvSpPr>
          <p:cNvPr id="18" name="Text 16"/>
          <p:cNvSpPr/>
          <p:nvPr/>
        </p:nvSpPr>
        <p:spPr>
          <a:xfrm>
            <a:off x="777240" y="5669280"/>
            <a:ext cx="10725912" cy="54864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エラーの文字は、画面のスクリーンショットではなく「文字のまま」コピーして貼ると、Claude が理解しやすくなります</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第5部</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グラフの読み方 ─ お客様に説明できるように</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3つの言葉が分かれば、グラフが読めます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43</a:t>
            </a:r>
            <a:endParaRPr lang="en-US" sz="900" dirty="0"/>
          </a:p>
        </p:txBody>
      </p:sp>
      <p:sp>
        <p:nvSpPr>
          <p:cNvPr id="8" name="Shape 6"/>
          <p:cNvSpPr/>
          <p:nvPr/>
        </p:nvSpPr>
        <p:spPr>
          <a:xfrm>
            <a:off x="548640" y="1600200"/>
            <a:ext cx="11091672" cy="1005840"/>
          </a:xfrm>
          <a:prstGeom prst="roundRect">
            <a:avLst>
              <a:gd name="adj" fmla="val 7273"/>
            </a:avLst>
          </a:prstGeom>
          <a:solidFill>
            <a:srgbClr val="FBF9F4"/>
          </a:solidFill>
          <a:ln w="9525">
            <a:solidFill>
              <a:srgbClr val="E4DFD4"/>
            </a:solidFill>
            <a:prstDash val="solid"/>
          </a:ln>
        </p:spPr>
      </p:sp>
      <p:sp>
        <p:nvSpPr>
          <p:cNvPr id="9" name="Text 7"/>
          <p:cNvSpPr/>
          <p:nvPr/>
        </p:nvSpPr>
        <p:spPr>
          <a:xfrm>
            <a:off x="822960" y="1600200"/>
            <a:ext cx="1737360" cy="1005840"/>
          </a:xfrm>
          <a:prstGeom prst="rect">
            <a:avLst/>
          </a:prstGeom>
          <a:noFill/>
          <a:ln/>
        </p:spPr>
        <p:txBody>
          <a:bodyPr wrap="square" lIns="0" tIns="0" rIns="0" bIns="0" rtlCol="0" anchor="ctr"/>
          <a:lstStyle/>
          <a:p>
            <a:pPr indent="0" marL="0">
              <a:buNone/>
            </a:pPr>
            <a:r>
              <a:rPr lang="en-US" sz="2000" b="1" dirty="0">
                <a:solidFill>
                  <a:srgbClr val="3C5A4F"/>
                </a:solidFill>
                <a:latin typeface="Yu Gothic" pitchFamily="34" charset="0"/>
                <a:ea typeface="Yu Gothic" pitchFamily="34" charset="-122"/>
                <a:cs typeface="Yu Gothic" pitchFamily="34" charset="-120"/>
              </a:rPr>
              <a:t>坪単価</a:t>
            </a:r>
            <a:endParaRPr lang="en-US" sz="2000" dirty="0"/>
          </a:p>
        </p:txBody>
      </p:sp>
      <p:sp>
        <p:nvSpPr>
          <p:cNvPr id="10" name="Text 8"/>
          <p:cNvSpPr/>
          <p:nvPr/>
        </p:nvSpPr>
        <p:spPr>
          <a:xfrm>
            <a:off x="2651760" y="1737360"/>
            <a:ext cx="8778240" cy="365760"/>
          </a:xfrm>
          <a:prstGeom prst="rect">
            <a:avLst/>
          </a:prstGeom>
          <a:noFill/>
          <a:ln/>
        </p:spPr>
        <p:txBody>
          <a:bodyPr wrap="square" lIns="0" tIns="0" rIns="0" bIns="0" rtlCol="0" anchor="t"/>
          <a:lstStyle/>
          <a:p>
            <a:pPr indent="0" marL="0">
              <a:buNone/>
            </a:pPr>
            <a:r>
              <a:rPr lang="en-US" sz="1400" b="1" dirty="0">
                <a:solidFill>
                  <a:srgbClr val="1F2A28"/>
                </a:solidFill>
                <a:latin typeface="Yu Gothic" pitchFamily="34" charset="0"/>
                <a:ea typeface="Yu Gothic" pitchFamily="34" charset="-122"/>
                <a:cs typeface="Yu Gothic" pitchFamily="34" charset="-120"/>
              </a:rPr>
              <a:t>価格 ÷ 専有面積 × 3.30578</a:t>
            </a:r>
            <a:endParaRPr lang="en-US" sz="1400" dirty="0"/>
          </a:p>
        </p:txBody>
      </p:sp>
      <p:sp>
        <p:nvSpPr>
          <p:cNvPr id="11" name="Text 9"/>
          <p:cNvSpPr/>
          <p:nvPr/>
        </p:nvSpPr>
        <p:spPr>
          <a:xfrm>
            <a:off x="2651760" y="2130552"/>
            <a:ext cx="8778240" cy="365760"/>
          </a:xfrm>
          <a:prstGeom prst="rect">
            <a:avLst/>
          </a:prstGeom>
          <a:noFill/>
          <a:ln/>
        </p:spPr>
        <p:txBody>
          <a:bodyPr wrap="square" lIns="0" tIns="0" rIns="0" bIns="0" rtlCol="0" anchor="t"/>
          <a:lstStyle/>
          <a:p>
            <a:pPr indent="0" marL="0">
              <a:buNone/>
            </a:pPr>
            <a:r>
              <a:rPr lang="en-US" sz="1250" dirty="0">
                <a:solidFill>
                  <a:srgbClr val="3E3E3B"/>
                </a:solidFill>
                <a:latin typeface="Yu Gothic" pitchFamily="34" charset="0"/>
                <a:ea typeface="Yu Gothic" pitchFamily="34" charset="-122"/>
                <a:cs typeface="Yu Gothic" pitchFamily="34" charset="-120"/>
              </a:rPr>
              <a:t>広さのちがう住戸を、同じものさしで比べるための数字（万円/坪）</a:t>
            </a:r>
            <a:endParaRPr lang="en-US" sz="1250" dirty="0"/>
          </a:p>
        </p:txBody>
      </p:sp>
      <p:sp>
        <p:nvSpPr>
          <p:cNvPr id="12" name="Shape 10"/>
          <p:cNvSpPr/>
          <p:nvPr/>
        </p:nvSpPr>
        <p:spPr>
          <a:xfrm>
            <a:off x="548640" y="2743200"/>
            <a:ext cx="11091672" cy="1005840"/>
          </a:xfrm>
          <a:prstGeom prst="roundRect">
            <a:avLst>
              <a:gd name="adj" fmla="val 7273"/>
            </a:avLst>
          </a:prstGeom>
          <a:solidFill>
            <a:srgbClr val="FBF9F4"/>
          </a:solidFill>
          <a:ln w="9525">
            <a:solidFill>
              <a:srgbClr val="E4DFD4"/>
            </a:solidFill>
            <a:prstDash val="solid"/>
          </a:ln>
        </p:spPr>
      </p:sp>
      <p:sp>
        <p:nvSpPr>
          <p:cNvPr id="13" name="Text 11"/>
          <p:cNvSpPr/>
          <p:nvPr/>
        </p:nvSpPr>
        <p:spPr>
          <a:xfrm>
            <a:off x="822960" y="2743200"/>
            <a:ext cx="1737360" cy="1005840"/>
          </a:xfrm>
          <a:prstGeom prst="rect">
            <a:avLst/>
          </a:prstGeom>
          <a:noFill/>
          <a:ln/>
        </p:spPr>
        <p:txBody>
          <a:bodyPr wrap="square" lIns="0" tIns="0" rIns="0" bIns="0" rtlCol="0" anchor="ctr"/>
          <a:lstStyle/>
          <a:p>
            <a:pPr indent="0" marL="0">
              <a:buNone/>
            </a:pPr>
            <a:r>
              <a:rPr lang="en-US" sz="2000" b="1" dirty="0">
                <a:solidFill>
                  <a:srgbClr val="3C5A4F"/>
                </a:solidFill>
                <a:latin typeface="Yu Gothic" pitchFamily="34" charset="0"/>
                <a:ea typeface="Yu Gothic" pitchFamily="34" charset="-122"/>
                <a:cs typeface="Yu Gothic" pitchFamily="34" charset="-120"/>
              </a:rPr>
              <a:t>残存年数</a:t>
            </a:r>
            <a:endParaRPr lang="en-US" sz="2000" dirty="0"/>
          </a:p>
        </p:txBody>
      </p:sp>
      <p:sp>
        <p:nvSpPr>
          <p:cNvPr id="14" name="Text 12"/>
          <p:cNvSpPr/>
          <p:nvPr/>
        </p:nvSpPr>
        <p:spPr>
          <a:xfrm>
            <a:off x="2651760" y="2880360"/>
            <a:ext cx="8778240" cy="365760"/>
          </a:xfrm>
          <a:prstGeom prst="rect">
            <a:avLst/>
          </a:prstGeom>
          <a:noFill/>
          <a:ln/>
        </p:spPr>
        <p:txBody>
          <a:bodyPr wrap="square" lIns="0" tIns="0" rIns="0" bIns="0" rtlCol="0" anchor="t"/>
          <a:lstStyle/>
          <a:p>
            <a:pPr indent="0" marL="0">
              <a:buNone/>
            </a:pPr>
            <a:r>
              <a:rPr lang="en-US" sz="1400" b="1" dirty="0">
                <a:solidFill>
                  <a:srgbClr val="1F2A28"/>
                </a:solidFill>
                <a:latin typeface="Yu Gothic" pitchFamily="34" charset="0"/>
                <a:ea typeface="Yu Gothic" pitchFamily="34" charset="-122"/>
                <a:cs typeface="Yu Gothic" pitchFamily="34" charset="-120"/>
              </a:rPr>
              <a:t>借地期限年 − 成約年</a:t>
            </a:r>
            <a:endParaRPr lang="en-US" sz="1400" dirty="0"/>
          </a:p>
        </p:txBody>
      </p:sp>
      <p:sp>
        <p:nvSpPr>
          <p:cNvPr id="15" name="Text 13"/>
          <p:cNvSpPr/>
          <p:nvPr/>
        </p:nvSpPr>
        <p:spPr>
          <a:xfrm>
            <a:off x="2651760" y="3273552"/>
            <a:ext cx="8778240" cy="365760"/>
          </a:xfrm>
          <a:prstGeom prst="rect">
            <a:avLst/>
          </a:prstGeom>
          <a:noFill/>
          <a:ln/>
        </p:spPr>
        <p:txBody>
          <a:bodyPr wrap="square" lIns="0" tIns="0" rIns="0" bIns="0" rtlCol="0" anchor="t"/>
          <a:lstStyle/>
          <a:p>
            <a:pPr indent="0" marL="0">
              <a:buNone/>
            </a:pPr>
            <a:r>
              <a:rPr lang="en-US" sz="1250" dirty="0">
                <a:solidFill>
                  <a:srgbClr val="3E3E3B"/>
                </a:solidFill>
                <a:latin typeface="Yu Gothic" pitchFamily="34" charset="0"/>
                <a:ea typeface="Yu Gothic" pitchFamily="34" charset="-122"/>
                <a:cs typeface="Yu Gothic" pitchFamily="34" charset="-120"/>
              </a:rPr>
              <a:t>その住戸が売買された時点で、借地の期限まであと何年あったか</a:t>
            </a:r>
            <a:endParaRPr lang="en-US" sz="1250" dirty="0"/>
          </a:p>
        </p:txBody>
      </p:sp>
      <p:sp>
        <p:nvSpPr>
          <p:cNvPr id="16" name="Shape 14"/>
          <p:cNvSpPr/>
          <p:nvPr/>
        </p:nvSpPr>
        <p:spPr>
          <a:xfrm>
            <a:off x="548640" y="3886200"/>
            <a:ext cx="11091672" cy="1005840"/>
          </a:xfrm>
          <a:prstGeom prst="roundRect">
            <a:avLst>
              <a:gd name="adj" fmla="val 7273"/>
            </a:avLst>
          </a:prstGeom>
          <a:solidFill>
            <a:srgbClr val="FBF9F4"/>
          </a:solidFill>
          <a:ln w="9525">
            <a:solidFill>
              <a:srgbClr val="E4DFD4"/>
            </a:solidFill>
            <a:prstDash val="solid"/>
          </a:ln>
        </p:spPr>
      </p:sp>
      <p:sp>
        <p:nvSpPr>
          <p:cNvPr id="17" name="Text 15"/>
          <p:cNvSpPr/>
          <p:nvPr/>
        </p:nvSpPr>
        <p:spPr>
          <a:xfrm>
            <a:off x="822960" y="3886200"/>
            <a:ext cx="1737360" cy="1005840"/>
          </a:xfrm>
          <a:prstGeom prst="rect">
            <a:avLst/>
          </a:prstGeom>
          <a:noFill/>
          <a:ln/>
        </p:spPr>
        <p:txBody>
          <a:bodyPr wrap="square" lIns="0" tIns="0" rIns="0" bIns="0" rtlCol="0" anchor="ctr"/>
          <a:lstStyle/>
          <a:p>
            <a:pPr indent="0" marL="0">
              <a:buNone/>
            </a:pPr>
            <a:r>
              <a:rPr lang="en-US" sz="2000" b="1" dirty="0">
                <a:solidFill>
                  <a:srgbClr val="3C5A4F"/>
                </a:solidFill>
                <a:latin typeface="Yu Gothic" pitchFamily="34" charset="0"/>
                <a:ea typeface="Yu Gothic" pitchFamily="34" charset="-122"/>
                <a:cs typeface="Yu Gothic" pitchFamily="34" charset="-120"/>
              </a:rPr>
              <a:t>新築比</a:t>
            </a:r>
            <a:endParaRPr lang="en-US" sz="2000" dirty="0"/>
          </a:p>
        </p:txBody>
      </p:sp>
      <p:sp>
        <p:nvSpPr>
          <p:cNvPr id="18" name="Text 16"/>
          <p:cNvSpPr/>
          <p:nvPr/>
        </p:nvSpPr>
        <p:spPr>
          <a:xfrm>
            <a:off x="2651760" y="4023360"/>
            <a:ext cx="8778240" cy="365760"/>
          </a:xfrm>
          <a:prstGeom prst="rect">
            <a:avLst/>
          </a:prstGeom>
          <a:noFill/>
          <a:ln/>
        </p:spPr>
        <p:txBody>
          <a:bodyPr wrap="square" lIns="0" tIns="0" rIns="0" bIns="0" rtlCol="0" anchor="t"/>
          <a:lstStyle/>
          <a:p>
            <a:pPr indent="0" marL="0">
              <a:buNone/>
            </a:pPr>
            <a:r>
              <a:rPr lang="en-US" sz="1400" b="1" dirty="0">
                <a:solidFill>
                  <a:srgbClr val="1F2A28"/>
                </a:solidFill>
                <a:latin typeface="Yu Gothic" pitchFamily="34" charset="0"/>
                <a:ea typeface="Yu Gothic" pitchFamily="34" charset="-122"/>
                <a:cs typeface="Yu Gothic" pitchFamily="34" charset="-120"/>
              </a:rPr>
              <a:t>成約坪単価 ÷ 新築時の坪単価</a:t>
            </a:r>
            <a:endParaRPr lang="en-US" sz="1400" dirty="0"/>
          </a:p>
        </p:txBody>
      </p:sp>
      <p:sp>
        <p:nvSpPr>
          <p:cNvPr id="19" name="Text 17"/>
          <p:cNvSpPr/>
          <p:nvPr/>
        </p:nvSpPr>
        <p:spPr>
          <a:xfrm>
            <a:off x="2651760" y="4416552"/>
            <a:ext cx="8778240" cy="365760"/>
          </a:xfrm>
          <a:prstGeom prst="rect">
            <a:avLst/>
          </a:prstGeom>
          <a:noFill/>
          <a:ln/>
        </p:spPr>
        <p:txBody>
          <a:bodyPr wrap="square" lIns="0" tIns="0" rIns="0" bIns="0" rtlCol="0" anchor="t"/>
          <a:lstStyle/>
          <a:p>
            <a:pPr indent="0" marL="0">
              <a:buNone/>
            </a:pPr>
            <a:r>
              <a:rPr lang="en-US" sz="1250" dirty="0">
                <a:solidFill>
                  <a:srgbClr val="3E3E3B"/>
                </a:solidFill>
                <a:latin typeface="Yu Gothic" pitchFamily="34" charset="0"/>
                <a:ea typeface="Yu Gothic" pitchFamily="34" charset="-122"/>
                <a:cs typeface="Yu Gothic" pitchFamily="34" charset="-120"/>
              </a:rPr>
              <a:t>100%を超えると「新築時より高く売れた」。残存年数が減るとどう動くかを見る</a:t>
            </a:r>
            <a:endParaRPr lang="en-US" sz="1250" dirty="0"/>
          </a:p>
        </p:txBody>
      </p:sp>
      <p:sp>
        <p:nvSpPr>
          <p:cNvPr id="20" name="Shape 18"/>
          <p:cNvSpPr/>
          <p:nvPr/>
        </p:nvSpPr>
        <p:spPr>
          <a:xfrm>
            <a:off x="548640" y="5120640"/>
            <a:ext cx="11091672" cy="548640"/>
          </a:xfrm>
          <a:prstGeom prst="roundRect">
            <a:avLst>
              <a:gd name="adj" fmla="val 10000"/>
            </a:avLst>
          </a:prstGeom>
          <a:solidFill>
            <a:srgbClr val="FBEFEC"/>
          </a:solidFill>
          <a:ln/>
        </p:spPr>
      </p:sp>
      <p:sp>
        <p:nvSpPr>
          <p:cNvPr id="21" name="Shape 19"/>
          <p:cNvSpPr/>
          <p:nvPr/>
        </p:nvSpPr>
        <p:spPr>
          <a:xfrm>
            <a:off x="548640" y="5120640"/>
            <a:ext cx="73152" cy="548640"/>
          </a:xfrm>
          <a:prstGeom prst="rect">
            <a:avLst/>
          </a:prstGeom>
          <a:solidFill>
            <a:srgbClr val="9A4A3A"/>
          </a:solidFill>
          <a:ln/>
        </p:spPr>
      </p:sp>
      <p:sp>
        <p:nvSpPr>
          <p:cNvPr id="22" name="Text 20"/>
          <p:cNvSpPr/>
          <p:nvPr/>
        </p:nvSpPr>
        <p:spPr>
          <a:xfrm>
            <a:off x="777240" y="5120640"/>
            <a:ext cx="10725912" cy="548640"/>
          </a:xfrm>
          <a:prstGeom prst="rect">
            <a:avLst/>
          </a:prstGeom>
          <a:noFill/>
          <a:ln/>
        </p:spPr>
        <p:txBody>
          <a:bodyPr wrap="square" lIns="0" tIns="0" rIns="0" bIns="0" rtlCol="0" anchor="ctr"/>
          <a:lstStyle/>
          <a:p>
            <a:pPr indent="0" marL="0">
              <a:lnSpc>
                <a:spcPct val="110000"/>
              </a:lnSpc>
              <a:buNone/>
            </a:pPr>
            <a:r>
              <a:rPr lang="en-US" sz="1200" b="1" dirty="0">
                <a:solidFill>
                  <a:srgbClr val="9A4A3A"/>
                </a:solidFill>
                <a:latin typeface="Yu Gothic" pitchFamily="34" charset="0"/>
                <a:ea typeface="Yu Gothic" pitchFamily="34" charset="-122"/>
                <a:cs typeface="Yu Gothic" pitchFamily="34" charset="-120"/>
              </a:rPr>
              <a:t>⚠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グラフは過去の成約の傾向です。将来の価格を約束するものではありません。個別の住戸の価格を言い切らないようにしましょう</a:t>
            </a:r>
            <a:endParaRPr lang="en-US" sz="1200" dirty="0"/>
          </a:p>
        </p:txBody>
      </p:sp>
      <p:sp>
        <p:nvSpPr>
          <p:cNvPr id="23" name="Shape 21"/>
          <p:cNvSpPr/>
          <p:nvPr/>
        </p:nvSpPr>
        <p:spPr>
          <a:xfrm>
            <a:off x="548640" y="5760720"/>
            <a:ext cx="11091672" cy="457200"/>
          </a:xfrm>
          <a:prstGeom prst="roundRect">
            <a:avLst>
              <a:gd name="adj" fmla="val 12000"/>
            </a:avLst>
          </a:prstGeom>
          <a:solidFill>
            <a:srgbClr val="F5F2EA"/>
          </a:solidFill>
          <a:ln/>
        </p:spPr>
      </p:sp>
      <p:sp>
        <p:nvSpPr>
          <p:cNvPr id="24" name="Shape 22"/>
          <p:cNvSpPr/>
          <p:nvPr/>
        </p:nvSpPr>
        <p:spPr>
          <a:xfrm>
            <a:off x="548640" y="5760720"/>
            <a:ext cx="73152" cy="457200"/>
          </a:xfrm>
          <a:prstGeom prst="rect">
            <a:avLst/>
          </a:prstGeom>
          <a:solidFill>
            <a:srgbClr val="B08D47"/>
          </a:solidFill>
          <a:ln/>
        </p:spPr>
      </p:sp>
      <p:sp>
        <p:nvSpPr>
          <p:cNvPr id="25" name="Text 23"/>
          <p:cNvSpPr/>
          <p:nvPr/>
        </p:nvSpPr>
        <p:spPr>
          <a:xfrm>
            <a:off x="777240" y="5760720"/>
            <a:ext cx="10725912" cy="45720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説明文づくりも Claude に頼めます → 次のスライド</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第5部</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お客様向けの説明文を作る／次の一歩</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ツール作り以外にも、Claude は営業の準備に使えます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44</a:t>
            </a:r>
            <a:endParaRPr lang="en-US" sz="900" dirty="0"/>
          </a:p>
        </p:txBody>
      </p:sp>
      <p:sp>
        <p:nvSpPr>
          <p:cNvPr id="8" name="Shape 6"/>
          <p:cNvSpPr/>
          <p:nvPr/>
        </p:nvSpPr>
        <p:spPr>
          <a:xfrm>
            <a:off x="548640" y="1554480"/>
            <a:ext cx="6400800" cy="2377440"/>
          </a:xfrm>
          <a:prstGeom prst="roundRect">
            <a:avLst>
              <a:gd name="adj" fmla="val 3077"/>
            </a:avLst>
          </a:prstGeom>
          <a:solidFill>
            <a:srgbClr val="1E293B"/>
          </a:solidFill>
          <a:ln/>
        </p:spPr>
      </p:sp>
      <p:sp>
        <p:nvSpPr>
          <p:cNvPr id="9" name="Text 7"/>
          <p:cNvSpPr/>
          <p:nvPr/>
        </p:nvSpPr>
        <p:spPr>
          <a:xfrm>
            <a:off x="777240" y="1664208"/>
            <a:ext cx="5943600" cy="256032"/>
          </a:xfrm>
          <a:prstGeom prst="rect">
            <a:avLst/>
          </a:prstGeom>
          <a:noFill/>
          <a:ln/>
        </p:spPr>
        <p:txBody>
          <a:bodyPr wrap="square" lIns="0" tIns="0" rIns="0" bIns="0" rtlCol="0" anchor="t"/>
          <a:lstStyle/>
          <a:p>
            <a:pPr indent="0" marL="0">
              <a:buNone/>
            </a:pPr>
            <a:r>
              <a:rPr lang="en-US" sz="1050" b="1" dirty="0">
                <a:solidFill>
                  <a:srgbClr val="CBB07A"/>
                </a:solidFill>
                <a:latin typeface="Yu Gothic" pitchFamily="34" charset="0"/>
                <a:ea typeface="Yu Gothic" pitchFamily="34" charset="-122"/>
                <a:cs typeface="Yu Gothic" pitchFamily="34" charset="-120"/>
              </a:rPr>
              <a:t>📋 コピーして Claude の入力欄に貼り付け</a:t>
            </a:r>
            <a:endParaRPr lang="en-US" sz="1050" dirty="0"/>
          </a:p>
        </p:txBody>
      </p:sp>
      <p:sp>
        <p:nvSpPr>
          <p:cNvPr id="10" name="Text 8"/>
          <p:cNvSpPr/>
          <p:nvPr/>
        </p:nvSpPr>
        <p:spPr>
          <a:xfrm>
            <a:off x="777240" y="1993392"/>
            <a:ext cx="5943600" cy="1828800"/>
          </a:xfrm>
          <a:prstGeom prst="rect">
            <a:avLst/>
          </a:prstGeom>
          <a:noFill/>
          <a:ln/>
        </p:spPr>
        <p:txBody>
          <a:bodyPr wrap="square" lIns="0" tIns="0" rIns="0" bIns="0" rtlCol="0" anchor="t"/>
          <a:lstStyle/>
          <a:p>
            <a:pPr indent="0" marL="0">
              <a:lnSpc>
                <a:spcPct val="112000"/>
              </a:lnSpc>
              <a:buNone/>
            </a:pPr>
            <a:r>
              <a:rPr lang="en-US" sz="1100" dirty="0">
                <a:solidFill>
                  <a:srgbClr val="F1F5F9"/>
                </a:solidFill>
                <a:latin typeface="Yu Gothic" pitchFamily="34" charset="0"/>
                <a:ea typeface="Yu Gothic" pitchFamily="34" charset="-122"/>
                <a:cs typeface="Yu Gothic" pitchFamily="34" charset="-120"/>
              </a:rPr>
              <a:t>このツールの「新築比」と2つのグラフの意味を、</a:t>
            </a:r>
            <a:endParaRPr lang="en-US" sz="1100" dirty="0"/>
          </a:p>
          <a:p>
            <a:pPr indent="0" marL="0">
              <a:lnSpc>
                <a:spcPct val="112000"/>
              </a:lnSpc>
              <a:buNone/>
            </a:pPr>
            <a:r>
              <a:rPr lang="en-US" sz="1100" dirty="0">
                <a:solidFill>
                  <a:srgbClr val="F1F5F9"/>
                </a:solidFill>
                <a:latin typeface="Yu Gothic" pitchFamily="34" charset="0"/>
                <a:ea typeface="Yu Gothic" pitchFamily="34" charset="-122"/>
                <a:cs typeface="Yu Gothic" pitchFamily="34" charset="-120"/>
              </a:rPr>
              <a:t>不動産に詳しくないお客様に説明するつもりで、300字程度のやさしい日本語で書いてください。</a:t>
            </a:r>
            <a:endParaRPr lang="en-US" sz="1100" dirty="0"/>
          </a:p>
          <a:p>
            <a:pPr indent="0" marL="0">
              <a:lnSpc>
                <a:spcPct val="112000"/>
              </a:lnSpc>
              <a:buNone/>
            </a:pPr>
            <a:r>
              <a:rPr lang="en-US" sz="1100" dirty="0">
                <a:solidFill>
                  <a:srgbClr val="F1F5F9"/>
                </a:solidFill>
                <a:latin typeface="Yu Gothic" pitchFamily="34" charset="0"/>
                <a:ea typeface="Yu Gothic" pitchFamily="34" charset="-122"/>
                <a:cs typeface="Yu Gothic" pitchFamily="34" charset="-120"/>
              </a:rPr>
              <a:t>将来の価格を保証するものではないことも、一言添えてください。</a:t>
            </a:r>
            <a:endParaRPr lang="en-US" sz="1100" dirty="0"/>
          </a:p>
          <a:p>
            <a:pPr indent="0" marL="0">
              <a:lnSpc>
                <a:spcPct val="112000"/>
              </a:lnSpc>
              <a:buNone/>
            </a:pPr>
            <a:r>
              <a:rPr lang="en-US" sz="1100" dirty="0">
                <a:solidFill>
                  <a:srgbClr val="F1F5F9"/>
                </a:solidFill>
                <a:latin typeface="Yu Gothic" pitchFamily="34" charset="0"/>
                <a:ea typeface="Yu Gothic" pitchFamily="34" charset="-122"/>
                <a:cs typeface="Yu Gothic" pitchFamily="34" charset="-120"/>
              </a:rPr>
              <a:t>ファイルの変更はしないでください。</a:t>
            </a:r>
            <a:endParaRPr lang="en-US" sz="1100" dirty="0"/>
          </a:p>
        </p:txBody>
      </p:sp>
      <p:sp>
        <p:nvSpPr>
          <p:cNvPr id="11" name="Shape 9"/>
          <p:cNvSpPr/>
          <p:nvPr/>
        </p:nvSpPr>
        <p:spPr>
          <a:xfrm>
            <a:off x="7269480" y="1554480"/>
            <a:ext cx="4370832" cy="2377440"/>
          </a:xfrm>
          <a:prstGeom prst="roundRect">
            <a:avLst>
              <a:gd name="adj" fmla="val 3077"/>
            </a:avLst>
          </a:prstGeom>
          <a:solidFill>
            <a:srgbClr val="FBF9F4"/>
          </a:solidFill>
          <a:ln w="12700">
            <a:solidFill>
              <a:srgbClr val="E4DFD4"/>
            </a:solidFill>
            <a:prstDash val="solid"/>
          </a:ln>
        </p:spPr>
      </p:sp>
      <p:sp>
        <p:nvSpPr>
          <p:cNvPr id="12" name="Text 10"/>
          <p:cNvSpPr/>
          <p:nvPr/>
        </p:nvSpPr>
        <p:spPr>
          <a:xfrm>
            <a:off x="7470648" y="1700784"/>
            <a:ext cx="396849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このほかの使い方</a:t>
            </a:r>
            <a:endParaRPr lang="en-US" sz="1500" dirty="0"/>
          </a:p>
        </p:txBody>
      </p:sp>
      <p:sp>
        <p:nvSpPr>
          <p:cNvPr id="13" name="Text 11"/>
          <p:cNvSpPr/>
          <p:nvPr/>
        </p:nvSpPr>
        <p:spPr>
          <a:xfrm>
            <a:off x="7470648" y="2103120"/>
            <a:ext cx="3968496" cy="1719072"/>
          </a:xfrm>
          <a:prstGeom prst="rect">
            <a:avLst/>
          </a:prstGeom>
          <a:noFill/>
          <a:ln/>
        </p:spPr>
        <p:txBody>
          <a:bodyPr wrap="square" lIns="0" tIns="0" rIns="0" bIns="0" rtlCol="0" anchor="t"/>
          <a:lstStyle/>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・ツールに「CSV に書き出す」機能を足す</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・グラフを画像で保存するボタンを足す</a:t>
            </a:r>
            <a:endParaRPr lang="en-US" sz="1200" dirty="0"/>
          </a:p>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・新人向けに、画面の使い方マニュアルを書いてもらう</a:t>
            </a:r>
            <a:endParaRPr lang="en-US" sz="1200" dirty="0"/>
          </a:p>
        </p:txBody>
      </p:sp>
      <p:sp>
        <p:nvSpPr>
          <p:cNvPr id="14" name="Shape 12"/>
          <p:cNvSpPr/>
          <p:nvPr/>
        </p:nvSpPr>
        <p:spPr>
          <a:xfrm>
            <a:off x="548640" y="4160520"/>
            <a:ext cx="11091672" cy="1325880"/>
          </a:xfrm>
          <a:prstGeom prst="roundRect">
            <a:avLst>
              <a:gd name="adj" fmla="val 5517"/>
            </a:avLst>
          </a:prstGeom>
          <a:solidFill>
            <a:srgbClr val="FBF9F4"/>
          </a:solidFill>
          <a:ln w="12700">
            <a:solidFill>
              <a:srgbClr val="E4DFD4"/>
            </a:solidFill>
            <a:prstDash val="solid"/>
          </a:ln>
        </p:spPr>
      </p:sp>
      <p:sp>
        <p:nvSpPr>
          <p:cNvPr id="15" name="Text 13"/>
          <p:cNvSpPr/>
          <p:nvPr/>
        </p:nvSpPr>
        <p:spPr>
          <a:xfrm>
            <a:off x="749808" y="4306824"/>
            <a:ext cx="1068933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社内で共有したいとき</a:t>
            </a:r>
            <a:endParaRPr lang="en-US" sz="1500" dirty="0"/>
          </a:p>
        </p:txBody>
      </p:sp>
      <p:sp>
        <p:nvSpPr>
          <p:cNvPr id="16" name="Text 14"/>
          <p:cNvSpPr/>
          <p:nvPr/>
        </p:nvSpPr>
        <p:spPr>
          <a:xfrm>
            <a:off x="749808" y="4709160"/>
            <a:ext cx="10689336" cy="667512"/>
          </a:xfrm>
          <a:prstGeom prst="rect">
            <a:avLst/>
          </a:prstGeom>
          <a:noFill/>
          <a:ln/>
        </p:spPr>
        <p:txBody>
          <a:bodyPr wrap="square" lIns="0" tIns="0" rIns="0" bIns="0" rtlCol="0" anchor="t"/>
          <a:lstStyle/>
          <a:p>
            <a:pPr indent="0" marL="0">
              <a:lnSpc>
                <a:spcPct val="120000"/>
              </a:lnSpc>
              <a:buNone/>
            </a:pPr>
            <a:r>
              <a:rPr lang="en-US" sz="1200" dirty="0">
                <a:solidFill>
                  <a:srgbClr val="3E3E3B"/>
                </a:solidFill>
                <a:latin typeface="Yu Gothic" pitchFamily="34" charset="0"/>
                <a:ea typeface="Yu Gothic" pitchFamily="34" charset="-122"/>
                <a:cs typeface="Yu Gothic" pitchFamily="34" charset="-120"/>
              </a:rPr>
              <a:t>index.html のフォルダを社内の共有フォルダに置けば、他の人も使えます（データは各自のPCで読み込み）。Web で公開する方法もありますが、公開範囲は情報システム部門と相談して決めてください。</a:t>
            </a:r>
            <a:endParaRPr lang="en-US" sz="1200" dirty="0"/>
          </a:p>
        </p:txBody>
      </p:sp>
      <p:sp>
        <p:nvSpPr>
          <p:cNvPr id="17" name="Shape 15"/>
          <p:cNvSpPr/>
          <p:nvPr/>
        </p:nvSpPr>
        <p:spPr>
          <a:xfrm>
            <a:off x="548640" y="5669280"/>
            <a:ext cx="11091672" cy="502920"/>
          </a:xfrm>
          <a:prstGeom prst="roundRect">
            <a:avLst>
              <a:gd name="adj" fmla="val 10909"/>
            </a:avLst>
          </a:prstGeom>
          <a:solidFill>
            <a:srgbClr val="F5F2EA"/>
          </a:solidFill>
          <a:ln/>
        </p:spPr>
      </p:sp>
      <p:sp>
        <p:nvSpPr>
          <p:cNvPr id="18" name="Shape 16"/>
          <p:cNvSpPr/>
          <p:nvPr/>
        </p:nvSpPr>
        <p:spPr>
          <a:xfrm>
            <a:off x="548640" y="5669280"/>
            <a:ext cx="73152" cy="502920"/>
          </a:xfrm>
          <a:prstGeom prst="rect">
            <a:avLst/>
          </a:prstGeom>
          <a:solidFill>
            <a:srgbClr val="B08D47"/>
          </a:solidFill>
          <a:ln/>
        </p:spPr>
      </p:sp>
      <p:sp>
        <p:nvSpPr>
          <p:cNvPr id="19" name="Text 17"/>
          <p:cNvSpPr/>
          <p:nvPr/>
        </p:nvSpPr>
        <p:spPr>
          <a:xfrm>
            <a:off x="777240" y="5669280"/>
            <a:ext cx="10725912" cy="502920"/>
          </a:xfrm>
          <a:prstGeom prst="rect">
            <a:avLst/>
          </a:prstGeom>
          <a:noFill/>
          <a:ln/>
        </p:spPr>
        <p:txBody>
          <a:bodyPr wrap="square" lIns="0" tIns="0" rIns="0" bIns="0" rtlCol="0" anchor="ctr"/>
          <a:lstStyle/>
          <a:p>
            <a:pPr indent="0" marL="0">
              <a:lnSpc>
                <a:spcPct val="110000"/>
              </a:lnSpc>
              <a:buNone/>
            </a:pPr>
            <a:r>
              <a:rPr lang="en-US" sz="120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00" dirty="0">
                <a:solidFill>
                  <a:srgbClr val="1F2A28"/>
                </a:solidFill>
                <a:latin typeface="Yu Gothic" pitchFamily="34" charset="0"/>
                <a:ea typeface="Yu Gothic" pitchFamily="34" charset="-122"/>
                <a:cs typeface="Yu Gothic" pitchFamily="34" charset="-120"/>
              </a:rPr>
              <a:t>新しい機能は「1回に1テーマ」。うまくいったら次のお願いへ</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486400" cy="274320"/>
          </a:xfrm>
          <a:prstGeom prst="rect">
            <a:avLst/>
          </a:prstGeom>
          <a:noFill/>
          <a:ln/>
        </p:spPr>
        <p:txBody>
          <a:bodyPr wrap="square" lIns="0" tIns="0" rIns="0" bIns="0" rtlCol="0" anchor="t"/>
          <a:lstStyle/>
          <a:p>
            <a:pPr indent="0" marL="0">
              <a:buNone/>
            </a:pPr>
            <a:r>
              <a:rPr lang="en-US" sz="1100" b="1" spc="100" kern="0" dirty="0">
                <a:solidFill>
                  <a:srgbClr val="B08D47"/>
                </a:solidFill>
                <a:latin typeface="Yu Gothic" pitchFamily="34" charset="0"/>
                <a:ea typeface="Yu Gothic" pitchFamily="34" charset="-122"/>
                <a:cs typeface="Yu Gothic" pitchFamily="34" charset="-120"/>
              </a:rPr>
              <a:t>おわりに</a:t>
            </a:r>
            <a:endParaRPr lang="en-US" sz="1100" dirty="0"/>
          </a:p>
        </p:txBody>
      </p:sp>
      <p:sp>
        <p:nvSpPr>
          <p:cNvPr id="3" name="Text 1"/>
          <p:cNvSpPr/>
          <p:nvPr/>
        </p:nvSpPr>
        <p:spPr>
          <a:xfrm>
            <a:off x="548640" y="566928"/>
            <a:ext cx="11091672" cy="548640"/>
          </a:xfrm>
          <a:prstGeom prst="rect">
            <a:avLst/>
          </a:prstGeom>
          <a:noFill/>
          <a:ln/>
        </p:spPr>
        <p:txBody>
          <a:bodyPr wrap="square" lIns="0" tIns="0" rIns="0" bIns="0" rtlCol="0" anchor="t"/>
          <a:lstStyle/>
          <a:p>
            <a:pPr indent="0" marL="0">
              <a:buNone/>
            </a:pPr>
            <a:r>
              <a:rPr lang="en-US" sz="2400" b="1" dirty="0">
                <a:solidFill>
                  <a:srgbClr val="1F2A28"/>
                </a:solidFill>
                <a:latin typeface="Yu Gothic" pitchFamily="34" charset="0"/>
                <a:ea typeface="Yu Gothic" pitchFamily="34" charset="-122"/>
                <a:cs typeface="Yu Gothic" pitchFamily="34" charset="-120"/>
              </a:rPr>
              <a:t>今日のまとめと、参考リンク</a:t>
            </a:r>
            <a:endParaRPr lang="en-US" sz="2400" dirty="0"/>
          </a:p>
        </p:txBody>
      </p:sp>
      <p:sp>
        <p:nvSpPr>
          <p:cNvPr id="4" name="Text 2"/>
          <p:cNvSpPr/>
          <p:nvPr/>
        </p:nvSpPr>
        <p:spPr>
          <a:xfrm>
            <a:off x="548640" y="1097280"/>
            <a:ext cx="11091672" cy="329184"/>
          </a:xfrm>
          <a:prstGeom prst="rect">
            <a:avLst/>
          </a:prstGeom>
          <a:noFill/>
          <a:ln/>
        </p:spPr>
        <p:txBody>
          <a:bodyPr wrap="square" lIns="0" tIns="0" rIns="0" bIns="0" rtlCol="0" anchor="t"/>
          <a:lstStyle/>
          <a:p>
            <a:pPr indent="0" marL="0">
              <a:buNone/>
            </a:pPr>
            <a:r>
              <a:rPr lang="en-US" sz="1300" dirty="0">
                <a:solidFill>
                  <a:srgbClr val="7A756B"/>
                </a:solidFill>
                <a:latin typeface="Yu Gothic" pitchFamily="34" charset="0"/>
                <a:ea typeface="Yu Gothic" pitchFamily="34" charset="-122"/>
                <a:cs typeface="Yu Gothic" pitchFamily="34" charset="-120"/>
              </a:rPr>
              <a:t>スライドどおりに進めれば、何度でも作り直せます</a:t>
            </a:r>
            <a:endParaRPr lang="en-US" sz="1300" dirty="0"/>
          </a:p>
        </p:txBody>
      </p:sp>
      <p:sp>
        <p:nvSpPr>
          <p:cNvPr id="5" name="Shape 3"/>
          <p:cNvSpPr/>
          <p:nvPr/>
        </p:nvSpPr>
        <p:spPr>
          <a:xfrm>
            <a:off x="548640" y="6400800"/>
            <a:ext cx="11091672" cy="0"/>
          </a:xfrm>
          <a:prstGeom prst="line">
            <a:avLst/>
          </a:prstGeom>
          <a:noFill/>
          <a:ln w="9525">
            <a:solidFill>
              <a:srgbClr val="E4DFD4"/>
            </a:solidFill>
            <a:prstDash val="solid"/>
          </a:ln>
        </p:spPr>
      </p:sp>
      <p:sp>
        <p:nvSpPr>
          <p:cNvPr id="6" name="Text 4"/>
          <p:cNvSpPr/>
          <p:nvPr/>
        </p:nvSpPr>
        <p:spPr>
          <a:xfrm>
            <a:off x="548640" y="6473952"/>
            <a:ext cx="5486400" cy="228600"/>
          </a:xfrm>
          <a:prstGeom prst="rect">
            <a:avLst/>
          </a:prstGeom>
          <a:noFill/>
          <a:ln/>
        </p:spPr>
        <p:txBody>
          <a:bodyPr wrap="square" lIns="0" tIns="0" rIns="0" bIns="0" rtlCol="0" anchor="t"/>
          <a:lstStyle/>
          <a:p>
            <a:pPr indent="0" marL="0">
              <a:buNone/>
            </a:pPr>
            <a:r>
              <a:rPr lang="en-US" sz="900" dirty="0">
                <a:solidFill>
                  <a:srgbClr val="7A756B"/>
                </a:solidFill>
                <a:latin typeface="Yu Gothic" pitchFamily="34" charset="0"/>
                <a:ea typeface="Yu Gothic" pitchFamily="34" charset="-122"/>
                <a:cs typeface="Yu Gothic" pitchFamily="34" charset="-120"/>
              </a:rPr>
              <a:t>AIで 自社版 定借ナビ をつくる 勉強会</a:t>
            </a:r>
            <a:endParaRPr lang="en-US" sz="900" dirty="0"/>
          </a:p>
        </p:txBody>
      </p:sp>
      <p:sp>
        <p:nvSpPr>
          <p:cNvPr id="7" name="Text 5"/>
          <p:cNvSpPr/>
          <p:nvPr/>
        </p:nvSpPr>
        <p:spPr>
          <a:xfrm>
            <a:off x="10725912" y="6473952"/>
            <a:ext cx="914400" cy="228600"/>
          </a:xfrm>
          <a:prstGeom prst="rect">
            <a:avLst/>
          </a:prstGeom>
          <a:noFill/>
          <a:ln/>
        </p:spPr>
        <p:txBody>
          <a:bodyPr wrap="square" lIns="0" tIns="0" rIns="0" bIns="0" rtlCol="0" anchor="t"/>
          <a:lstStyle/>
          <a:p>
            <a:pPr algn="r" indent="0" marL="0">
              <a:buNone/>
            </a:pPr>
            <a:r>
              <a:rPr lang="en-US" sz="900" dirty="0">
                <a:solidFill>
                  <a:srgbClr val="7A756B"/>
                </a:solidFill>
                <a:latin typeface="Yu Gothic" pitchFamily="34" charset="0"/>
                <a:ea typeface="Yu Gothic" pitchFamily="34" charset="-122"/>
                <a:cs typeface="Yu Gothic" pitchFamily="34" charset="-120"/>
              </a:rPr>
              <a:t>45</a:t>
            </a:r>
            <a:endParaRPr lang="en-US" sz="900" dirty="0"/>
          </a:p>
        </p:txBody>
      </p:sp>
      <p:sp>
        <p:nvSpPr>
          <p:cNvPr id="8" name="Text 6"/>
          <p:cNvSpPr/>
          <p:nvPr/>
        </p:nvSpPr>
        <p:spPr>
          <a:xfrm>
            <a:off x="548640" y="1600200"/>
            <a:ext cx="6583680" cy="457200"/>
          </a:xfrm>
          <a:prstGeom prst="rect">
            <a:avLst/>
          </a:prstGeom>
          <a:noFill/>
          <a:ln/>
        </p:spPr>
        <p:txBody>
          <a:bodyPr wrap="square" lIns="0" tIns="0" rIns="0" bIns="0" rtlCol="0" anchor="ctr"/>
          <a:lstStyle/>
          <a:p>
            <a:pPr indent="0" marL="0">
              <a:buNone/>
            </a:pPr>
            <a:r>
              <a:rPr lang="en-US" sz="1400" b="1" dirty="0">
                <a:solidFill>
                  <a:srgbClr val="2F7D5B"/>
                </a:solidFill>
                <a:latin typeface="Yu Gothic" pitchFamily="34" charset="0"/>
                <a:ea typeface="Yu Gothic" pitchFamily="34" charset="-122"/>
                <a:cs typeface="Yu Gothic" pitchFamily="34" charset="-120"/>
              </a:rPr>
              <a:t>☑  </a:t>
            </a:r>
            <a:pPr indent="0" marL="0">
              <a:buNone/>
            </a:pPr>
            <a:r>
              <a:rPr lang="en-US" sz="1400" dirty="0">
                <a:solidFill>
                  <a:srgbClr val="1F2A28"/>
                </a:solidFill>
                <a:latin typeface="Yu Gothic" pitchFamily="34" charset="0"/>
                <a:ea typeface="Yu Gothic" pitchFamily="34" charset="-122"/>
                <a:cs typeface="Yu Gothic" pitchFamily="34" charset="-120"/>
              </a:rPr>
              <a:t>GitHub に Private リポジトリ「teisha-tool」がある</a:t>
            </a:r>
            <a:endParaRPr lang="en-US" sz="1400" dirty="0"/>
          </a:p>
        </p:txBody>
      </p:sp>
      <p:sp>
        <p:nvSpPr>
          <p:cNvPr id="9" name="Text 7"/>
          <p:cNvSpPr/>
          <p:nvPr/>
        </p:nvSpPr>
        <p:spPr>
          <a:xfrm>
            <a:off x="548640" y="2130552"/>
            <a:ext cx="6583680" cy="457200"/>
          </a:xfrm>
          <a:prstGeom prst="rect">
            <a:avLst/>
          </a:prstGeom>
          <a:noFill/>
          <a:ln/>
        </p:spPr>
        <p:txBody>
          <a:bodyPr wrap="square" lIns="0" tIns="0" rIns="0" bIns="0" rtlCol="0" anchor="ctr"/>
          <a:lstStyle/>
          <a:p>
            <a:pPr indent="0" marL="0">
              <a:buNone/>
            </a:pPr>
            <a:r>
              <a:rPr lang="en-US" sz="1400" b="1" dirty="0">
                <a:solidFill>
                  <a:srgbClr val="2F7D5B"/>
                </a:solidFill>
                <a:latin typeface="Yu Gothic" pitchFamily="34" charset="0"/>
                <a:ea typeface="Yu Gothic" pitchFamily="34" charset="-122"/>
                <a:cs typeface="Yu Gothic" pitchFamily="34" charset="-120"/>
              </a:rPr>
              <a:t>☑  </a:t>
            </a:r>
            <a:pPr indent="0" marL="0">
              <a:buNone/>
            </a:pPr>
            <a:r>
              <a:rPr lang="en-US" sz="1400" dirty="0">
                <a:solidFill>
                  <a:srgbClr val="1F2A28"/>
                </a:solidFill>
                <a:latin typeface="Yu Gothic" pitchFamily="34" charset="0"/>
                <a:ea typeface="Yu Gothic" pitchFamily="34" charset="-122"/>
                <a:cs typeface="Yu Gothic" pitchFamily="34" charset="-120"/>
              </a:rPr>
              <a:t>Claude Code と GitHub がつながっている（STEP 8 の ①② がOK）</a:t>
            </a:r>
            <a:endParaRPr lang="en-US" sz="1400" dirty="0"/>
          </a:p>
        </p:txBody>
      </p:sp>
      <p:sp>
        <p:nvSpPr>
          <p:cNvPr id="10" name="Text 8"/>
          <p:cNvSpPr/>
          <p:nvPr/>
        </p:nvSpPr>
        <p:spPr>
          <a:xfrm>
            <a:off x="548640" y="2660904"/>
            <a:ext cx="6583680" cy="457200"/>
          </a:xfrm>
          <a:prstGeom prst="rect">
            <a:avLst/>
          </a:prstGeom>
          <a:noFill/>
          <a:ln/>
        </p:spPr>
        <p:txBody>
          <a:bodyPr wrap="square" lIns="0" tIns="0" rIns="0" bIns="0" rtlCol="0" anchor="ctr"/>
          <a:lstStyle/>
          <a:p>
            <a:pPr indent="0" marL="0">
              <a:buNone/>
            </a:pPr>
            <a:r>
              <a:rPr lang="en-US" sz="1400" b="1" dirty="0">
                <a:solidFill>
                  <a:srgbClr val="2F7D5B"/>
                </a:solidFill>
                <a:latin typeface="Yu Gothic" pitchFamily="34" charset="0"/>
                <a:ea typeface="Yu Gothic" pitchFamily="34" charset="-122"/>
                <a:cs typeface="Yu Gothic" pitchFamily="34" charset="-120"/>
              </a:rPr>
              <a:t>☑  </a:t>
            </a:r>
            <a:pPr indent="0" marL="0">
              <a:buNone/>
            </a:pPr>
            <a:r>
              <a:rPr lang="en-US" sz="1400" dirty="0">
                <a:solidFill>
                  <a:srgbClr val="1F2A28"/>
                </a:solidFill>
                <a:latin typeface="Yu Gothic" pitchFamily="34" charset="0"/>
                <a:ea typeface="Yu Gothic" pitchFamily="34" charset="-122"/>
                <a:cs typeface="Yu Gothic" pitchFamily="34" charset="-120"/>
              </a:rPr>
              <a:t>プロンプト①〜③で、グラフ・一覧・詳細画面ができた</a:t>
            </a:r>
            <a:endParaRPr lang="en-US" sz="1400" dirty="0"/>
          </a:p>
        </p:txBody>
      </p:sp>
      <p:sp>
        <p:nvSpPr>
          <p:cNvPr id="11" name="Text 9"/>
          <p:cNvSpPr/>
          <p:nvPr/>
        </p:nvSpPr>
        <p:spPr>
          <a:xfrm>
            <a:off x="548640" y="3191256"/>
            <a:ext cx="6583680" cy="457200"/>
          </a:xfrm>
          <a:prstGeom prst="rect">
            <a:avLst/>
          </a:prstGeom>
          <a:noFill/>
          <a:ln/>
        </p:spPr>
        <p:txBody>
          <a:bodyPr wrap="square" lIns="0" tIns="0" rIns="0" bIns="0" rtlCol="0" anchor="ctr"/>
          <a:lstStyle/>
          <a:p>
            <a:pPr indent="0" marL="0">
              <a:buNone/>
            </a:pPr>
            <a:r>
              <a:rPr lang="en-US" sz="1400" b="1" dirty="0">
                <a:solidFill>
                  <a:srgbClr val="2F7D5B"/>
                </a:solidFill>
                <a:latin typeface="Yu Gothic" pitchFamily="34" charset="0"/>
                <a:ea typeface="Yu Gothic" pitchFamily="34" charset="-122"/>
                <a:cs typeface="Yu Gothic" pitchFamily="34" charset="-120"/>
              </a:rPr>
              <a:t>☑  </a:t>
            </a:r>
            <a:pPr indent="0" marL="0">
              <a:buNone/>
            </a:pPr>
            <a:r>
              <a:rPr lang="en-US" sz="1400" dirty="0">
                <a:solidFill>
                  <a:srgbClr val="1F2A28"/>
                </a:solidFill>
                <a:latin typeface="Yu Gothic" pitchFamily="34" charset="0"/>
                <a:ea typeface="Yu Gothic" pitchFamily="34" charset="-122"/>
                <a:cs typeface="Yu Gothic" pitchFamily="34" charset="-120"/>
              </a:rPr>
              <a:t>自社の新築・中古データを CSV にして、画面で読み込めた</a:t>
            </a:r>
            <a:endParaRPr lang="en-US" sz="1400" dirty="0"/>
          </a:p>
        </p:txBody>
      </p:sp>
      <p:sp>
        <p:nvSpPr>
          <p:cNvPr id="12" name="Text 10"/>
          <p:cNvSpPr/>
          <p:nvPr/>
        </p:nvSpPr>
        <p:spPr>
          <a:xfrm>
            <a:off x="548640" y="3721608"/>
            <a:ext cx="6583680" cy="457200"/>
          </a:xfrm>
          <a:prstGeom prst="rect">
            <a:avLst/>
          </a:prstGeom>
          <a:noFill/>
          <a:ln/>
        </p:spPr>
        <p:txBody>
          <a:bodyPr wrap="square" lIns="0" tIns="0" rIns="0" bIns="0" rtlCol="0" anchor="ctr"/>
          <a:lstStyle/>
          <a:p>
            <a:pPr indent="0" marL="0">
              <a:buNone/>
            </a:pPr>
            <a:r>
              <a:rPr lang="en-US" sz="1400" b="1" dirty="0">
                <a:solidFill>
                  <a:srgbClr val="2F7D5B"/>
                </a:solidFill>
                <a:latin typeface="Yu Gothic" pitchFamily="34" charset="0"/>
                <a:ea typeface="Yu Gothic" pitchFamily="34" charset="-122"/>
                <a:cs typeface="Yu Gothic" pitchFamily="34" charset="-120"/>
              </a:rPr>
              <a:t>☑  </a:t>
            </a:r>
            <a:pPr indent="0" marL="0">
              <a:buNone/>
            </a:pPr>
            <a:r>
              <a:rPr lang="en-US" sz="1400" dirty="0">
                <a:solidFill>
                  <a:srgbClr val="1F2A28"/>
                </a:solidFill>
                <a:latin typeface="Yu Gothic" pitchFamily="34" charset="0"/>
                <a:ea typeface="Yu Gothic" pitchFamily="34" charset="-122"/>
                <a:cs typeface="Yu Gothic" pitchFamily="34" charset="-120"/>
              </a:rPr>
              <a:t>データは Claude にも GitHub にも渡していない</a:t>
            </a:r>
            <a:endParaRPr lang="en-US" sz="1400" dirty="0"/>
          </a:p>
        </p:txBody>
      </p:sp>
      <p:sp>
        <p:nvSpPr>
          <p:cNvPr id="13" name="Shape 11"/>
          <p:cNvSpPr/>
          <p:nvPr/>
        </p:nvSpPr>
        <p:spPr>
          <a:xfrm>
            <a:off x="7498080" y="1600200"/>
            <a:ext cx="4142232" cy="1371600"/>
          </a:xfrm>
          <a:prstGeom prst="roundRect">
            <a:avLst>
              <a:gd name="adj" fmla="val 5333"/>
            </a:avLst>
          </a:prstGeom>
          <a:solidFill>
            <a:srgbClr val="FBF9F4"/>
          </a:solidFill>
          <a:ln w="12700">
            <a:solidFill>
              <a:srgbClr val="E4DFD4"/>
            </a:solidFill>
            <a:prstDash val="solid"/>
          </a:ln>
        </p:spPr>
      </p:sp>
      <p:sp>
        <p:nvSpPr>
          <p:cNvPr id="14" name="Text 12"/>
          <p:cNvSpPr/>
          <p:nvPr/>
        </p:nvSpPr>
        <p:spPr>
          <a:xfrm>
            <a:off x="7699248" y="1746504"/>
            <a:ext cx="373989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お手本（本家）</a:t>
            </a:r>
            <a:endParaRPr lang="en-US" sz="1500" dirty="0"/>
          </a:p>
        </p:txBody>
      </p:sp>
      <p:sp>
        <p:nvSpPr>
          <p:cNvPr id="15" name="Text 13"/>
          <p:cNvSpPr/>
          <p:nvPr/>
        </p:nvSpPr>
        <p:spPr>
          <a:xfrm>
            <a:off x="7699248" y="2148840"/>
            <a:ext cx="3739896" cy="713232"/>
          </a:xfrm>
          <a:prstGeom prst="rect">
            <a:avLst/>
          </a:prstGeom>
          <a:noFill/>
          <a:ln/>
        </p:spPr>
        <p:txBody>
          <a:bodyPr wrap="square" lIns="0" tIns="0" rIns="0" bIns="0" rtlCol="0" anchor="t"/>
          <a:lstStyle/>
          <a:p>
            <a:pPr indent="0" marL="0">
              <a:lnSpc>
                <a:spcPct val="120000"/>
              </a:lnSpc>
              <a:buNone/>
            </a:pPr>
            <a:r>
              <a:rPr lang="en-US" sz="1300" dirty="0">
                <a:solidFill>
                  <a:srgbClr val="3E3E3B"/>
                </a:solidFill>
                <a:latin typeface="Yu Gothic" pitchFamily="34" charset="0"/>
                <a:ea typeface="Yu Gothic" pitchFamily="34" charset="-122"/>
                <a:cs typeface="Yu Gothic" pitchFamily="34" charset="-120"/>
              </a:rPr>
              <a:t>定借ナビ</a:t>
            </a:r>
            <a:endParaRPr lang="en-US" sz="1300" dirty="0"/>
          </a:p>
          <a:p>
            <a:pPr indent="0" marL="0">
              <a:lnSpc>
                <a:spcPct val="120000"/>
              </a:lnSpc>
              <a:buNone/>
            </a:pPr>
            <a:r>
              <a:rPr lang="en-US" sz="1300" dirty="0">
                <a:solidFill>
                  <a:srgbClr val="3E3E3B"/>
                </a:solidFill>
                <a:latin typeface="Yu Gothic" pitchFamily="34" charset="0"/>
                <a:ea typeface="Yu Gothic" pitchFamily="34" charset="-122"/>
                <a:cs typeface="Yu Gothic" pitchFamily="34" charset="-120"/>
              </a:rPr>
              <a:t>teisha-navi.vercel.app</a:t>
            </a:r>
            <a:endParaRPr lang="en-US" sz="1300" dirty="0"/>
          </a:p>
        </p:txBody>
      </p:sp>
      <p:sp>
        <p:nvSpPr>
          <p:cNvPr id="16" name="Shape 14"/>
          <p:cNvSpPr/>
          <p:nvPr/>
        </p:nvSpPr>
        <p:spPr>
          <a:xfrm>
            <a:off x="7498080" y="3108960"/>
            <a:ext cx="4142232" cy="1783080"/>
          </a:xfrm>
          <a:prstGeom prst="roundRect">
            <a:avLst>
              <a:gd name="adj" fmla="val 4103"/>
            </a:avLst>
          </a:prstGeom>
          <a:solidFill>
            <a:srgbClr val="FBF9F4"/>
          </a:solidFill>
          <a:ln w="12700">
            <a:solidFill>
              <a:srgbClr val="E4DFD4"/>
            </a:solidFill>
            <a:prstDash val="solid"/>
          </a:ln>
        </p:spPr>
      </p:sp>
      <p:sp>
        <p:nvSpPr>
          <p:cNvPr id="17" name="Text 15"/>
          <p:cNvSpPr/>
          <p:nvPr/>
        </p:nvSpPr>
        <p:spPr>
          <a:xfrm>
            <a:off x="7699248" y="3255264"/>
            <a:ext cx="3739896" cy="365760"/>
          </a:xfrm>
          <a:prstGeom prst="rect">
            <a:avLst/>
          </a:prstGeom>
          <a:noFill/>
          <a:ln/>
        </p:spPr>
        <p:txBody>
          <a:bodyPr wrap="square" lIns="0" tIns="0" rIns="0" bIns="0" rtlCol="0" anchor="t"/>
          <a:lstStyle/>
          <a:p>
            <a:pPr indent="0" marL="0">
              <a:buNone/>
            </a:pPr>
            <a:r>
              <a:rPr lang="en-US" sz="1500" b="1" dirty="0">
                <a:solidFill>
                  <a:srgbClr val="1F2A28"/>
                </a:solidFill>
                <a:latin typeface="Yu Gothic" pitchFamily="34" charset="0"/>
                <a:ea typeface="Yu Gothic" pitchFamily="34" charset="-122"/>
                <a:cs typeface="Yu Gothic" pitchFamily="34" charset="-120"/>
              </a:rPr>
              <a:t>プロンプト集・完成見本</a:t>
            </a:r>
            <a:endParaRPr lang="en-US" sz="1500" dirty="0"/>
          </a:p>
        </p:txBody>
      </p:sp>
      <p:sp>
        <p:nvSpPr>
          <p:cNvPr id="18" name="Text 16"/>
          <p:cNvSpPr/>
          <p:nvPr/>
        </p:nvSpPr>
        <p:spPr>
          <a:xfrm>
            <a:off x="7699248" y="3657600"/>
            <a:ext cx="3739896" cy="1124712"/>
          </a:xfrm>
          <a:prstGeom prst="rect">
            <a:avLst/>
          </a:prstGeom>
          <a:noFill/>
          <a:ln/>
        </p:spPr>
        <p:txBody>
          <a:bodyPr wrap="square" lIns="0" tIns="0" rIns="0" bIns="0" rtlCol="0" anchor="t"/>
          <a:lstStyle/>
          <a:p>
            <a:pPr indent="0" marL="0">
              <a:lnSpc>
                <a:spcPct val="120000"/>
              </a:lnSpc>
              <a:buNone/>
            </a:pPr>
            <a:r>
              <a:rPr lang="en-US" sz="1300" dirty="0">
                <a:solidFill>
                  <a:srgbClr val="3E3E3B"/>
                </a:solidFill>
                <a:latin typeface="Yu Gothic" pitchFamily="34" charset="0"/>
                <a:ea typeface="Yu Gothic" pitchFamily="34" charset="-122"/>
                <a:cs typeface="Yu Gothic" pitchFamily="34" charset="-120"/>
              </a:rPr>
              <a:t>github.com/Yibooo/teisha-PIVOT</a:t>
            </a:r>
            <a:endParaRPr lang="en-US" sz="1300" dirty="0"/>
          </a:p>
          <a:p>
            <a:pPr indent="0" marL="0">
              <a:lnSpc>
                <a:spcPct val="120000"/>
              </a:lnSpc>
              <a:buNone/>
            </a:pPr>
            <a:r>
              <a:rPr lang="en-US" sz="1300" dirty="0">
                <a:solidFill>
                  <a:srgbClr val="3E3E3B"/>
                </a:solidFill>
                <a:latin typeface="Yu Gothic" pitchFamily="34" charset="0"/>
                <a:ea typeface="Yu Gothic" pitchFamily="34" charset="-122"/>
                <a:cs typeface="Yu Gothic" pitchFamily="34" charset="-120"/>
              </a:rPr>
              <a:t>→ study-session フォルダ</a:t>
            </a:r>
            <a:endParaRPr lang="en-US" sz="1300" dirty="0"/>
          </a:p>
          <a:p>
            <a:pPr indent="0" marL="0">
              <a:lnSpc>
                <a:spcPct val="120000"/>
              </a:lnSpc>
              <a:buNone/>
            </a:pPr>
            <a:r>
              <a:rPr lang="en-US" sz="1300" dirty="0">
                <a:solidFill>
                  <a:srgbClr val="3E3E3B"/>
                </a:solidFill>
                <a:latin typeface="Yu Gothic" pitchFamily="34" charset="0"/>
                <a:ea typeface="Yu Gothic" pitchFamily="34" charset="-122"/>
                <a:cs typeface="Yu Gothic" pitchFamily="34" charset="-120"/>
              </a:rPr>
              <a:t>（prompts.md／reference）</a:t>
            </a:r>
            <a:endParaRPr lang="en-US" sz="1300" dirty="0"/>
          </a:p>
        </p:txBody>
      </p:sp>
      <p:sp>
        <p:nvSpPr>
          <p:cNvPr id="19" name="Shape 17"/>
          <p:cNvSpPr/>
          <p:nvPr/>
        </p:nvSpPr>
        <p:spPr>
          <a:xfrm>
            <a:off x="548640" y="5074920"/>
            <a:ext cx="11091672" cy="548640"/>
          </a:xfrm>
          <a:prstGeom prst="roundRect">
            <a:avLst>
              <a:gd name="adj" fmla="val 10000"/>
            </a:avLst>
          </a:prstGeom>
          <a:solidFill>
            <a:srgbClr val="F5F2EA"/>
          </a:solidFill>
          <a:ln/>
        </p:spPr>
      </p:sp>
      <p:sp>
        <p:nvSpPr>
          <p:cNvPr id="20" name="Shape 18"/>
          <p:cNvSpPr/>
          <p:nvPr/>
        </p:nvSpPr>
        <p:spPr>
          <a:xfrm>
            <a:off x="548640" y="5074920"/>
            <a:ext cx="73152" cy="548640"/>
          </a:xfrm>
          <a:prstGeom prst="rect">
            <a:avLst/>
          </a:prstGeom>
          <a:solidFill>
            <a:srgbClr val="B08D47"/>
          </a:solidFill>
          <a:ln/>
        </p:spPr>
      </p:sp>
      <p:sp>
        <p:nvSpPr>
          <p:cNvPr id="21" name="Text 19"/>
          <p:cNvSpPr/>
          <p:nvPr/>
        </p:nvSpPr>
        <p:spPr>
          <a:xfrm>
            <a:off x="777240" y="5074920"/>
            <a:ext cx="10725912" cy="548640"/>
          </a:xfrm>
          <a:prstGeom prst="rect">
            <a:avLst/>
          </a:prstGeom>
          <a:noFill/>
          <a:ln/>
        </p:spPr>
        <p:txBody>
          <a:bodyPr wrap="square" lIns="0" tIns="0" rIns="0" bIns="0" rtlCol="0" anchor="ctr"/>
          <a:lstStyle/>
          <a:p>
            <a:pPr indent="0" marL="0">
              <a:lnSpc>
                <a:spcPct val="110000"/>
              </a:lnSpc>
              <a:buNone/>
            </a:pPr>
            <a:r>
              <a:rPr lang="en-US" sz="1250" b="1" dirty="0">
                <a:solidFill>
                  <a:srgbClr val="B08D47"/>
                </a:solidFill>
                <a:latin typeface="Yu Gothic" pitchFamily="34" charset="0"/>
                <a:ea typeface="Yu Gothic" pitchFamily="34" charset="-122"/>
                <a:cs typeface="Yu Gothic" pitchFamily="34" charset="-120"/>
              </a:rPr>
              <a:t>💡 ヒント　</a:t>
            </a:r>
            <a:pPr indent="0" marL="0">
              <a:lnSpc>
                <a:spcPct val="110000"/>
              </a:lnSpc>
              <a:buNone/>
            </a:pPr>
            <a:r>
              <a:rPr lang="en-US" sz="1250" dirty="0">
                <a:solidFill>
                  <a:srgbClr val="1F2A28"/>
                </a:solidFill>
                <a:latin typeface="Yu Gothic" pitchFamily="34" charset="0"/>
                <a:ea typeface="Yu Gothic" pitchFamily="34" charset="-122"/>
                <a:cs typeface="Yu Gothic" pitchFamily="34" charset="-120"/>
              </a:rPr>
              <a:t>困ったら「STEP 番号」と「画面に出た文字」を添えて、講師に連絡してください</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AIで 自社版 定借ナビ をつくる 勉強会</dc:title>
  <dc:subject>PptxGenJS Presentation</dc:subject>
  <dc:creator>PptxGenJS</dc:creator>
  <cp:lastModifiedBy>PptxGenJS</cp:lastModifiedBy>
  <cp:revision>1</cp:revision>
  <dcterms:created xsi:type="dcterms:W3CDTF">2026-10-10T22:19:05Z</dcterms:created>
  <dcterms:modified xsi:type="dcterms:W3CDTF">2026-10-10T22:19:05Z</dcterms:modified>
</cp:coreProperties>
</file>